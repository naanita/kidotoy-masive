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 del instructivo que se reparte a los colaboradores. Puede ir impreso o por correo interno.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 eso basta. No hay que crear ninguna contraseña ni registrarse. Si no encuentras el código, escríbele a Talento Humano.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QR abre directamente el portal. También pueden escribir la dirección a mano.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dos datos van tal como te los dieron. Si te sale un mensaje de que no coinciden, revisa que la cédula vaya sin puntos.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es donde la gente se queda tranquila: se ve de un vistazo qué falta y qué no. La tarjeta 1 ya tiene regalo; la 2 está pendiente.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opciones cambian según la edad del niño, por eso cada hijo ve cosas distintas. Los agotados quedan bloqueados: no es un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paso donde hay que detenerse. La confirmación es definitiva para el colaborador. Si alguien se equivoca, tiene que pedirle el cambio a Talento Humano y no siempre va a ser posible.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Insistir en que guarden el código. Aunque se puede volver a consultar entrando otra vez al portal, en la carpa es más rápido si ya lo tienen a la mano.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el mismo procedimiento por cada hijo. Cuando ya ninguno diga 'falta elegir', quedó 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 y lugar confirmados. La hora la comunica Talento Humano más cerca del evento.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son las cinco que más van a llegar. La del bloqueo por intentos es importante: no está dañado, es una protección y se libera solo a los 15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A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54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10B7C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PROGRAMA DE REGALOS DE FIN DE AÑO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871697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Cómo elegir el regalo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 tus hijos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886200"/>
            <a:ext cx="8716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C8D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guía de seis pasos. Te toma menos de cinco minutos desde el celular.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57150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FC4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Empresa de Acueducto y Alcantarillado de Bogotá · Regalos en alianza con Kidotoy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6711696"/>
            <a:ext cx="3066212" cy="146304"/>
          </a:xfrm>
          <a:prstGeom prst="rect">
            <a:avLst/>
          </a:prstGeom>
          <a:solidFill>
            <a:srgbClr val="10B7CD"/>
          </a:solidFill>
          <a:ln/>
        </p:spPr>
      </p:sp>
      <p:sp>
        <p:nvSpPr>
          <p:cNvPr id="7" name="Shape 5"/>
          <p:cNvSpPr/>
          <p:nvPr/>
        </p:nvSpPr>
        <p:spPr>
          <a:xfrm>
            <a:off x="3047924" y="6711696"/>
            <a:ext cx="3066212" cy="146304"/>
          </a:xfrm>
          <a:prstGeom prst="rect">
            <a:avLst/>
          </a:prstGeom>
          <a:solidFill>
            <a:srgbClr val="E84141"/>
          </a:solidFill>
          <a:ln/>
        </p:spPr>
      </p:sp>
      <p:sp>
        <p:nvSpPr>
          <p:cNvPr id="8" name="Shape 6"/>
          <p:cNvSpPr/>
          <p:nvPr/>
        </p:nvSpPr>
        <p:spPr>
          <a:xfrm>
            <a:off x="6095848" y="6711696"/>
            <a:ext cx="3066212" cy="146304"/>
          </a:xfrm>
          <a:prstGeom prst="rect">
            <a:avLst/>
          </a:prstGeom>
          <a:solidFill>
            <a:srgbClr val="F8AB11"/>
          </a:solidFill>
          <a:ln/>
        </p:spPr>
      </p:sp>
      <p:sp>
        <p:nvSpPr>
          <p:cNvPr id="9" name="Shape 7"/>
          <p:cNvSpPr/>
          <p:nvPr/>
        </p:nvSpPr>
        <p:spPr>
          <a:xfrm>
            <a:off x="9143771" y="6711696"/>
            <a:ext cx="3047924" cy="146304"/>
          </a:xfrm>
          <a:prstGeom prst="rect">
            <a:avLst/>
          </a:prstGeom>
          <a:solidFill>
            <a:srgbClr val="8974B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3A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Antes de empezar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 a la mano estas dos cosas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6711696"/>
            <a:ext cx="3066212" cy="146304"/>
          </a:xfrm>
          <a:prstGeom prst="rect">
            <a:avLst/>
          </a:prstGeom>
          <a:solidFill>
            <a:srgbClr val="10B7CD"/>
          </a:solidFill>
          <a:ln/>
        </p:spPr>
      </p:sp>
      <p:sp>
        <p:nvSpPr>
          <p:cNvPr id="5" name="Shape 3"/>
          <p:cNvSpPr/>
          <p:nvPr/>
        </p:nvSpPr>
        <p:spPr>
          <a:xfrm>
            <a:off x="3047924" y="6711696"/>
            <a:ext cx="3066212" cy="146304"/>
          </a:xfrm>
          <a:prstGeom prst="rect">
            <a:avLst/>
          </a:prstGeom>
          <a:solidFill>
            <a:srgbClr val="E84141"/>
          </a:solidFill>
          <a:ln/>
        </p:spPr>
      </p:sp>
      <p:sp>
        <p:nvSpPr>
          <p:cNvPr id="6" name="Shape 4"/>
          <p:cNvSpPr/>
          <p:nvPr/>
        </p:nvSpPr>
        <p:spPr>
          <a:xfrm>
            <a:off x="6095848" y="6711696"/>
            <a:ext cx="3066212" cy="146304"/>
          </a:xfrm>
          <a:prstGeom prst="rect">
            <a:avLst/>
          </a:prstGeom>
          <a:solidFill>
            <a:srgbClr val="F8AB11"/>
          </a:solidFill>
          <a:ln/>
        </p:spPr>
      </p:sp>
      <p:sp>
        <p:nvSpPr>
          <p:cNvPr id="7" name="Shape 5"/>
          <p:cNvSpPr/>
          <p:nvPr/>
        </p:nvSpPr>
        <p:spPr>
          <a:xfrm>
            <a:off x="9143771" y="6711696"/>
            <a:ext cx="3047924" cy="146304"/>
          </a:xfrm>
          <a:prstGeom prst="rect">
            <a:avLst/>
          </a:prstGeom>
          <a:solidFill>
            <a:srgbClr val="8974B3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3001772"/>
            <a:ext cx="5227168" cy="1677416"/>
          </a:xfrm>
          <a:prstGeom prst="roundRect">
            <a:avLst>
              <a:gd name="adj" fmla="val 327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001772"/>
            <a:ext cx="64008" cy="1677416"/>
          </a:xfrm>
          <a:prstGeom prst="rect">
            <a:avLst/>
          </a:prstGeom>
          <a:solidFill>
            <a:srgbClr val="0167D5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312668"/>
            <a:ext cx="4678528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3A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 número de cédula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3731260"/>
            <a:ext cx="4678528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A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 puntos ni comas. Solo los números.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324448" y="3001772"/>
            <a:ext cx="5227168" cy="1677416"/>
          </a:xfrm>
          <a:prstGeom prst="roundRect">
            <a:avLst>
              <a:gd name="adj" fmla="val 327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24448" y="3001772"/>
            <a:ext cx="64008" cy="1677416"/>
          </a:xfrm>
          <a:prstGeom prst="rect">
            <a:avLst/>
          </a:prstGeom>
          <a:solidFill>
            <a:srgbClr val="0167D5"/>
          </a:solidFill>
          <a:ln/>
        </p:spPr>
      </p:sp>
      <p:sp>
        <p:nvSpPr>
          <p:cNvPr id="14" name="Text 12"/>
          <p:cNvSpPr/>
          <p:nvPr/>
        </p:nvSpPr>
        <p:spPr>
          <a:xfrm>
            <a:off x="6598768" y="3312668"/>
            <a:ext cx="4678528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3A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 código SAP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598768" y="3731260"/>
            <a:ext cx="4678528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A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 lo envió Talento Humano en el correo del programa. Empieza por SAP-.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51660"/>
            <a:ext cx="585490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3A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Paso 1 · Entra al portal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2601468"/>
            <a:ext cx="58549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A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Apunta la cámara de tu celular al código de la derecha. Si prefieres, escribe la dirección en tu navegador.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3561588"/>
            <a:ext cx="5854903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5400">
            <a:solidFill>
              <a:srgbClr val="10B7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3561588"/>
            <a:ext cx="54525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167D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acueducto-kidotoy.vaisy.app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906463" y="612648"/>
            <a:ext cx="4645152" cy="4645152"/>
          </a:xfrm>
          <a:prstGeom prst="roundRect">
            <a:avLst>
              <a:gd name="adj" fmla="val 984"/>
            </a:avLst>
          </a:prstGeom>
          <a:solidFill>
            <a:srgbClr val="FFFFFF"/>
          </a:solidFill>
          <a:ln/>
        </p:spPr>
      </p:sp>
      <p:pic>
        <p:nvPicPr>
          <p:cNvPr id="7" name="Image 0" descr="docs/presentacion/recursos/qr-sitio-neg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7359" y="923544"/>
            <a:ext cx="4023360" cy="4023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06463" y="5349240"/>
            <a:ext cx="464515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Apunta la cámara del celular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0" y="6711696"/>
            <a:ext cx="3066212" cy="146304"/>
          </a:xfrm>
          <a:prstGeom prst="rect">
            <a:avLst/>
          </a:prstGeom>
          <a:solidFill>
            <a:srgbClr val="10B7CD"/>
          </a:solidFill>
          <a:ln/>
        </p:spPr>
      </p:sp>
      <p:sp>
        <p:nvSpPr>
          <p:cNvPr id="10" name="Shape 7"/>
          <p:cNvSpPr/>
          <p:nvPr/>
        </p:nvSpPr>
        <p:spPr>
          <a:xfrm>
            <a:off x="3047924" y="6711696"/>
            <a:ext cx="3066212" cy="146304"/>
          </a:xfrm>
          <a:prstGeom prst="rect">
            <a:avLst/>
          </a:prstGeom>
          <a:solidFill>
            <a:srgbClr val="E84141"/>
          </a:solidFill>
          <a:ln/>
        </p:spPr>
      </p:sp>
      <p:sp>
        <p:nvSpPr>
          <p:cNvPr id="11" name="Shape 8"/>
          <p:cNvSpPr/>
          <p:nvPr/>
        </p:nvSpPr>
        <p:spPr>
          <a:xfrm>
            <a:off x="6095848" y="6711696"/>
            <a:ext cx="3066212" cy="146304"/>
          </a:xfrm>
          <a:prstGeom prst="rect">
            <a:avLst/>
          </a:prstGeom>
          <a:solidFill>
            <a:srgbClr val="F8AB11"/>
          </a:solidFill>
          <a:ln/>
        </p:spPr>
      </p:sp>
      <p:sp>
        <p:nvSpPr>
          <p:cNvPr id="12" name="Shape 9"/>
          <p:cNvSpPr/>
          <p:nvPr/>
        </p:nvSpPr>
        <p:spPr>
          <a:xfrm>
            <a:off x="9143771" y="6711696"/>
            <a:ext cx="3047924" cy="146304"/>
          </a:xfrm>
          <a:prstGeom prst="rect">
            <a:avLst/>
          </a:prstGeom>
          <a:solidFill>
            <a:srgbClr val="8974B3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481328" cy="384048"/>
          </a:xfrm>
          <a:prstGeom prst="roundRect">
            <a:avLst>
              <a:gd name="adj" fmla="val 50000"/>
            </a:avLst>
          </a:prstGeom>
          <a:solidFill>
            <a:srgbClr val="0167D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PASO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969264"/>
            <a:ext cx="67967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3A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Ingresa tus datos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67967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Escribe tu cédula en el primer campo y el código SAP en el segundo. Después toca Ingresar.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986225" y="484632"/>
            <a:ext cx="2629398" cy="5541264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</p:spPr>
      </p:sp>
      <p:pic>
        <p:nvPicPr>
          <p:cNvPr id="7" name="Image 0" descr="docs/presentacion/recursos/ins-01-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0233" y="548640"/>
            <a:ext cx="2501382" cy="541324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312375" y="4143153"/>
            <a:ext cx="1977097" cy="399302"/>
          </a:xfrm>
          <a:prstGeom prst="roundRect">
            <a:avLst>
              <a:gd name="adj" fmla="val 57250"/>
            </a:avLst>
          </a:prstGeom>
          <a:solidFill>
            <a:srgbClr val="E84141">
              <a:alpha val="0"/>
            </a:srgbClr>
          </a:solidFill>
          <a:ln w="88900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312375" y="4143153"/>
            <a:ext cx="1977097" cy="399302"/>
          </a:xfrm>
          <a:prstGeom prst="roundRect">
            <a:avLst>
              <a:gd name="adj" fmla="val 57250"/>
            </a:avLst>
          </a:prstGeom>
          <a:solidFill>
            <a:srgbClr val="E84141">
              <a:alpha val="0"/>
            </a:srgbClr>
          </a:solidFill>
          <a:ln w="44450">
            <a:solidFill>
              <a:srgbClr val="E8414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492449" y="4141636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8519881" y="4169068"/>
            <a:ext cx="347472" cy="347472"/>
          </a:xfrm>
          <a:prstGeom prst="ellipse">
            <a:avLst/>
          </a:prstGeom>
          <a:solidFill>
            <a:srgbClr val="E84141"/>
          </a:solidFill>
          <a:ln w="12700">
            <a:solidFill>
              <a:srgbClr val="8E1B1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19881" y="41690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9312375" y="4758878"/>
            <a:ext cx="1977097" cy="399302"/>
          </a:xfrm>
          <a:prstGeom prst="roundRect">
            <a:avLst>
              <a:gd name="adj" fmla="val 57250"/>
            </a:avLst>
          </a:prstGeom>
          <a:solidFill>
            <a:srgbClr val="E84141">
              <a:alpha val="0"/>
            </a:srgbClr>
          </a:solidFill>
          <a:ln w="889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312375" y="4758878"/>
            <a:ext cx="1977097" cy="399302"/>
          </a:xfrm>
          <a:prstGeom prst="roundRect">
            <a:avLst>
              <a:gd name="adj" fmla="val 57250"/>
            </a:avLst>
          </a:prstGeom>
          <a:solidFill>
            <a:srgbClr val="E84141">
              <a:alpha val="0"/>
            </a:srgbClr>
          </a:solidFill>
          <a:ln w="44450">
            <a:solidFill>
              <a:srgbClr val="E8414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492449" y="4757361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Shape 13"/>
          <p:cNvSpPr/>
          <p:nvPr/>
        </p:nvSpPr>
        <p:spPr>
          <a:xfrm>
            <a:off x="8519881" y="4784793"/>
            <a:ext cx="347472" cy="347472"/>
          </a:xfrm>
          <a:prstGeom prst="ellipse">
            <a:avLst/>
          </a:prstGeom>
          <a:solidFill>
            <a:srgbClr val="E84141"/>
          </a:solidFill>
          <a:ln w="12700">
            <a:solidFill>
              <a:srgbClr val="8E1B1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19881" y="4784793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9312375" y="5169361"/>
            <a:ext cx="1977097" cy="399302"/>
          </a:xfrm>
          <a:prstGeom prst="roundRect">
            <a:avLst>
              <a:gd name="adj" fmla="val 57250"/>
            </a:avLst>
          </a:prstGeom>
          <a:solidFill>
            <a:srgbClr val="E84141">
              <a:alpha val="0"/>
            </a:srgbClr>
          </a:solidFill>
          <a:ln w="88900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312375" y="5169361"/>
            <a:ext cx="1977097" cy="399302"/>
          </a:xfrm>
          <a:prstGeom prst="roundRect">
            <a:avLst>
              <a:gd name="adj" fmla="val 57250"/>
            </a:avLst>
          </a:prstGeom>
          <a:solidFill>
            <a:srgbClr val="E84141">
              <a:alpha val="0"/>
            </a:srgbClr>
          </a:solidFill>
          <a:ln w="44450">
            <a:solidFill>
              <a:srgbClr val="E8414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492449" y="5167844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Shape 18"/>
          <p:cNvSpPr/>
          <p:nvPr/>
        </p:nvSpPr>
        <p:spPr>
          <a:xfrm>
            <a:off x="8519881" y="5195276"/>
            <a:ext cx="347472" cy="347472"/>
          </a:xfrm>
          <a:prstGeom prst="ellipse">
            <a:avLst/>
          </a:prstGeom>
          <a:solidFill>
            <a:srgbClr val="E84141"/>
          </a:solidFill>
          <a:ln w="12700">
            <a:solidFill>
              <a:srgbClr val="8E1B1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519881" y="51952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0" y="6711696"/>
            <a:ext cx="3066212" cy="146304"/>
          </a:xfrm>
          <a:prstGeom prst="rect">
            <a:avLst/>
          </a:prstGeom>
          <a:solidFill>
            <a:srgbClr val="10B7CD"/>
          </a:solidFill>
          <a:ln/>
        </p:spPr>
      </p:sp>
      <p:sp>
        <p:nvSpPr>
          <p:cNvPr id="24" name="Shape 21"/>
          <p:cNvSpPr/>
          <p:nvPr/>
        </p:nvSpPr>
        <p:spPr>
          <a:xfrm>
            <a:off x="3047924" y="6711696"/>
            <a:ext cx="3066212" cy="146304"/>
          </a:xfrm>
          <a:prstGeom prst="rect">
            <a:avLst/>
          </a:prstGeom>
          <a:solidFill>
            <a:srgbClr val="E84141"/>
          </a:solidFill>
          <a:ln/>
        </p:spPr>
      </p:sp>
      <p:sp>
        <p:nvSpPr>
          <p:cNvPr id="25" name="Shape 22"/>
          <p:cNvSpPr/>
          <p:nvPr/>
        </p:nvSpPr>
        <p:spPr>
          <a:xfrm>
            <a:off x="6095848" y="6711696"/>
            <a:ext cx="3066212" cy="146304"/>
          </a:xfrm>
          <a:prstGeom prst="rect">
            <a:avLst/>
          </a:prstGeom>
          <a:solidFill>
            <a:srgbClr val="F8AB11"/>
          </a:solidFill>
          <a:ln/>
        </p:spPr>
      </p:sp>
      <p:sp>
        <p:nvSpPr>
          <p:cNvPr id="26" name="Shape 23"/>
          <p:cNvSpPr/>
          <p:nvPr/>
        </p:nvSpPr>
        <p:spPr>
          <a:xfrm>
            <a:off x="9143771" y="6711696"/>
            <a:ext cx="3047924" cy="146304"/>
          </a:xfrm>
          <a:prstGeom prst="rect">
            <a:avLst/>
          </a:prstGeom>
          <a:solidFill>
            <a:srgbClr val="8974B3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481328" cy="384048"/>
          </a:xfrm>
          <a:prstGeom prst="roundRect">
            <a:avLst>
              <a:gd name="adj" fmla="val 50000"/>
            </a:avLst>
          </a:prstGeom>
          <a:solidFill>
            <a:srgbClr val="0167D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PASO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969264"/>
            <a:ext cx="67967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3A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Ahí están tus hijos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6796735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Aparece una tarjeta por cada hijo. Cada una lleva una etiqueta que dice cómo va:</a:t>
            </a:r>
            <a:endParaRPr lang="en-US" sz="1700" dirty="0"/>
          </a:p>
          <a:p>
            <a:pPr indent="0" marL="0">
              <a:lnSpc>
                <a:spcPts val="2800"/>
              </a:lnSpc>
              <a:buNone/>
            </a:pPr>
            <a:endParaRPr lang="en-US" sz="17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 La etiqueta dice «Regalo confirmado»: ya está listo, y abajo ves cuál quedó.</a:t>
            </a:r>
            <a:endParaRPr lang="en-US" sz="17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 La etiqueta dice «Falta elegir»: todavía no le has escogido regalo.</a:t>
            </a:r>
            <a:endParaRPr lang="en-US" sz="1700" dirty="0"/>
          </a:p>
          <a:p>
            <a:pPr indent="0" marL="0">
              <a:lnSpc>
                <a:spcPts val="2800"/>
              </a:lnSpc>
              <a:buNone/>
            </a:pPr>
            <a:endParaRPr lang="en-US" sz="17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Toca la tarjeta del hijo al que le vas a elegir.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986225" y="484632"/>
            <a:ext cx="2629398" cy="5541264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</p:spPr>
      </p:sp>
      <p:pic>
        <p:nvPicPr>
          <p:cNvPr id="7" name="Image 0" descr="docs/presentacion/recursos/ins-02-hij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0233" y="548640"/>
            <a:ext cx="2501382" cy="541324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107134" y="2132727"/>
            <a:ext cx="2387581" cy="1943225"/>
          </a:xfrm>
          <a:prstGeom prst="roundRect">
            <a:avLst>
              <a:gd name="adj" fmla="val 11764"/>
            </a:avLst>
          </a:prstGeom>
          <a:solidFill>
            <a:srgbClr val="E84141">
              <a:alpha val="0"/>
            </a:srgbClr>
          </a:solidFill>
          <a:ln w="88900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07134" y="2132727"/>
            <a:ext cx="2387581" cy="1943225"/>
          </a:xfrm>
          <a:prstGeom prst="roundRect">
            <a:avLst>
              <a:gd name="adj" fmla="val 11764"/>
            </a:avLst>
          </a:prstGeom>
          <a:solidFill>
            <a:srgbClr val="E84141">
              <a:alpha val="0"/>
            </a:srgbClr>
          </a:solidFill>
          <a:ln w="44450">
            <a:solidFill>
              <a:srgbClr val="E8414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492449" y="2903171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8519881" y="2930603"/>
            <a:ext cx="347472" cy="347472"/>
          </a:xfrm>
          <a:prstGeom prst="ellipse">
            <a:avLst/>
          </a:prstGeom>
          <a:solidFill>
            <a:srgbClr val="E84141"/>
          </a:solidFill>
          <a:ln w="12700">
            <a:solidFill>
              <a:srgbClr val="8E1B1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19881" y="2930603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9107134" y="4125615"/>
            <a:ext cx="2387581" cy="1269775"/>
          </a:xfrm>
          <a:prstGeom prst="roundRect">
            <a:avLst>
              <a:gd name="adj" fmla="val 18003"/>
            </a:avLst>
          </a:prstGeom>
          <a:solidFill>
            <a:srgbClr val="E84141">
              <a:alpha val="0"/>
            </a:srgbClr>
          </a:solidFill>
          <a:ln w="889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107134" y="4125615"/>
            <a:ext cx="2387581" cy="1269775"/>
          </a:xfrm>
          <a:prstGeom prst="roundRect">
            <a:avLst>
              <a:gd name="adj" fmla="val 18003"/>
            </a:avLst>
          </a:prstGeom>
          <a:solidFill>
            <a:srgbClr val="E84141">
              <a:alpha val="0"/>
            </a:srgbClr>
          </a:solidFill>
          <a:ln w="44450">
            <a:solidFill>
              <a:srgbClr val="E8414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492449" y="4559335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Shape 13"/>
          <p:cNvSpPr/>
          <p:nvPr/>
        </p:nvSpPr>
        <p:spPr>
          <a:xfrm>
            <a:off x="8519881" y="4586767"/>
            <a:ext cx="347472" cy="347472"/>
          </a:xfrm>
          <a:prstGeom prst="ellipse">
            <a:avLst/>
          </a:prstGeom>
          <a:solidFill>
            <a:srgbClr val="E84141"/>
          </a:solidFill>
          <a:ln w="12700">
            <a:solidFill>
              <a:srgbClr val="8E1B1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19881" y="4586767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0" y="6711696"/>
            <a:ext cx="3066212" cy="146304"/>
          </a:xfrm>
          <a:prstGeom prst="rect">
            <a:avLst/>
          </a:prstGeom>
          <a:solidFill>
            <a:srgbClr val="10B7CD"/>
          </a:solidFill>
          <a:ln/>
        </p:spPr>
      </p:sp>
      <p:sp>
        <p:nvSpPr>
          <p:cNvPr id="19" name="Shape 16"/>
          <p:cNvSpPr/>
          <p:nvPr/>
        </p:nvSpPr>
        <p:spPr>
          <a:xfrm>
            <a:off x="3047924" y="6711696"/>
            <a:ext cx="3066212" cy="146304"/>
          </a:xfrm>
          <a:prstGeom prst="rect">
            <a:avLst/>
          </a:prstGeom>
          <a:solidFill>
            <a:srgbClr val="E84141"/>
          </a:solidFill>
          <a:ln/>
        </p:spPr>
      </p:sp>
      <p:sp>
        <p:nvSpPr>
          <p:cNvPr id="20" name="Shape 17"/>
          <p:cNvSpPr/>
          <p:nvPr/>
        </p:nvSpPr>
        <p:spPr>
          <a:xfrm>
            <a:off x="6095848" y="6711696"/>
            <a:ext cx="3066212" cy="146304"/>
          </a:xfrm>
          <a:prstGeom prst="rect">
            <a:avLst/>
          </a:prstGeom>
          <a:solidFill>
            <a:srgbClr val="F8AB11"/>
          </a:solidFill>
          <a:ln/>
        </p:spPr>
      </p:sp>
      <p:sp>
        <p:nvSpPr>
          <p:cNvPr id="21" name="Shape 18"/>
          <p:cNvSpPr/>
          <p:nvPr/>
        </p:nvSpPr>
        <p:spPr>
          <a:xfrm>
            <a:off x="9143771" y="6711696"/>
            <a:ext cx="3047924" cy="146304"/>
          </a:xfrm>
          <a:prstGeom prst="rect">
            <a:avLst/>
          </a:prstGeom>
          <a:solidFill>
            <a:srgbClr val="8974B3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481328" cy="384048"/>
          </a:xfrm>
          <a:prstGeom prst="roundRect">
            <a:avLst>
              <a:gd name="adj" fmla="val 50000"/>
            </a:avLst>
          </a:prstGeom>
          <a:solidFill>
            <a:srgbClr val="0167D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PASO 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969264"/>
            <a:ext cx="67967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3A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Elige el regalo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67967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Vas a ver seis opciones, elegidas para la edad de ese hijo. Toca «Elegir este» en el que quieras.</a:t>
            </a:r>
            <a:endParaRPr lang="en-US" sz="1700" dirty="0"/>
          </a:p>
          <a:p>
            <a:pPr indent="0" marL="0">
              <a:lnSpc>
                <a:spcPts val="2800"/>
              </a:lnSpc>
              <a:buNone/>
            </a:pPr>
            <a:endParaRPr lang="en-US" sz="17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un juguete dice «Agotado», ya no quedan unidades y no se puede seleccionar. Escoge otro de la lista.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986225" y="484632"/>
            <a:ext cx="2629398" cy="5541264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</p:spPr>
      </p:sp>
      <p:pic>
        <p:nvPicPr>
          <p:cNvPr id="7" name="Image 0" descr="docs/presentacion/recursos/ins-03-cata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0233" y="548640"/>
            <a:ext cx="2501382" cy="541324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216168" y="3945127"/>
            <a:ext cx="970131" cy="373647"/>
          </a:xfrm>
          <a:prstGeom prst="roundRect">
            <a:avLst>
              <a:gd name="adj" fmla="val 61181"/>
            </a:avLst>
          </a:prstGeom>
          <a:solidFill>
            <a:srgbClr val="E84141">
              <a:alpha val="0"/>
            </a:srgbClr>
          </a:solidFill>
          <a:ln w="88900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216168" y="3945127"/>
            <a:ext cx="970131" cy="373647"/>
          </a:xfrm>
          <a:prstGeom prst="roundRect">
            <a:avLst>
              <a:gd name="adj" fmla="val 61181"/>
            </a:avLst>
          </a:prstGeom>
          <a:solidFill>
            <a:srgbClr val="E84141">
              <a:alpha val="0"/>
            </a:srgbClr>
          </a:solidFill>
          <a:ln w="44450">
            <a:solidFill>
              <a:srgbClr val="E8414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492449" y="3930782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8519881" y="3958214"/>
            <a:ext cx="347472" cy="347472"/>
          </a:xfrm>
          <a:prstGeom prst="ellipse">
            <a:avLst/>
          </a:prstGeom>
          <a:solidFill>
            <a:srgbClr val="E84141"/>
          </a:solidFill>
          <a:ln w="12700">
            <a:solidFill>
              <a:srgbClr val="8E1B1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19881" y="395821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0" y="6711696"/>
            <a:ext cx="3066212" cy="146304"/>
          </a:xfrm>
          <a:prstGeom prst="rect">
            <a:avLst/>
          </a:prstGeom>
          <a:solidFill>
            <a:srgbClr val="10B7CD"/>
          </a:solidFill>
          <a:ln/>
        </p:spPr>
      </p:sp>
      <p:sp>
        <p:nvSpPr>
          <p:cNvPr id="14" name="Shape 11"/>
          <p:cNvSpPr/>
          <p:nvPr/>
        </p:nvSpPr>
        <p:spPr>
          <a:xfrm>
            <a:off x="3047924" y="6711696"/>
            <a:ext cx="3066212" cy="146304"/>
          </a:xfrm>
          <a:prstGeom prst="rect">
            <a:avLst/>
          </a:prstGeom>
          <a:solidFill>
            <a:srgbClr val="E84141"/>
          </a:solidFill>
          <a:ln/>
        </p:spPr>
      </p:sp>
      <p:sp>
        <p:nvSpPr>
          <p:cNvPr id="15" name="Shape 12"/>
          <p:cNvSpPr/>
          <p:nvPr/>
        </p:nvSpPr>
        <p:spPr>
          <a:xfrm>
            <a:off x="6095848" y="6711696"/>
            <a:ext cx="3066212" cy="146304"/>
          </a:xfrm>
          <a:prstGeom prst="rect">
            <a:avLst/>
          </a:prstGeom>
          <a:solidFill>
            <a:srgbClr val="F8AB11"/>
          </a:solidFill>
          <a:ln/>
        </p:spPr>
      </p:sp>
      <p:sp>
        <p:nvSpPr>
          <p:cNvPr id="16" name="Shape 13"/>
          <p:cNvSpPr/>
          <p:nvPr/>
        </p:nvSpPr>
        <p:spPr>
          <a:xfrm>
            <a:off x="9143771" y="6711696"/>
            <a:ext cx="3047924" cy="146304"/>
          </a:xfrm>
          <a:prstGeom prst="rect">
            <a:avLst/>
          </a:prstGeom>
          <a:solidFill>
            <a:srgbClr val="8974B3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481328" cy="384048"/>
          </a:xfrm>
          <a:prstGeom prst="roundRect">
            <a:avLst>
              <a:gd name="adj" fmla="val 50000"/>
            </a:avLst>
          </a:prstGeom>
          <a:solidFill>
            <a:srgbClr val="0167D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PASO 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969264"/>
            <a:ext cx="67967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3A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Revisa y confirma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67967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Revisa que sea el juguete que quieres y toca «Confirmar regalo».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2907792"/>
            <a:ext cx="6796735" cy="1005840"/>
          </a:xfrm>
          <a:prstGeom prst="roundRect">
            <a:avLst>
              <a:gd name="adj" fmla="val 5455"/>
            </a:avLst>
          </a:prstGeom>
          <a:solidFill>
            <a:srgbClr val="FDECEC"/>
          </a:solidFill>
          <a:ln w="31750">
            <a:solidFill>
              <a:srgbClr val="E8414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907792"/>
            <a:ext cx="118872" cy="1005840"/>
          </a:xfrm>
          <a:prstGeom prst="rect">
            <a:avLst/>
          </a:prstGeom>
          <a:solidFill>
            <a:srgbClr val="E84141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999232"/>
            <a:ext cx="6248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8E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IMPORTANTE: después de confirmar NO puedes cambiar el regalo por tu cuenta. Revisa bien antes de tocar el botón.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986225" y="484632"/>
            <a:ext cx="2629398" cy="5541264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</p:spPr>
      </p:sp>
      <p:pic>
        <p:nvPicPr>
          <p:cNvPr id="10" name="Image 0" descr="docs/presentacion/recursos/ins-04-confirm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0233" y="548640"/>
            <a:ext cx="2501382" cy="541324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9107134" y="5273585"/>
            <a:ext cx="2387581" cy="399302"/>
          </a:xfrm>
          <a:prstGeom prst="roundRect">
            <a:avLst>
              <a:gd name="adj" fmla="val 57250"/>
            </a:avLst>
          </a:prstGeom>
          <a:solidFill>
            <a:srgbClr val="E84141">
              <a:alpha val="0"/>
            </a:srgbClr>
          </a:solidFill>
          <a:ln w="889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107134" y="5273585"/>
            <a:ext cx="2387581" cy="399302"/>
          </a:xfrm>
          <a:prstGeom prst="roundRect">
            <a:avLst>
              <a:gd name="adj" fmla="val 57250"/>
            </a:avLst>
          </a:prstGeom>
          <a:solidFill>
            <a:srgbClr val="E84141">
              <a:alpha val="0"/>
            </a:srgbClr>
          </a:solidFill>
          <a:ln w="44450">
            <a:solidFill>
              <a:srgbClr val="E8414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492449" y="5272069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Shape 11"/>
          <p:cNvSpPr/>
          <p:nvPr/>
        </p:nvSpPr>
        <p:spPr>
          <a:xfrm>
            <a:off x="8519881" y="5299501"/>
            <a:ext cx="347472" cy="347472"/>
          </a:xfrm>
          <a:prstGeom prst="ellipse">
            <a:avLst/>
          </a:prstGeom>
          <a:solidFill>
            <a:srgbClr val="E84141"/>
          </a:solidFill>
          <a:ln w="12700">
            <a:solidFill>
              <a:srgbClr val="8E1B1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19881" y="5299501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0" y="6711696"/>
            <a:ext cx="3066212" cy="146304"/>
          </a:xfrm>
          <a:prstGeom prst="rect">
            <a:avLst/>
          </a:prstGeom>
          <a:solidFill>
            <a:srgbClr val="10B7CD"/>
          </a:solidFill>
          <a:ln/>
        </p:spPr>
      </p:sp>
      <p:sp>
        <p:nvSpPr>
          <p:cNvPr id="17" name="Shape 14"/>
          <p:cNvSpPr/>
          <p:nvPr/>
        </p:nvSpPr>
        <p:spPr>
          <a:xfrm>
            <a:off x="3047924" y="6711696"/>
            <a:ext cx="3066212" cy="146304"/>
          </a:xfrm>
          <a:prstGeom prst="rect">
            <a:avLst/>
          </a:prstGeom>
          <a:solidFill>
            <a:srgbClr val="E84141"/>
          </a:solidFill>
          <a:ln/>
        </p:spPr>
      </p:sp>
      <p:sp>
        <p:nvSpPr>
          <p:cNvPr id="18" name="Shape 15"/>
          <p:cNvSpPr/>
          <p:nvPr/>
        </p:nvSpPr>
        <p:spPr>
          <a:xfrm>
            <a:off x="6095848" y="6711696"/>
            <a:ext cx="3066212" cy="146304"/>
          </a:xfrm>
          <a:prstGeom prst="rect">
            <a:avLst/>
          </a:prstGeom>
          <a:solidFill>
            <a:srgbClr val="F8AB11"/>
          </a:solidFill>
          <a:ln/>
        </p:spPr>
      </p:sp>
      <p:sp>
        <p:nvSpPr>
          <p:cNvPr id="19" name="Shape 16"/>
          <p:cNvSpPr/>
          <p:nvPr/>
        </p:nvSpPr>
        <p:spPr>
          <a:xfrm>
            <a:off x="9143771" y="6711696"/>
            <a:ext cx="3047924" cy="146304"/>
          </a:xfrm>
          <a:prstGeom prst="rect">
            <a:avLst/>
          </a:prstGeom>
          <a:solidFill>
            <a:srgbClr val="8974B3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481328" cy="384048"/>
          </a:xfrm>
          <a:prstGeom prst="roundRect">
            <a:avLst>
              <a:gd name="adj" fmla="val 50000"/>
            </a:avLst>
          </a:prstGeom>
          <a:solidFill>
            <a:srgbClr val="0167D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PASO 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969264"/>
            <a:ext cx="67967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3A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Guarda tu código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6796735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Listo. Aparece tu código de entrega y un código QR.</a:t>
            </a:r>
            <a:endParaRPr lang="en-US" sz="1700" dirty="0"/>
          </a:p>
          <a:p>
            <a:pPr indent="0" marL="0">
              <a:lnSpc>
                <a:spcPts val="2800"/>
              </a:lnSpc>
              <a:buNone/>
            </a:pPr>
            <a:endParaRPr lang="en-US" sz="17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Guárdalo: tómale una foto, tócalo en «Copiar código» o descárgalo. Lo vas a necesitar el día de la entrega.</a:t>
            </a:r>
            <a:endParaRPr lang="en-US" sz="1700" dirty="0"/>
          </a:p>
          <a:p>
            <a:pPr indent="0" marL="0">
              <a:lnSpc>
                <a:spcPts val="2800"/>
              </a:lnSpc>
              <a:buNone/>
            </a:pPr>
            <a:endParaRPr lang="en-US" sz="17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También te llega por correo cuando termines con todos tus hijos.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986225" y="484632"/>
            <a:ext cx="2629398" cy="5541264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C9D6E3"/>
            </a:solidFill>
            <a:prstDash val="solid"/>
          </a:ln>
        </p:spPr>
      </p:sp>
      <p:pic>
        <p:nvPicPr>
          <p:cNvPr id="7" name="Image 0" descr="docs/presentacion/recursos/ins-05-comproban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0233" y="548640"/>
            <a:ext cx="2501382" cy="541324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6711696"/>
            <a:ext cx="3066212" cy="146304"/>
          </a:xfrm>
          <a:prstGeom prst="rect">
            <a:avLst/>
          </a:prstGeom>
          <a:solidFill>
            <a:srgbClr val="10B7CD"/>
          </a:solidFill>
          <a:ln/>
        </p:spPr>
      </p:sp>
      <p:sp>
        <p:nvSpPr>
          <p:cNvPr id="9" name="Shape 6"/>
          <p:cNvSpPr/>
          <p:nvPr/>
        </p:nvSpPr>
        <p:spPr>
          <a:xfrm>
            <a:off x="3047924" y="6711696"/>
            <a:ext cx="3066212" cy="146304"/>
          </a:xfrm>
          <a:prstGeom prst="rect">
            <a:avLst/>
          </a:prstGeom>
          <a:solidFill>
            <a:srgbClr val="E84141"/>
          </a:solidFill>
          <a:ln/>
        </p:spPr>
      </p:sp>
      <p:sp>
        <p:nvSpPr>
          <p:cNvPr id="10" name="Shape 7"/>
          <p:cNvSpPr/>
          <p:nvPr/>
        </p:nvSpPr>
        <p:spPr>
          <a:xfrm>
            <a:off x="6095848" y="6711696"/>
            <a:ext cx="3066212" cy="146304"/>
          </a:xfrm>
          <a:prstGeom prst="rect">
            <a:avLst/>
          </a:prstGeom>
          <a:solidFill>
            <a:srgbClr val="F8AB11"/>
          </a:solidFill>
          <a:ln/>
        </p:spPr>
      </p:sp>
      <p:sp>
        <p:nvSpPr>
          <p:cNvPr id="11" name="Shape 8"/>
          <p:cNvSpPr/>
          <p:nvPr/>
        </p:nvSpPr>
        <p:spPr>
          <a:xfrm>
            <a:off x="9143771" y="6711696"/>
            <a:ext cx="3047924" cy="146304"/>
          </a:xfrm>
          <a:prstGeom prst="rect">
            <a:avLst/>
          </a:prstGeom>
          <a:solidFill>
            <a:srgbClr val="8974B3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3A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Repite con cada hijo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regalo por cada uno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6711696"/>
            <a:ext cx="3066212" cy="146304"/>
          </a:xfrm>
          <a:prstGeom prst="rect">
            <a:avLst/>
          </a:prstGeom>
          <a:solidFill>
            <a:srgbClr val="10B7CD"/>
          </a:solidFill>
          <a:ln/>
        </p:spPr>
      </p:sp>
      <p:sp>
        <p:nvSpPr>
          <p:cNvPr id="5" name="Shape 3"/>
          <p:cNvSpPr/>
          <p:nvPr/>
        </p:nvSpPr>
        <p:spPr>
          <a:xfrm>
            <a:off x="3047924" y="6711696"/>
            <a:ext cx="3066212" cy="146304"/>
          </a:xfrm>
          <a:prstGeom prst="rect">
            <a:avLst/>
          </a:prstGeom>
          <a:solidFill>
            <a:srgbClr val="E84141"/>
          </a:solidFill>
          <a:ln/>
        </p:spPr>
      </p:sp>
      <p:sp>
        <p:nvSpPr>
          <p:cNvPr id="6" name="Shape 4"/>
          <p:cNvSpPr/>
          <p:nvPr/>
        </p:nvSpPr>
        <p:spPr>
          <a:xfrm>
            <a:off x="6095848" y="6711696"/>
            <a:ext cx="3066212" cy="146304"/>
          </a:xfrm>
          <a:prstGeom prst="rect">
            <a:avLst/>
          </a:prstGeom>
          <a:solidFill>
            <a:srgbClr val="F8AB11"/>
          </a:solidFill>
          <a:ln/>
        </p:spPr>
      </p:sp>
      <p:sp>
        <p:nvSpPr>
          <p:cNvPr id="7" name="Shape 5"/>
          <p:cNvSpPr/>
          <p:nvPr/>
        </p:nvSpPr>
        <p:spPr>
          <a:xfrm>
            <a:off x="9143771" y="6711696"/>
            <a:ext cx="3047924" cy="146304"/>
          </a:xfrm>
          <a:prstGeom prst="rect">
            <a:avLst/>
          </a:prstGeom>
          <a:solidFill>
            <a:srgbClr val="8974B3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070608"/>
            <a:ext cx="5227168" cy="1651000"/>
          </a:xfrm>
          <a:prstGeom prst="roundRect">
            <a:avLst>
              <a:gd name="adj" fmla="val 332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070608"/>
            <a:ext cx="64008" cy="1651000"/>
          </a:xfrm>
          <a:prstGeom prst="rect">
            <a:avLst/>
          </a:prstGeom>
          <a:solidFill>
            <a:srgbClr val="0167D5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271776"/>
            <a:ext cx="4678528" cy="29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A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Vuelve a «Mis beneficiarios»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639568"/>
            <a:ext cx="4678528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Toca «Mis beneficiarios» arriba a la izquierda.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24448" y="2070608"/>
            <a:ext cx="5227168" cy="1651000"/>
          </a:xfrm>
          <a:prstGeom prst="roundRect">
            <a:avLst>
              <a:gd name="adj" fmla="val 332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24448" y="2070608"/>
            <a:ext cx="64008" cy="1651000"/>
          </a:xfrm>
          <a:prstGeom prst="rect">
            <a:avLst/>
          </a:prstGeom>
          <a:solidFill>
            <a:srgbClr val="0167D5"/>
          </a:solidFill>
          <a:ln/>
        </p:spPr>
      </p:sp>
      <p:sp>
        <p:nvSpPr>
          <p:cNvPr id="14" name="Text 12"/>
          <p:cNvSpPr/>
          <p:nvPr/>
        </p:nvSpPr>
        <p:spPr>
          <a:xfrm>
            <a:off x="6598768" y="2271776"/>
            <a:ext cx="4678528" cy="29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A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Elige el siguiente hijo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98768" y="2639568"/>
            <a:ext cx="4678528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Repite los pasos 4, 5 y 6 con cada uno.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959352"/>
            <a:ext cx="5227168" cy="1651000"/>
          </a:xfrm>
          <a:prstGeom prst="roundRect">
            <a:avLst>
              <a:gd name="adj" fmla="val 332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959352"/>
            <a:ext cx="64008" cy="1651000"/>
          </a:xfrm>
          <a:prstGeom prst="rect">
            <a:avLst/>
          </a:prstGeom>
          <a:solidFill>
            <a:srgbClr val="0167D5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160520"/>
            <a:ext cx="4678528" cy="58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A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 hijo ve juguetes distintos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4822952"/>
            <a:ext cx="4678528" cy="67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opciones dependen de su edad. Es normal que no se parezcan.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24448" y="3959352"/>
            <a:ext cx="5227168" cy="1651000"/>
          </a:xfrm>
          <a:prstGeom prst="roundRect">
            <a:avLst>
              <a:gd name="adj" fmla="val 332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24448" y="3959352"/>
            <a:ext cx="64008" cy="1651000"/>
          </a:xfrm>
          <a:prstGeom prst="rect">
            <a:avLst/>
          </a:prstGeom>
          <a:solidFill>
            <a:srgbClr val="0167D5"/>
          </a:solidFill>
          <a:ln/>
        </p:spPr>
      </p:sp>
      <p:sp>
        <p:nvSpPr>
          <p:cNvPr id="22" name="Text 20"/>
          <p:cNvSpPr/>
          <p:nvPr/>
        </p:nvSpPr>
        <p:spPr>
          <a:xfrm>
            <a:off x="6598768" y="4160520"/>
            <a:ext cx="4678528" cy="58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A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Terminaste cuando ninguno diga «Falta elegir»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98768" y="4822952"/>
            <a:ext cx="4678528" cy="67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Ahí te llega el correo con todos los códigos.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3A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día de la entrega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Viernes 12 de diciembre · Parque Jaime Duque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6711696"/>
            <a:ext cx="3066212" cy="146304"/>
          </a:xfrm>
          <a:prstGeom prst="rect">
            <a:avLst/>
          </a:prstGeom>
          <a:solidFill>
            <a:srgbClr val="10B7CD"/>
          </a:solidFill>
          <a:ln/>
        </p:spPr>
      </p:sp>
      <p:sp>
        <p:nvSpPr>
          <p:cNvPr id="5" name="Shape 3"/>
          <p:cNvSpPr/>
          <p:nvPr/>
        </p:nvSpPr>
        <p:spPr>
          <a:xfrm>
            <a:off x="3047924" y="6711696"/>
            <a:ext cx="3066212" cy="146304"/>
          </a:xfrm>
          <a:prstGeom prst="rect">
            <a:avLst/>
          </a:prstGeom>
          <a:solidFill>
            <a:srgbClr val="E84141"/>
          </a:solidFill>
          <a:ln/>
        </p:spPr>
      </p:sp>
      <p:sp>
        <p:nvSpPr>
          <p:cNvPr id="6" name="Shape 4"/>
          <p:cNvSpPr/>
          <p:nvPr/>
        </p:nvSpPr>
        <p:spPr>
          <a:xfrm>
            <a:off x="6095848" y="6711696"/>
            <a:ext cx="3066212" cy="146304"/>
          </a:xfrm>
          <a:prstGeom prst="rect">
            <a:avLst/>
          </a:prstGeom>
          <a:solidFill>
            <a:srgbClr val="F8AB11"/>
          </a:solidFill>
          <a:ln/>
        </p:spPr>
      </p:sp>
      <p:sp>
        <p:nvSpPr>
          <p:cNvPr id="7" name="Shape 5"/>
          <p:cNvSpPr/>
          <p:nvPr/>
        </p:nvSpPr>
        <p:spPr>
          <a:xfrm>
            <a:off x="9143771" y="6711696"/>
            <a:ext cx="3047924" cy="146304"/>
          </a:xfrm>
          <a:prstGeom prst="rect">
            <a:avLst/>
          </a:prstGeom>
          <a:solidFill>
            <a:srgbClr val="8974B3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365248"/>
            <a:ext cx="5227168" cy="1356360"/>
          </a:xfrm>
          <a:prstGeom prst="roundRect">
            <a:avLst>
              <a:gd name="adj" fmla="val 404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365248"/>
            <a:ext cx="64008" cy="1356360"/>
          </a:xfrm>
          <a:prstGeom prst="rect">
            <a:avLst/>
          </a:prstGeom>
          <a:solidFill>
            <a:srgbClr val="0167D5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566416"/>
            <a:ext cx="4678528" cy="29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A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Lleva tu código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934208"/>
            <a:ext cx="4678528" cy="67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el celular o impreso. Uno por cada hijo.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24448" y="2365248"/>
            <a:ext cx="5227168" cy="1356360"/>
          </a:xfrm>
          <a:prstGeom prst="roundRect">
            <a:avLst>
              <a:gd name="adj" fmla="val 404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24448" y="2365248"/>
            <a:ext cx="64008" cy="1356360"/>
          </a:xfrm>
          <a:prstGeom prst="rect">
            <a:avLst/>
          </a:prstGeom>
          <a:solidFill>
            <a:srgbClr val="0167D5"/>
          </a:solidFill>
          <a:ln/>
        </p:spPr>
      </p:sp>
      <p:sp>
        <p:nvSpPr>
          <p:cNvPr id="14" name="Text 12"/>
          <p:cNvSpPr/>
          <p:nvPr/>
        </p:nvSpPr>
        <p:spPr>
          <a:xfrm>
            <a:off x="6598768" y="2566416"/>
            <a:ext cx="4678528" cy="29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A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Busca tu carpa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98768" y="2934208"/>
            <a:ext cx="4678528" cy="67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el punto de información te indican a cuál ir según el juguete.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959352"/>
            <a:ext cx="5227168" cy="1356360"/>
          </a:xfrm>
          <a:prstGeom prst="roundRect">
            <a:avLst>
              <a:gd name="adj" fmla="val 404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959352"/>
            <a:ext cx="64008" cy="1356360"/>
          </a:xfrm>
          <a:prstGeom prst="rect">
            <a:avLst/>
          </a:prstGeom>
          <a:solidFill>
            <a:srgbClr val="0167D5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160520"/>
            <a:ext cx="4678528" cy="29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A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Presenta el QR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4528312"/>
            <a:ext cx="4678528" cy="67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operario lo escanea, verifica y te entrega el regalo.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24448" y="3959352"/>
            <a:ext cx="5227168" cy="1356360"/>
          </a:xfrm>
          <a:prstGeom prst="roundRect">
            <a:avLst>
              <a:gd name="adj" fmla="val 404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24448" y="3959352"/>
            <a:ext cx="64008" cy="1356360"/>
          </a:xfrm>
          <a:prstGeom prst="rect">
            <a:avLst/>
          </a:prstGeom>
          <a:solidFill>
            <a:srgbClr val="0167D5"/>
          </a:solidFill>
          <a:ln/>
        </p:spPr>
      </p:sp>
      <p:sp>
        <p:nvSpPr>
          <p:cNvPr id="22" name="Text 20"/>
          <p:cNvSpPr/>
          <p:nvPr/>
        </p:nvSpPr>
        <p:spPr>
          <a:xfrm>
            <a:off x="6598768" y="4160520"/>
            <a:ext cx="4678528" cy="29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A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horario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98768" y="4528312"/>
            <a:ext cx="4678528" cy="67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Talento Humano lo confirma antes del evento.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3A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Preguntas frecuentes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711696"/>
            <a:ext cx="3066212" cy="146304"/>
          </a:xfrm>
          <a:prstGeom prst="rect">
            <a:avLst/>
          </a:prstGeom>
          <a:solidFill>
            <a:srgbClr val="10B7CD"/>
          </a:solidFill>
          <a:ln/>
        </p:spPr>
      </p:sp>
      <p:sp>
        <p:nvSpPr>
          <p:cNvPr id="4" name="Shape 2"/>
          <p:cNvSpPr/>
          <p:nvPr/>
        </p:nvSpPr>
        <p:spPr>
          <a:xfrm>
            <a:off x="3047924" y="6711696"/>
            <a:ext cx="3066212" cy="146304"/>
          </a:xfrm>
          <a:prstGeom prst="rect">
            <a:avLst/>
          </a:prstGeom>
          <a:solidFill>
            <a:srgbClr val="E84141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48" y="6711696"/>
            <a:ext cx="3066212" cy="146304"/>
          </a:xfrm>
          <a:prstGeom prst="rect">
            <a:avLst/>
          </a:prstGeom>
          <a:solidFill>
            <a:srgbClr val="F8AB11"/>
          </a:solidFill>
          <a:ln/>
        </p:spPr>
      </p:sp>
      <p:sp>
        <p:nvSpPr>
          <p:cNvPr id="6" name="Shape 4"/>
          <p:cNvSpPr/>
          <p:nvPr/>
        </p:nvSpPr>
        <p:spPr>
          <a:xfrm>
            <a:off x="9143771" y="6711696"/>
            <a:ext cx="3047924" cy="146304"/>
          </a:xfrm>
          <a:prstGeom prst="rect">
            <a:avLst/>
          </a:prstGeom>
          <a:solidFill>
            <a:srgbClr val="8974B3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207008"/>
            <a:ext cx="5227168" cy="1487424"/>
          </a:xfrm>
          <a:prstGeom prst="roundRect">
            <a:avLst>
              <a:gd name="adj" fmla="val 368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207008"/>
            <a:ext cx="64008" cy="1487424"/>
          </a:xfrm>
          <a:prstGeom prst="rect">
            <a:avLst/>
          </a:prstGeom>
          <a:solidFill>
            <a:srgbClr val="0167D5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408176"/>
            <a:ext cx="4678528" cy="29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A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me deja entrar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1775968"/>
            <a:ext cx="4678528" cy="80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Revisa la cédula sin puntos y el código tal cual te lo enviaron. Tras varios intentos fallidos el acceso se bloquea un rato por seguridad: espera 15 minutos.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24448" y="1207008"/>
            <a:ext cx="5227168" cy="1487424"/>
          </a:xfrm>
          <a:prstGeom prst="roundRect">
            <a:avLst>
              <a:gd name="adj" fmla="val 368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24448" y="1207008"/>
            <a:ext cx="64008" cy="1487424"/>
          </a:xfrm>
          <a:prstGeom prst="rect">
            <a:avLst/>
          </a:prstGeom>
          <a:solidFill>
            <a:srgbClr val="0167D5"/>
          </a:solidFill>
          <a:ln/>
        </p:spPr>
      </p:sp>
      <p:sp>
        <p:nvSpPr>
          <p:cNvPr id="13" name="Text 11"/>
          <p:cNvSpPr/>
          <p:nvPr/>
        </p:nvSpPr>
        <p:spPr>
          <a:xfrm>
            <a:off x="6598768" y="1408176"/>
            <a:ext cx="4678528" cy="29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A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 equivoqué de juguete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98768" y="1775968"/>
            <a:ext cx="4678528" cy="80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se puede cambiar por tu cuenta. Escríbele a Talento Humano lo antes posible.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2932176"/>
            <a:ext cx="5227168" cy="1487424"/>
          </a:xfrm>
          <a:prstGeom prst="roundRect">
            <a:avLst>
              <a:gd name="adj" fmla="val 368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2932176"/>
            <a:ext cx="64008" cy="1487424"/>
          </a:xfrm>
          <a:prstGeom prst="rect">
            <a:avLst/>
          </a:prstGeom>
          <a:solidFill>
            <a:srgbClr val="0167D5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133344"/>
            <a:ext cx="4678528" cy="29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A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agotó el que quería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3501136"/>
            <a:ext cx="4678528" cy="80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unidades son limitadas y se asignan en orden de confirmación. Elige otro de los disponibles.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24448" y="2932176"/>
            <a:ext cx="5227168" cy="1487424"/>
          </a:xfrm>
          <a:prstGeom prst="roundRect">
            <a:avLst>
              <a:gd name="adj" fmla="val 368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24448" y="2932176"/>
            <a:ext cx="64008" cy="1487424"/>
          </a:xfrm>
          <a:prstGeom prst="rect">
            <a:avLst/>
          </a:prstGeom>
          <a:solidFill>
            <a:srgbClr val="0167D5"/>
          </a:solidFill>
          <a:ln/>
        </p:spPr>
      </p:sp>
      <p:sp>
        <p:nvSpPr>
          <p:cNvPr id="21" name="Text 19"/>
          <p:cNvSpPr/>
          <p:nvPr/>
        </p:nvSpPr>
        <p:spPr>
          <a:xfrm>
            <a:off x="6598768" y="3133344"/>
            <a:ext cx="4678528" cy="29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A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aparece mi hijo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98768" y="3501136"/>
            <a:ext cx="4678528" cy="80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información la carga la empresa. Repórtalo a Talento Humano para que lo revisen.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4657344"/>
            <a:ext cx="5227168" cy="1487424"/>
          </a:xfrm>
          <a:prstGeom prst="roundRect">
            <a:avLst>
              <a:gd name="adj" fmla="val 368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4657344"/>
            <a:ext cx="64008" cy="1487424"/>
          </a:xfrm>
          <a:prstGeom prst="rect">
            <a:avLst/>
          </a:prstGeom>
          <a:solidFill>
            <a:srgbClr val="0167D5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858512"/>
            <a:ext cx="4678528" cy="29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A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Perdí mi código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14400" y="5226304"/>
            <a:ext cx="4678528" cy="80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Vuelve a entrar al portal con tu cédula y tu código SAP: el comprobante sigue ahí.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324448" y="4657344"/>
            <a:ext cx="5227168" cy="1487424"/>
          </a:xfrm>
          <a:prstGeom prst="roundRect">
            <a:avLst>
              <a:gd name="adj" fmla="val 368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24448" y="4657344"/>
            <a:ext cx="64008" cy="1487424"/>
          </a:xfrm>
          <a:prstGeom prst="rect">
            <a:avLst/>
          </a:prstGeom>
          <a:solidFill>
            <a:srgbClr val="0167D5"/>
          </a:solidFill>
          <a:ln/>
        </p:spPr>
      </p:sp>
      <p:sp>
        <p:nvSpPr>
          <p:cNvPr id="29" name="Text 27"/>
          <p:cNvSpPr/>
          <p:nvPr/>
        </p:nvSpPr>
        <p:spPr>
          <a:xfrm>
            <a:off x="6598768" y="4858512"/>
            <a:ext cx="4678528" cy="29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A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¿Puedo elegir desde el computador?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598768" y="5226304"/>
            <a:ext cx="4678528" cy="80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Sí. Funciona igual en computador, tableta o celular.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Kidotoy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Cómo elegir el regalo de tus hijos</dc:title>
  <dc:subject>Instructivo para colaboradores</dc:subject>
  <dc:creator>Sebastián Grajales</dc:creator>
  <cp:lastModifiedBy>Sebastián Grajales</cp:lastModifiedBy>
  <cp:revision>1</cp:revision>
  <dcterms:created xsi:type="dcterms:W3CDTF">2026-09-06T08:26:47Z</dcterms:created>
  <dcterms:modified xsi:type="dcterms:W3CDTF">2026-09-06T08:26:47Z</dcterms:modified>
</cp:coreProperties>
</file>