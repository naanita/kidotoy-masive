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Guía de capacitación para el personal de carpa. Se imprime y se deja en cada puesto.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más importante: que verifiquen que arriba diga su carpa. Si un operario trabaja con la carpa equivocada, los conteos del día no cuadran.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escáner es lo rápido, pero siempre hay un plan B. Buscar por cédula sirve cuando el papá llegó sin el comprobante.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 verifiquen SIEMPRE el nombre del niño en voz alta con el papá. Es el chequeo que evita entregar el juguete equivocado. El botón verde de marcar está más abajo en esa misma pantalla: ese es el paso 3, todavía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Verde es adelante. Y el orden importa: primero entregan el juguete, después marcan. Si marcan antes y la familia se va sin el regalo, el sistema dice que se entregó y nadie lo va a notar.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Rojo es alto. Puede ser que otro familiar ya pasó a reclamarlo, o un error. No es el operario quien lo resuelve: llama al coordinador y sigue atendiendo la fila.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 es a propósito. La familia ya está enfrente: si tenemos el juguete, se entrega. El sistema lo marca como fuera de carpa y el conteo se cuadra al cierre. La regla es no devolver a nadie a otra fila.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primer punto es el crítico: hoy el sistema NO funciona sin conexión. Si se cae la red, se entrega con el listado impreso y se registra después. Por eso cada carpa tiene su listado en papel.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A78"/>
        </a:solidFill>
      </p:bgPr>
    </p:bg>
    <p:spTree>
      <p:nvGrpSpPr>
        <p:cNvPr id="1" name=""/>
        <p:cNvGrpSpPr/>
        <p:nvPr/>
      </p:nvGrpSpPr>
      <p:grpSpPr>
        <a:xfrm>
          <a:off x="0" y="0"/>
          <a:ext cx="0" cy="0"/>
          <a:chOff x="0" y="0"/>
          <a:chExt cx="0" cy="0"/>
        </a:xfrm>
      </p:grpSpPr>
      <p:sp>
        <p:nvSpPr>
          <p:cNvPr id="2" name="Text 0"/>
          <p:cNvSpPr/>
          <p:nvPr/>
        </p:nvSpPr>
        <p:spPr>
          <a:xfrm>
            <a:off x="640080" y="1554480"/>
            <a:ext cx="10911535" cy="365760"/>
          </a:xfrm>
          <a:prstGeom prst="rect">
            <a:avLst/>
          </a:prstGeom>
          <a:noFill/>
          <a:ln/>
        </p:spPr>
        <p:txBody>
          <a:bodyPr wrap="square" lIns="0" tIns="0" rIns="0" bIns="0" rtlCol="0" anchor="t"/>
          <a:lstStyle/>
          <a:p>
            <a:pPr indent="0" marL="0">
              <a:buNone/>
            </a:pPr>
            <a:r>
              <a:rPr lang="en-US" sz="1500" b="1" spc="200" kern="0" dirty="0">
                <a:solidFill>
                  <a:srgbClr val="10B7CD"/>
                </a:solidFill>
                <a:latin typeface="Inter" pitchFamily="34" charset="0"/>
                <a:ea typeface="Inter" pitchFamily="34" charset="-122"/>
                <a:cs typeface="Inter" pitchFamily="34" charset="-120"/>
              </a:rPr>
              <a:t>KIDOTOY · JORNADA DE ENTREGA</a:t>
            </a:r>
            <a:endParaRPr lang="en-US" sz="1500" dirty="0"/>
          </a:p>
        </p:txBody>
      </p:sp>
      <p:sp>
        <p:nvSpPr>
          <p:cNvPr id="3" name="Text 1"/>
          <p:cNvSpPr/>
          <p:nvPr/>
        </p:nvSpPr>
        <p:spPr>
          <a:xfrm>
            <a:off x="640080" y="2011680"/>
            <a:ext cx="8716975" cy="1737360"/>
          </a:xfrm>
          <a:prstGeom prst="rect">
            <a:avLst/>
          </a:prstGeom>
          <a:noFill/>
          <a:ln/>
        </p:spPr>
        <p:txBody>
          <a:bodyPr wrap="square" lIns="0" tIns="0" rIns="0" bIns="0" rtlCol="0" anchor="t"/>
          <a:lstStyle/>
          <a:p>
            <a:pPr indent="0" marL="0">
              <a:lnSpc>
                <a:spcPts val="5000"/>
              </a:lnSpc>
              <a:buNone/>
            </a:pPr>
            <a:r>
              <a:rPr lang="en-US" sz="4400" b="1" dirty="0">
                <a:solidFill>
                  <a:srgbClr val="FFFFFF"/>
                </a:solidFill>
                <a:latin typeface="Montserrat" pitchFamily="34" charset="0"/>
                <a:ea typeface="Montserrat" pitchFamily="34" charset="-122"/>
                <a:cs typeface="Montserrat" pitchFamily="34" charset="-120"/>
              </a:rPr>
              <a:t>Guía de entrega</a:t>
            </a:r>
            <a:endParaRPr lang="en-US" sz="4400" dirty="0"/>
          </a:p>
        </p:txBody>
      </p:sp>
      <p:sp>
        <p:nvSpPr>
          <p:cNvPr id="4" name="Text 2"/>
          <p:cNvSpPr/>
          <p:nvPr/>
        </p:nvSpPr>
        <p:spPr>
          <a:xfrm>
            <a:off x="640080" y="3886200"/>
            <a:ext cx="8716975" cy="1005840"/>
          </a:xfrm>
          <a:prstGeom prst="rect">
            <a:avLst/>
          </a:prstGeom>
          <a:noFill/>
          <a:ln/>
        </p:spPr>
        <p:txBody>
          <a:bodyPr wrap="square" lIns="0" tIns="0" rIns="0" bIns="0" rtlCol="0" anchor="t"/>
          <a:lstStyle/>
          <a:p>
            <a:pPr indent="0" marL="0">
              <a:lnSpc>
                <a:spcPts val="3000"/>
              </a:lnSpc>
              <a:buNone/>
            </a:pPr>
            <a:r>
              <a:rPr lang="en-US" sz="1800" dirty="0">
                <a:solidFill>
                  <a:srgbClr val="C8D8F0"/>
                </a:solidFill>
                <a:latin typeface="Inter" pitchFamily="34" charset="0"/>
                <a:ea typeface="Inter" pitchFamily="34" charset="-122"/>
                <a:cs typeface="Inter" pitchFamily="34" charset="-120"/>
              </a:rPr>
              <a:t>Viernes 12 de diciembre · Parque Jaime Duque</a:t>
            </a:r>
            <a:endParaRPr lang="en-US" sz="1800" dirty="0"/>
          </a:p>
          <a:p>
            <a:pPr indent="0" marL="0">
              <a:lnSpc>
                <a:spcPts val="3000"/>
              </a:lnSpc>
              <a:buNone/>
            </a:pPr>
            <a:r>
              <a:rPr lang="en-US" sz="1800" dirty="0">
                <a:solidFill>
                  <a:srgbClr val="C8D8F0"/>
                </a:solidFill>
                <a:latin typeface="Inter" pitchFamily="34" charset="0"/>
                <a:ea typeface="Inter" pitchFamily="34" charset="-122"/>
                <a:cs typeface="Inter" pitchFamily="34" charset="-120"/>
              </a:rPr>
              <a:t>Léela una vez antes de empezar. Tenla a la mano.</a:t>
            </a:r>
            <a:endParaRPr lang="en-US" sz="1800" dirty="0"/>
          </a:p>
        </p:txBody>
      </p:sp>
      <p:sp>
        <p:nvSpPr>
          <p:cNvPr id="5" name="Text 3"/>
          <p:cNvSpPr/>
          <p:nvPr/>
        </p:nvSpPr>
        <p:spPr>
          <a:xfrm>
            <a:off x="640080" y="5715000"/>
            <a:ext cx="10911535" cy="365760"/>
          </a:xfrm>
          <a:prstGeom prst="rect">
            <a:avLst/>
          </a:prstGeom>
          <a:noFill/>
          <a:ln/>
        </p:spPr>
        <p:txBody>
          <a:bodyPr wrap="square" lIns="0" tIns="0" rIns="0" bIns="0" rtlCol="0" anchor="t"/>
          <a:lstStyle/>
          <a:p>
            <a:pPr indent="0" marL="0">
              <a:buNone/>
            </a:pPr>
            <a:r>
              <a:rPr lang="en-US" sz="1300" dirty="0">
                <a:solidFill>
                  <a:srgbClr val="AFC4E0"/>
                </a:solidFill>
                <a:latin typeface="Inter" pitchFamily="34" charset="0"/>
                <a:ea typeface="Inter" pitchFamily="34" charset="-122"/>
                <a:cs typeface="Inter" pitchFamily="34" charset="-120"/>
              </a:rPr>
              <a:t>Personal de carpa</a:t>
            </a:r>
            <a:endParaRPr lang="en-US" sz="1300" dirty="0"/>
          </a:p>
        </p:txBody>
      </p:sp>
      <p:sp>
        <p:nvSpPr>
          <p:cNvPr id="6" name="Shape 4"/>
          <p:cNvSpPr/>
          <p:nvPr/>
        </p:nvSpPr>
        <p:spPr>
          <a:xfrm>
            <a:off x="0" y="6711696"/>
            <a:ext cx="3066212" cy="146304"/>
          </a:xfrm>
          <a:prstGeom prst="rect">
            <a:avLst/>
          </a:prstGeom>
          <a:solidFill>
            <a:srgbClr val="10B7CD"/>
          </a:solidFill>
          <a:ln/>
        </p:spPr>
      </p:sp>
      <p:sp>
        <p:nvSpPr>
          <p:cNvPr id="7" name="Shape 5"/>
          <p:cNvSpPr/>
          <p:nvPr/>
        </p:nvSpPr>
        <p:spPr>
          <a:xfrm>
            <a:off x="3047924" y="6711696"/>
            <a:ext cx="3066212" cy="146304"/>
          </a:xfrm>
          <a:prstGeom prst="rect">
            <a:avLst/>
          </a:prstGeom>
          <a:solidFill>
            <a:srgbClr val="E84141"/>
          </a:solidFill>
          <a:ln/>
        </p:spPr>
      </p:sp>
      <p:sp>
        <p:nvSpPr>
          <p:cNvPr id="8" name="Shape 6"/>
          <p:cNvSpPr/>
          <p:nvPr/>
        </p:nvSpPr>
        <p:spPr>
          <a:xfrm>
            <a:off x="6095848" y="6711696"/>
            <a:ext cx="3066212" cy="146304"/>
          </a:xfrm>
          <a:prstGeom prst="rect">
            <a:avLst/>
          </a:prstGeom>
          <a:solidFill>
            <a:srgbClr val="F8AB11"/>
          </a:solidFill>
          <a:ln/>
        </p:spPr>
      </p:sp>
      <p:sp>
        <p:nvSpPr>
          <p:cNvPr id="9" name="Shape 7"/>
          <p:cNvSpPr/>
          <p:nvPr/>
        </p:nvSpPr>
        <p:spPr>
          <a:xfrm>
            <a:off x="9143771" y="6711696"/>
            <a:ext cx="3047924" cy="146304"/>
          </a:xfrm>
          <a:prstGeom prst="rect">
            <a:avLst/>
          </a:prstGeom>
          <a:solidFill>
            <a:srgbClr val="8974B3"/>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BFB"/>
        </a:solidFill>
      </p:bgPr>
    </p:bg>
    <p:spTree>
      <p:nvGrpSpPr>
        <p:cNvPr id="1" name=""/>
        <p:cNvGrpSpPr/>
        <p:nvPr/>
      </p:nvGrpSpPr>
      <p:grpSpPr>
        <a:xfrm>
          <a:off x="0" y="0"/>
          <a:ext cx="0" cy="0"/>
          <a:chOff x="0" y="0"/>
          <a:chExt cx="0" cy="0"/>
        </a:xfrm>
      </p:grpSpPr>
      <p:sp>
        <p:nvSpPr>
          <p:cNvPr id="2" name="Text 0"/>
          <p:cNvSpPr/>
          <p:nvPr/>
        </p:nvSpPr>
        <p:spPr>
          <a:xfrm>
            <a:off x="640080" y="384048"/>
            <a:ext cx="10911535" cy="658368"/>
          </a:xfrm>
          <a:prstGeom prst="rect">
            <a:avLst/>
          </a:prstGeom>
          <a:noFill/>
          <a:ln/>
        </p:spPr>
        <p:txBody>
          <a:bodyPr wrap="square" lIns="0" tIns="0" rIns="0" bIns="0" rtlCol="0" anchor="t"/>
          <a:lstStyle/>
          <a:p>
            <a:pPr indent="0" marL="0">
              <a:buNone/>
            </a:pPr>
            <a:r>
              <a:rPr lang="en-US" sz="3000" b="1" dirty="0">
                <a:solidFill>
                  <a:srgbClr val="0B3A78"/>
                </a:solidFill>
                <a:latin typeface="Montserrat" pitchFamily="34" charset="0"/>
                <a:ea typeface="Montserrat" pitchFamily="34" charset="-122"/>
                <a:cs typeface="Montserrat" pitchFamily="34" charset="-120"/>
              </a:rPr>
              <a:t>Antes de empezar</a:t>
            </a:r>
            <a:endParaRPr lang="en-US" sz="3000" dirty="0"/>
          </a:p>
        </p:txBody>
      </p:sp>
      <p:sp>
        <p:nvSpPr>
          <p:cNvPr id="3" name="Text 1"/>
          <p:cNvSpPr/>
          <p:nvPr/>
        </p:nvSpPr>
        <p:spPr>
          <a:xfrm>
            <a:off x="640080" y="1024128"/>
            <a:ext cx="10911535" cy="384048"/>
          </a:xfrm>
          <a:prstGeom prst="rect">
            <a:avLst/>
          </a:prstGeom>
          <a:noFill/>
          <a:ln/>
        </p:spPr>
        <p:txBody>
          <a:bodyPr wrap="square" lIns="0" tIns="0" rIns="0" bIns="0" rtlCol="0" anchor="t"/>
          <a:lstStyle/>
          <a:p>
            <a:pPr indent="0" marL="0">
              <a:buNone/>
            </a:pPr>
            <a:r>
              <a:rPr lang="en-US" sz="1500" dirty="0">
                <a:solidFill>
                  <a:srgbClr val="5A6472"/>
                </a:solidFill>
                <a:latin typeface="Inter" pitchFamily="34" charset="0"/>
                <a:ea typeface="Inter" pitchFamily="34" charset="-122"/>
                <a:cs typeface="Inter" pitchFamily="34" charset="-120"/>
              </a:rPr>
              <a:t>Dos minutos, una sola vez</a:t>
            </a:r>
            <a:endParaRPr lang="en-US" sz="1500" dirty="0"/>
          </a:p>
        </p:txBody>
      </p:sp>
      <p:sp>
        <p:nvSpPr>
          <p:cNvPr id="4" name="Shape 2"/>
          <p:cNvSpPr/>
          <p:nvPr/>
        </p:nvSpPr>
        <p:spPr>
          <a:xfrm>
            <a:off x="0" y="6711696"/>
            <a:ext cx="3066212" cy="146304"/>
          </a:xfrm>
          <a:prstGeom prst="rect">
            <a:avLst/>
          </a:prstGeom>
          <a:solidFill>
            <a:srgbClr val="10B7CD"/>
          </a:solidFill>
          <a:ln/>
        </p:spPr>
      </p:sp>
      <p:sp>
        <p:nvSpPr>
          <p:cNvPr id="5" name="Shape 3"/>
          <p:cNvSpPr/>
          <p:nvPr/>
        </p:nvSpPr>
        <p:spPr>
          <a:xfrm>
            <a:off x="3047924" y="6711696"/>
            <a:ext cx="3066212" cy="146304"/>
          </a:xfrm>
          <a:prstGeom prst="rect">
            <a:avLst/>
          </a:prstGeom>
          <a:solidFill>
            <a:srgbClr val="E84141"/>
          </a:solidFill>
          <a:ln/>
        </p:spPr>
      </p:sp>
      <p:sp>
        <p:nvSpPr>
          <p:cNvPr id="6" name="Shape 4"/>
          <p:cNvSpPr/>
          <p:nvPr/>
        </p:nvSpPr>
        <p:spPr>
          <a:xfrm>
            <a:off x="6095848" y="6711696"/>
            <a:ext cx="3066212" cy="146304"/>
          </a:xfrm>
          <a:prstGeom prst="rect">
            <a:avLst/>
          </a:prstGeom>
          <a:solidFill>
            <a:srgbClr val="F8AB11"/>
          </a:solidFill>
          <a:ln/>
        </p:spPr>
      </p:sp>
      <p:sp>
        <p:nvSpPr>
          <p:cNvPr id="7" name="Shape 5"/>
          <p:cNvSpPr/>
          <p:nvPr/>
        </p:nvSpPr>
        <p:spPr>
          <a:xfrm>
            <a:off x="9143771" y="6711696"/>
            <a:ext cx="3047924" cy="146304"/>
          </a:xfrm>
          <a:prstGeom prst="rect">
            <a:avLst/>
          </a:prstGeom>
          <a:solidFill>
            <a:srgbClr val="8974B3"/>
          </a:solidFill>
          <a:ln/>
        </p:spPr>
      </p:sp>
      <p:sp>
        <p:nvSpPr>
          <p:cNvPr id="8" name="Shape 6"/>
          <p:cNvSpPr/>
          <p:nvPr/>
        </p:nvSpPr>
        <p:spPr>
          <a:xfrm>
            <a:off x="640080" y="2365248"/>
            <a:ext cx="5227168" cy="1356360"/>
          </a:xfrm>
          <a:prstGeom prst="roundRect">
            <a:avLst>
              <a:gd name="adj" fmla="val 4045"/>
            </a:avLst>
          </a:prstGeom>
          <a:solidFill>
            <a:srgbClr val="FFFFFF"/>
          </a:solidFill>
          <a:ln w="12700">
            <a:solidFill>
              <a:srgbClr val="D9E2EC"/>
            </a:solidFill>
            <a:prstDash val="solid"/>
          </a:ln>
        </p:spPr>
      </p:sp>
      <p:sp>
        <p:nvSpPr>
          <p:cNvPr id="9" name="Shape 7"/>
          <p:cNvSpPr/>
          <p:nvPr/>
        </p:nvSpPr>
        <p:spPr>
          <a:xfrm>
            <a:off x="640080" y="2365248"/>
            <a:ext cx="64008" cy="1356360"/>
          </a:xfrm>
          <a:prstGeom prst="rect">
            <a:avLst/>
          </a:prstGeom>
          <a:solidFill>
            <a:srgbClr val="0167D5"/>
          </a:solidFill>
          <a:ln/>
        </p:spPr>
      </p:sp>
      <p:sp>
        <p:nvSpPr>
          <p:cNvPr id="10" name="Text 8"/>
          <p:cNvSpPr/>
          <p:nvPr/>
        </p:nvSpPr>
        <p:spPr>
          <a:xfrm>
            <a:off x="914400" y="2566416"/>
            <a:ext cx="4678528" cy="294640"/>
          </a:xfrm>
          <a:prstGeom prst="rect">
            <a:avLst/>
          </a:prstGeom>
          <a:noFill/>
          <a:ln/>
        </p:spPr>
        <p:txBody>
          <a:bodyPr wrap="square" lIns="0" tIns="0" rIns="0" bIns="0" rtlCol="0" anchor="t"/>
          <a:lstStyle/>
          <a:p>
            <a:pPr indent="0" marL="0">
              <a:buNone/>
            </a:pPr>
            <a:r>
              <a:rPr lang="en-US" sz="1600" b="1" dirty="0">
                <a:solidFill>
                  <a:srgbClr val="0B3A78"/>
                </a:solidFill>
                <a:latin typeface="Montserrat" pitchFamily="34" charset="0"/>
                <a:ea typeface="Montserrat" pitchFamily="34" charset="-122"/>
                <a:cs typeface="Montserrat" pitchFamily="34" charset="-120"/>
              </a:rPr>
              <a:t>Entra con tu correo</a:t>
            </a:r>
            <a:endParaRPr lang="en-US" sz="1600" dirty="0"/>
          </a:p>
        </p:txBody>
      </p:sp>
      <p:sp>
        <p:nvSpPr>
          <p:cNvPr id="11" name="Text 9"/>
          <p:cNvSpPr/>
          <p:nvPr/>
        </p:nvSpPr>
        <p:spPr>
          <a:xfrm>
            <a:off x="914400" y="2934208"/>
            <a:ext cx="4678528" cy="677672"/>
          </a:xfrm>
          <a:prstGeom prst="rect">
            <a:avLst/>
          </a:prstGeom>
          <a:noFill/>
          <a:ln/>
        </p:spPr>
        <p:txBody>
          <a:bodyPr wrap="square" lIns="0" tIns="0" rIns="0" bIns="0" rtlCol="0" anchor="t"/>
          <a:lstStyle/>
          <a:p>
            <a:pPr indent="0" marL="0">
              <a:lnSpc>
                <a:spcPts val="1800"/>
              </a:lnSpc>
              <a:buNone/>
            </a:pPr>
            <a:r>
              <a:rPr lang="en-US" sz="1300" dirty="0">
                <a:solidFill>
                  <a:srgbClr val="5A6472"/>
                </a:solidFill>
                <a:latin typeface="Inter" pitchFamily="34" charset="0"/>
                <a:ea typeface="Inter" pitchFamily="34" charset="-122"/>
                <a:cs typeface="Inter" pitchFamily="34" charset="-120"/>
              </a:rPr>
              <a:t>El que te dio Kidotoy, con tu contraseña. No compartas la sesión.</a:t>
            </a:r>
            <a:endParaRPr lang="en-US" sz="1300" dirty="0"/>
          </a:p>
        </p:txBody>
      </p:sp>
      <p:sp>
        <p:nvSpPr>
          <p:cNvPr id="12" name="Shape 10"/>
          <p:cNvSpPr/>
          <p:nvPr/>
        </p:nvSpPr>
        <p:spPr>
          <a:xfrm>
            <a:off x="6324448" y="2365248"/>
            <a:ext cx="5227168" cy="1356360"/>
          </a:xfrm>
          <a:prstGeom prst="roundRect">
            <a:avLst>
              <a:gd name="adj" fmla="val 4045"/>
            </a:avLst>
          </a:prstGeom>
          <a:solidFill>
            <a:srgbClr val="FFFFFF"/>
          </a:solidFill>
          <a:ln w="12700">
            <a:solidFill>
              <a:srgbClr val="D9E2EC"/>
            </a:solidFill>
            <a:prstDash val="solid"/>
          </a:ln>
        </p:spPr>
      </p:sp>
      <p:sp>
        <p:nvSpPr>
          <p:cNvPr id="13" name="Shape 11"/>
          <p:cNvSpPr/>
          <p:nvPr/>
        </p:nvSpPr>
        <p:spPr>
          <a:xfrm>
            <a:off x="6324448" y="2365248"/>
            <a:ext cx="64008" cy="1356360"/>
          </a:xfrm>
          <a:prstGeom prst="rect">
            <a:avLst/>
          </a:prstGeom>
          <a:solidFill>
            <a:srgbClr val="0167D5"/>
          </a:solidFill>
          <a:ln/>
        </p:spPr>
      </p:sp>
      <p:sp>
        <p:nvSpPr>
          <p:cNvPr id="14" name="Text 12"/>
          <p:cNvSpPr/>
          <p:nvPr/>
        </p:nvSpPr>
        <p:spPr>
          <a:xfrm>
            <a:off x="6598768" y="2566416"/>
            <a:ext cx="4678528" cy="294640"/>
          </a:xfrm>
          <a:prstGeom prst="rect">
            <a:avLst/>
          </a:prstGeom>
          <a:noFill/>
          <a:ln/>
        </p:spPr>
        <p:txBody>
          <a:bodyPr wrap="square" lIns="0" tIns="0" rIns="0" bIns="0" rtlCol="0" anchor="t"/>
          <a:lstStyle/>
          <a:p>
            <a:pPr indent="0" marL="0">
              <a:buNone/>
            </a:pPr>
            <a:r>
              <a:rPr lang="en-US" sz="1600" b="1" dirty="0">
                <a:solidFill>
                  <a:srgbClr val="0B3A78"/>
                </a:solidFill>
                <a:latin typeface="Montserrat" pitchFamily="34" charset="0"/>
                <a:ea typeface="Montserrat" pitchFamily="34" charset="-122"/>
                <a:cs typeface="Montserrat" pitchFamily="34" charset="-120"/>
              </a:rPr>
              <a:t>Verifica tu carpa</a:t>
            </a:r>
            <a:endParaRPr lang="en-US" sz="1600" dirty="0"/>
          </a:p>
        </p:txBody>
      </p:sp>
      <p:sp>
        <p:nvSpPr>
          <p:cNvPr id="15" name="Text 13"/>
          <p:cNvSpPr/>
          <p:nvPr/>
        </p:nvSpPr>
        <p:spPr>
          <a:xfrm>
            <a:off x="6598768" y="2934208"/>
            <a:ext cx="4678528" cy="677672"/>
          </a:xfrm>
          <a:prstGeom prst="rect">
            <a:avLst/>
          </a:prstGeom>
          <a:noFill/>
          <a:ln/>
        </p:spPr>
        <p:txBody>
          <a:bodyPr wrap="square" lIns="0" tIns="0" rIns="0" bIns="0" rtlCol="0" anchor="t"/>
          <a:lstStyle/>
          <a:p>
            <a:pPr indent="0" marL="0">
              <a:lnSpc>
                <a:spcPts val="1800"/>
              </a:lnSpc>
              <a:buNone/>
            </a:pPr>
            <a:r>
              <a:rPr lang="en-US" sz="1300" dirty="0">
                <a:solidFill>
                  <a:srgbClr val="5A6472"/>
                </a:solidFill>
                <a:latin typeface="Inter" pitchFamily="34" charset="0"/>
                <a:ea typeface="Inter" pitchFamily="34" charset="-122"/>
                <a:cs typeface="Inter" pitchFamily="34" charset="-120"/>
              </a:rPr>
              <a:t>Arriba en azul debe decir el nombre de TU carpa. Si dice otra, avisa antes de empezar.</a:t>
            </a:r>
            <a:endParaRPr lang="en-US" sz="1300" dirty="0"/>
          </a:p>
        </p:txBody>
      </p:sp>
      <p:sp>
        <p:nvSpPr>
          <p:cNvPr id="16" name="Shape 14"/>
          <p:cNvSpPr/>
          <p:nvPr/>
        </p:nvSpPr>
        <p:spPr>
          <a:xfrm>
            <a:off x="640080" y="3959352"/>
            <a:ext cx="5227168" cy="1356360"/>
          </a:xfrm>
          <a:prstGeom prst="roundRect">
            <a:avLst>
              <a:gd name="adj" fmla="val 4045"/>
            </a:avLst>
          </a:prstGeom>
          <a:solidFill>
            <a:srgbClr val="FFFFFF"/>
          </a:solidFill>
          <a:ln w="12700">
            <a:solidFill>
              <a:srgbClr val="D9E2EC"/>
            </a:solidFill>
            <a:prstDash val="solid"/>
          </a:ln>
        </p:spPr>
      </p:sp>
      <p:sp>
        <p:nvSpPr>
          <p:cNvPr id="17" name="Shape 15"/>
          <p:cNvSpPr/>
          <p:nvPr/>
        </p:nvSpPr>
        <p:spPr>
          <a:xfrm>
            <a:off x="640080" y="3959352"/>
            <a:ext cx="64008" cy="1356360"/>
          </a:xfrm>
          <a:prstGeom prst="rect">
            <a:avLst/>
          </a:prstGeom>
          <a:solidFill>
            <a:srgbClr val="0167D5"/>
          </a:solidFill>
          <a:ln/>
        </p:spPr>
      </p:sp>
      <p:sp>
        <p:nvSpPr>
          <p:cNvPr id="18" name="Text 16"/>
          <p:cNvSpPr/>
          <p:nvPr/>
        </p:nvSpPr>
        <p:spPr>
          <a:xfrm>
            <a:off x="914400" y="4160520"/>
            <a:ext cx="4678528" cy="294640"/>
          </a:xfrm>
          <a:prstGeom prst="rect">
            <a:avLst/>
          </a:prstGeom>
          <a:noFill/>
          <a:ln/>
        </p:spPr>
        <p:txBody>
          <a:bodyPr wrap="square" lIns="0" tIns="0" rIns="0" bIns="0" rtlCol="0" anchor="t"/>
          <a:lstStyle/>
          <a:p>
            <a:pPr indent="0" marL="0">
              <a:buNone/>
            </a:pPr>
            <a:r>
              <a:rPr lang="en-US" sz="1600" b="1" dirty="0">
                <a:solidFill>
                  <a:srgbClr val="0B3A78"/>
                </a:solidFill>
                <a:latin typeface="Montserrat" pitchFamily="34" charset="0"/>
                <a:ea typeface="Montserrat" pitchFamily="34" charset="-122"/>
                <a:cs typeface="Montserrat" pitchFamily="34" charset="-120"/>
              </a:rPr>
              <a:t>Deja la sesión abierta</a:t>
            </a:r>
            <a:endParaRPr lang="en-US" sz="1600" dirty="0"/>
          </a:p>
        </p:txBody>
      </p:sp>
      <p:sp>
        <p:nvSpPr>
          <p:cNvPr id="19" name="Text 17"/>
          <p:cNvSpPr/>
          <p:nvPr/>
        </p:nvSpPr>
        <p:spPr>
          <a:xfrm>
            <a:off x="914400" y="4528312"/>
            <a:ext cx="4678528" cy="677672"/>
          </a:xfrm>
          <a:prstGeom prst="rect">
            <a:avLst/>
          </a:prstGeom>
          <a:noFill/>
          <a:ln/>
        </p:spPr>
        <p:txBody>
          <a:bodyPr wrap="square" lIns="0" tIns="0" rIns="0" bIns="0" rtlCol="0" anchor="t"/>
          <a:lstStyle/>
          <a:p>
            <a:pPr indent="0" marL="0">
              <a:lnSpc>
                <a:spcPts val="1800"/>
              </a:lnSpc>
              <a:buNone/>
            </a:pPr>
            <a:r>
              <a:rPr lang="en-US" sz="1300" dirty="0">
                <a:solidFill>
                  <a:srgbClr val="5A6472"/>
                </a:solidFill>
                <a:latin typeface="Inter" pitchFamily="34" charset="0"/>
                <a:ea typeface="Inter" pitchFamily="34" charset="-122"/>
                <a:cs typeface="Inter" pitchFamily="34" charset="-120"/>
              </a:rPr>
              <a:t>No cierres sesión entre familia y familia. Solo toca «Nueva búsqueda».</a:t>
            </a:r>
            <a:endParaRPr lang="en-US" sz="1300" dirty="0"/>
          </a:p>
        </p:txBody>
      </p:sp>
      <p:sp>
        <p:nvSpPr>
          <p:cNvPr id="20" name="Shape 18"/>
          <p:cNvSpPr/>
          <p:nvPr/>
        </p:nvSpPr>
        <p:spPr>
          <a:xfrm>
            <a:off x="6324448" y="3959352"/>
            <a:ext cx="5227168" cy="1356360"/>
          </a:xfrm>
          <a:prstGeom prst="roundRect">
            <a:avLst>
              <a:gd name="adj" fmla="val 4045"/>
            </a:avLst>
          </a:prstGeom>
          <a:solidFill>
            <a:srgbClr val="FFFFFF"/>
          </a:solidFill>
          <a:ln w="12700">
            <a:solidFill>
              <a:srgbClr val="D9E2EC"/>
            </a:solidFill>
            <a:prstDash val="solid"/>
          </a:ln>
        </p:spPr>
      </p:sp>
      <p:sp>
        <p:nvSpPr>
          <p:cNvPr id="21" name="Shape 19"/>
          <p:cNvSpPr/>
          <p:nvPr/>
        </p:nvSpPr>
        <p:spPr>
          <a:xfrm>
            <a:off x="6324448" y="3959352"/>
            <a:ext cx="64008" cy="1356360"/>
          </a:xfrm>
          <a:prstGeom prst="rect">
            <a:avLst/>
          </a:prstGeom>
          <a:solidFill>
            <a:srgbClr val="0167D5"/>
          </a:solidFill>
          <a:ln/>
        </p:spPr>
      </p:sp>
      <p:sp>
        <p:nvSpPr>
          <p:cNvPr id="22" name="Text 20"/>
          <p:cNvSpPr/>
          <p:nvPr/>
        </p:nvSpPr>
        <p:spPr>
          <a:xfrm>
            <a:off x="6598768" y="4160520"/>
            <a:ext cx="4678528" cy="294640"/>
          </a:xfrm>
          <a:prstGeom prst="rect">
            <a:avLst/>
          </a:prstGeom>
          <a:noFill/>
          <a:ln/>
        </p:spPr>
        <p:txBody>
          <a:bodyPr wrap="square" lIns="0" tIns="0" rIns="0" bIns="0" rtlCol="0" anchor="t"/>
          <a:lstStyle/>
          <a:p>
            <a:pPr indent="0" marL="0">
              <a:buNone/>
            </a:pPr>
            <a:r>
              <a:rPr lang="en-US" sz="1600" b="1" dirty="0">
                <a:solidFill>
                  <a:srgbClr val="0B3A78"/>
                </a:solidFill>
                <a:latin typeface="Montserrat" pitchFamily="34" charset="0"/>
                <a:ea typeface="Montserrat" pitchFamily="34" charset="-122"/>
                <a:cs typeface="Montserrat" pitchFamily="34" charset="-120"/>
              </a:rPr>
              <a:t>Batería y datos</a:t>
            </a:r>
            <a:endParaRPr lang="en-US" sz="1600" dirty="0"/>
          </a:p>
        </p:txBody>
      </p:sp>
      <p:sp>
        <p:nvSpPr>
          <p:cNvPr id="23" name="Text 21"/>
          <p:cNvSpPr/>
          <p:nvPr/>
        </p:nvSpPr>
        <p:spPr>
          <a:xfrm>
            <a:off x="6598768" y="4528312"/>
            <a:ext cx="4678528" cy="677672"/>
          </a:xfrm>
          <a:prstGeom prst="rect">
            <a:avLst/>
          </a:prstGeom>
          <a:noFill/>
          <a:ln/>
        </p:spPr>
        <p:txBody>
          <a:bodyPr wrap="square" lIns="0" tIns="0" rIns="0" bIns="0" rtlCol="0" anchor="t"/>
          <a:lstStyle/>
          <a:p>
            <a:pPr indent="0" marL="0">
              <a:lnSpc>
                <a:spcPts val="1800"/>
              </a:lnSpc>
              <a:buNone/>
            </a:pPr>
            <a:r>
              <a:rPr lang="en-US" sz="1300" dirty="0">
                <a:solidFill>
                  <a:srgbClr val="5A6472"/>
                </a:solidFill>
                <a:latin typeface="Inter" pitchFamily="34" charset="0"/>
                <a:ea typeface="Inter" pitchFamily="34" charset="-122"/>
                <a:cs typeface="Inter" pitchFamily="34" charset="-120"/>
              </a:rPr>
              <a:t>Empieza con el equipo cargado. Necesitas conexión para registrar.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BFB"/>
        </a:solidFill>
      </p:bgPr>
    </p:bg>
    <p:spTree>
      <p:nvGrpSpPr>
        <p:cNvPr id="1" name=""/>
        <p:cNvGrpSpPr/>
        <p:nvPr/>
      </p:nvGrpSpPr>
      <p:grpSpPr>
        <a:xfrm>
          <a:off x="0" y="0"/>
          <a:ext cx="0" cy="0"/>
          <a:chOff x="0" y="0"/>
          <a:chExt cx="0" cy="0"/>
        </a:xfrm>
      </p:grpSpPr>
      <p:sp>
        <p:nvSpPr>
          <p:cNvPr id="2" name="Shape 0"/>
          <p:cNvSpPr/>
          <p:nvPr/>
        </p:nvSpPr>
        <p:spPr>
          <a:xfrm>
            <a:off x="640080" y="457200"/>
            <a:ext cx="1481328" cy="384048"/>
          </a:xfrm>
          <a:prstGeom prst="roundRect">
            <a:avLst>
              <a:gd name="adj" fmla="val 50000"/>
            </a:avLst>
          </a:prstGeom>
          <a:solidFill>
            <a:srgbClr val="0167D5"/>
          </a:solidFill>
          <a:ln/>
        </p:spPr>
      </p:sp>
      <p:sp>
        <p:nvSpPr>
          <p:cNvPr id="3" name="Text 1"/>
          <p:cNvSpPr/>
          <p:nvPr/>
        </p:nvSpPr>
        <p:spPr>
          <a:xfrm>
            <a:off x="640080" y="457200"/>
            <a:ext cx="1481328" cy="384048"/>
          </a:xfrm>
          <a:prstGeom prst="rect">
            <a:avLst/>
          </a:prstGeom>
          <a:noFill/>
          <a:ln/>
        </p:spPr>
        <p:txBody>
          <a:bodyPr wrap="square" lIns="0" tIns="0" rIns="0" bIns="0" rtlCol="0" anchor="ctr"/>
          <a:lstStyle/>
          <a:p>
            <a:pPr algn="ctr" indent="0" marL="0">
              <a:buNone/>
            </a:pPr>
            <a:r>
              <a:rPr lang="en-US" sz="1400" b="1" spc="100" kern="0" dirty="0">
                <a:solidFill>
                  <a:srgbClr val="FFFFFF"/>
                </a:solidFill>
                <a:latin typeface="Montserrat" pitchFamily="34" charset="0"/>
                <a:ea typeface="Montserrat" pitchFamily="34" charset="-122"/>
                <a:cs typeface="Montserrat" pitchFamily="34" charset="-120"/>
              </a:rPr>
              <a:t>PASO 1</a:t>
            </a:r>
            <a:endParaRPr lang="en-US" sz="1400" dirty="0"/>
          </a:p>
        </p:txBody>
      </p:sp>
      <p:sp>
        <p:nvSpPr>
          <p:cNvPr id="4" name="Text 2"/>
          <p:cNvSpPr/>
          <p:nvPr/>
        </p:nvSpPr>
        <p:spPr>
          <a:xfrm>
            <a:off x="640080" y="969264"/>
            <a:ext cx="6796735" cy="475488"/>
          </a:xfrm>
          <a:prstGeom prst="rect">
            <a:avLst/>
          </a:prstGeom>
          <a:noFill/>
          <a:ln/>
        </p:spPr>
        <p:txBody>
          <a:bodyPr wrap="square" lIns="0" tIns="0" rIns="0" bIns="0" rtlCol="0" anchor="t"/>
          <a:lstStyle/>
          <a:p>
            <a:pPr indent="0" marL="0">
              <a:buNone/>
            </a:pPr>
            <a:r>
              <a:rPr lang="en-US" sz="3000" b="1" dirty="0">
                <a:solidFill>
                  <a:srgbClr val="0B3A78"/>
                </a:solidFill>
                <a:latin typeface="Montserrat" pitchFamily="34" charset="0"/>
                <a:ea typeface="Montserrat" pitchFamily="34" charset="-122"/>
                <a:cs typeface="Montserrat" pitchFamily="34" charset="-120"/>
              </a:rPr>
              <a:t>Escanea o busca</a:t>
            </a:r>
            <a:endParaRPr lang="en-US" sz="3000" dirty="0"/>
          </a:p>
        </p:txBody>
      </p:sp>
      <p:sp>
        <p:nvSpPr>
          <p:cNvPr id="5" name="Text 3"/>
          <p:cNvSpPr/>
          <p:nvPr/>
        </p:nvSpPr>
        <p:spPr>
          <a:xfrm>
            <a:off x="640080" y="1828800"/>
            <a:ext cx="6796735" cy="1645920"/>
          </a:xfrm>
          <a:prstGeom prst="rect">
            <a:avLst/>
          </a:prstGeom>
          <a:noFill/>
          <a:ln/>
        </p:spPr>
        <p:txBody>
          <a:bodyPr wrap="square" lIns="0" tIns="0" rIns="0" bIns="0" rtlCol="0" anchor="t"/>
          <a:lstStyle/>
          <a:p>
            <a:pPr indent="0" marL="0">
              <a:lnSpc>
                <a:spcPts val="2800"/>
              </a:lnSpc>
              <a:buNone/>
            </a:pPr>
            <a:r>
              <a:rPr lang="en-US" sz="1700" dirty="0">
                <a:solidFill>
                  <a:srgbClr val="333333"/>
                </a:solidFill>
                <a:latin typeface="Inter" pitchFamily="34" charset="0"/>
                <a:ea typeface="Inter" pitchFamily="34" charset="-122"/>
                <a:cs typeface="Inter" pitchFamily="34" charset="-120"/>
              </a:rPr>
              <a:t>Toca «Escanear QR» y apunta al comprobante del papá.</a:t>
            </a:r>
            <a:endParaRPr lang="en-US" sz="1700" dirty="0"/>
          </a:p>
          <a:p>
            <a:pPr indent="0" marL="0">
              <a:lnSpc>
                <a:spcPts val="2800"/>
              </a:lnSpc>
              <a:buNone/>
            </a:pPr>
            <a:endParaRPr lang="en-US" sz="1700" dirty="0"/>
          </a:p>
          <a:p>
            <a:pPr indent="0" marL="0">
              <a:lnSpc>
                <a:spcPts val="2800"/>
              </a:lnSpc>
              <a:buNone/>
            </a:pPr>
            <a:r>
              <a:rPr lang="en-US" sz="1700" dirty="0">
                <a:solidFill>
                  <a:srgbClr val="333333"/>
                </a:solidFill>
                <a:latin typeface="Inter" pitchFamily="34" charset="0"/>
                <a:ea typeface="Inter" pitchFamily="34" charset="-122"/>
                <a:cs typeface="Inter" pitchFamily="34" charset="-120"/>
              </a:rPr>
              <a:t>Si el QR no lee —pantalla rota, poca luz, papel arrugado— escribe abajo el código de entrega o la cédula del papá y toca «Buscar».</a:t>
            </a:r>
            <a:endParaRPr lang="en-US" sz="1700" dirty="0"/>
          </a:p>
        </p:txBody>
      </p:sp>
      <p:sp>
        <p:nvSpPr>
          <p:cNvPr id="6" name="Shape 4"/>
          <p:cNvSpPr/>
          <p:nvPr/>
        </p:nvSpPr>
        <p:spPr>
          <a:xfrm>
            <a:off x="8986225" y="484632"/>
            <a:ext cx="2629398" cy="5541264"/>
          </a:xfrm>
          <a:prstGeom prst="roundRect">
            <a:avLst>
              <a:gd name="adj" fmla="val 3478"/>
            </a:avLst>
          </a:prstGeom>
          <a:solidFill>
            <a:srgbClr val="FFFFFF"/>
          </a:solidFill>
          <a:ln w="12700">
            <a:solidFill>
              <a:srgbClr val="C9D6E3"/>
            </a:solidFill>
            <a:prstDash val="solid"/>
          </a:ln>
        </p:spPr>
      </p:sp>
      <p:pic>
        <p:nvPicPr>
          <p:cNvPr id="7" name="Image 0" descr="docs/presentacion/recursos/ins-op-01-buscar.png">    </p:cNvPr>
          <p:cNvPicPr>
            <a:picLocks noChangeAspect="1"/>
          </p:cNvPicPr>
          <p:nvPr/>
        </p:nvPicPr>
        <p:blipFill>
          <a:blip r:embed="rId1"/>
          <a:stretch>
            <a:fillRect/>
          </a:stretch>
        </p:blipFill>
        <p:spPr>
          <a:xfrm>
            <a:off x="9050233" y="548640"/>
            <a:ext cx="2501382" cy="5413248"/>
          </a:xfrm>
          <a:prstGeom prst="rect">
            <a:avLst/>
          </a:prstGeom>
        </p:spPr>
      </p:pic>
      <p:sp>
        <p:nvSpPr>
          <p:cNvPr id="8" name="Shape 5"/>
          <p:cNvSpPr/>
          <p:nvPr/>
        </p:nvSpPr>
        <p:spPr>
          <a:xfrm>
            <a:off x="9107134" y="1693382"/>
            <a:ext cx="2387581" cy="1369290"/>
          </a:xfrm>
          <a:prstGeom prst="roundRect">
            <a:avLst>
              <a:gd name="adj" fmla="val 16695"/>
            </a:avLst>
          </a:prstGeom>
          <a:solidFill>
            <a:srgbClr val="E84141">
              <a:alpha val="0"/>
            </a:srgbClr>
          </a:solidFill>
          <a:ln w="88900">
            <a:solidFill>
              <a:srgbClr val="FFFFFF"/>
            </a:solidFill>
            <a:prstDash val="solid"/>
          </a:ln>
        </p:spPr>
      </p:sp>
      <p:sp>
        <p:nvSpPr>
          <p:cNvPr id="9" name="Shape 6"/>
          <p:cNvSpPr/>
          <p:nvPr/>
        </p:nvSpPr>
        <p:spPr>
          <a:xfrm>
            <a:off x="9107134" y="1693382"/>
            <a:ext cx="2387581" cy="1369290"/>
          </a:xfrm>
          <a:prstGeom prst="roundRect">
            <a:avLst>
              <a:gd name="adj" fmla="val 16695"/>
            </a:avLst>
          </a:prstGeom>
          <a:solidFill>
            <a:srgbClr val="E84141">
              <a:alpha val="0"/>
            </a:srgbClr>
          </a:solidFill>
          <a:ln w="44450">
            <a:solidFill>
              <a:srgbClr val="E84141"/>
            </a:solidFill>
            <a:prstDash val="solid"/>
          </a:ln>
        </p:spPr>
      </p:sp>
      <p:sp>
        <p:nvSpPr>
          <p:cNvPr id="10" name="Shape 7"/>
          <p:cNvSpPr/>
          <p:nvPr/>
        </p:nvSpPr>
        <p:spPr>
          <a:xfrm>
            <a:off x="8492449" y="2176858"/>
            <a:ext cx="402336" cy="402336"/>
          </a:xfrm>
          <a:prstGeom prst="ellipse">
            <a:avLst/>
          </a:prstGeom>
          <a:solidFill>
            <a:srgbClr val="FFFFFF"/>
          </a:solidFill>
          <a:ln/>
        </p:spPr>
      </p:sp>
      <p:sp>
        <p:nvSpPr>
          <p:cNvPr id="11" name="Shape 8"/>
          <p:cNvSpPr/>
          <p:nvPr/>
        </p:nvSpPr>
        <p:spPr>
          <a:xfrm>
            <a:off x="8519881" y="2204290"/>
            <a:ext cx="347472" cy="347472"/>
          </a:xfrm>
          <a:prstGeom prst="ellipse">
            <a:avLst/>
          </a:prstGeom>
          <a:solidFill>
            <a:srgbClr val="E84141"/>
          </a:solidFill>
          <a:ln w="12700">
            <a:solidFill>
              <a:srgbClr val="8E1B1B"/>
            </a:solidFill>
            <a:prstDash val="solid"/>
          </a:ln>
        </p:spPr>
      </p:sp>
      <p:sp>
        <p:nvSpPr>
          <p:cNvPr id="12" name="Text 9"/>
          <p:cNvSpPr/>
          <p:nvPr/>
        </p:nvSpPr>
        <p:spPr>
          <a:xfrm>
            <a:off x="8519881" y="2204290"/>
            <a:ext cx="347472" cy="347472"/>
          </a:xfrm>
          <a:prstGeom prst="rect">
            <a:avLst/>
          </a:prstGeom>
          <a:noFill/>
          <a:ln/>
        </p:spPr>
        <p:txBody>
          <a:bodyPr wrap="square" rtlCol="0" anchor="ctr"/>
          <a:lstStyle/>
          <a:p>
            <a:pPr algn="ctr" indent="0" marL="0">
              <a:buNone/>
            </a:pPr>
            <a:r>
              <a:rPr lang="en-US" sz="1400" b="1" dirty="0">
                <a:solidFill>
                  <a:srgbClr val="FFFFFF"/>
                </a:solidFill>
                <a:latin typeface="Montserrat" pitchFamily="34" charset="0"/>
                <a:ea typeface="Montserrat" pitchFamily="34" charset="-122"/>
                <a:cs typeface="Montserrat" pitchFamily="34" charset="-120"/>
              </a:rPr>
              <a:t>1</a:t>
            </a:r>
            <a:endParaRPr lang="en-US" sz="1400" dirty="0"/>
          </a:p>
        </p:txBody>
      </p:sp>
      <p:sp>
        <p:nvSpPr>
          <p:cNvPr id="13" name="Shape 10"/>
          <p:cNvSpPr/>
          <p:nvPr/>
        </p:nvSpPr>
        <p:spPr>
          <a:xfrm>
            <a:off x="9107134" y="3351650"/>
            <a:ext cx="2387581" cy="501923"/>
          </a:xfrm>
          <a:prstGeom prst="roundRect">
            <a:avLst>
              <a:gd name="adj" fmla="val 45545"/>
            </a:avLst>
          </a:prstGeom>
          <a:solidFill>
            <a:srgbClr val="E84141">
              <a:alpha val="0"/>
            </a:srgbClr>
          </a:solidFill>
          <a:ln w="88900">
            <a:solidFill>
              <a:srgbClr val="FFFFFF"/>
            </a:solidFill>
            <a:prstDash val="solid"/>
          </a:ln>
        </p:spPr>
      </p:sp>
      <p:sp>
        <p:nvSpPr>
          <p:cNvPr id="14" name="Shape 11"/>
          <p:cNvSpPr/>
          <p:nvPr/>
        </p:nvSpPr>
        <p:spPr>
          <a:xfrm>
            <a:off x="9107134" y="3351650"/>
            <a:ext cx="2387581" cy="501923"/>
          </a:xfrm>
          <a:prstGeom prst="roundRect">
            <a:avLst>
              <a:gd name="adj" fmla="val 45545"/>
            </a:avLst>
          </a:prstGeom>
          <a:solidFill>
            <a:srgbClr val="E84141">
              <a:alpha val="0"/>
            </a:srgbClr>
          </a:solidFill>
          <a:ln w="44450">
            <a:solidFill>
              <a:srgbClr val="E84141"/>
            </a:solidFill>
            <a:prstDash val="solid"/>
          </a:ln>
        </p:spPr>
      </p:sp>
      <p:sp>
        <p:nvSpPr>
          <p:cNvPr id="15" name="Shape 12"/>
          <p:cNvSpPr/>
          <p:nvPr/>
        </p:nvSpPr>
        <p:spPr>
          <a:xfrm>
            <a:off x="8492449" y="3401443"/>
            <a:ext cx="402336" cy="402336"/>
          </a:xfrm>
          <a:prstGeom prst="ellipse">
            <a:avLst/>
          </a:prstGeom>
          <a:solidFill>
            <a:srgbClr val="FFFFFF"/>
          </a:solidFill>
          <a:ln/>
        </p:spPr>
      </p:sp>
      <p:sp>
        <p:nvSpPr>
          <p:cNvPr id="16" name="Shape 13"/>
          <p:cNvSpPr/>
          <p:nvPr/>
        </p:nvSpPr>
        <p:spPr>
          <a:xfrm>
            <a:off x="8519881" y="3428875"/>
            <a:ext cx="347472" cy="347472"/>
          </a:xfrm>
          <a:prstGeom prst="ellipse">
            <a:avLst/>
          </a:prstGeom>
          <a:solidFill>
            <a:srgbClr val="E84141"/>
          </a:solidFill>
          <a:ln w="12700">
            <a:solidFill>
              <a:srgbClr val="8E1B1B"/>
            </a:solidFill>
            <a:prstDash val="solid"/>
          </a:ln>
        </p:spPr>
      </p:sp>
      <p:sp>
        <p:nvSpPr>
          <p:cNvPr id="17" name="Text 14"/>
          <p:cNvSpPr/>
          <p:nvPr/>
        </p:nvSpPr>
        <p:spPr>
          <a:xfrm>
            <a:off x="8519881" y="3428875"/>
            <a:ext cx="347472" cy="347472"/>
          </a:xfrm>
          <a:prstGeom prst="rect">
            <a:avLst/>
          </a:prstGeom>
          <a:noFill/>
          <a:ln/>
        </p:spPr>
        <p:txBody>
          <a:bodyPr wrap="square" rtlCol="0" anchor="ctr"/>
          <a:lstStyle/>
          <a:p>
            <a:pPr algn="ctr" indent="0" marL="0">
              <a:buNone/>
            </a:pPr>
            <a:r>
              <a:rPr lang="en-US" sz="1400" b="1" dirty="0">
                <a:solidFill>
                  <a:srgbClr val="FFFFFF"/>
                </a:solidFill>
                <a:latin typeface="Montserrat" pitchFamily="34" charset="0"/>
                <a:ea typeface="Montserrat" pitchFamily="34" charset="-122"/>
                <a:cs typeface="Montserrat" pitchFamily="34" charset="-120"/>
              </a:rPr>
              <a:t>2</a:t>
            </a:r>
            <a:endParaRPr lang="en-US" sz="1400" dirty="0"/>
          </a:p>
        </p:txBody>
      </p:sp>
      <p:sp>
        <p:nvSpPr>
          <p:cNvPr id="18" name="Shape 15"/>
          <p:cNvSpPr/>
          <p:nvPr/>
        </p:nvSpPr>
        <p:spPr>
          <a:xfrm>
            <a:off x="0" y="6711696"/>
            <a:ext cx="3066212" cy="146304"/>
          </a:xfrm>
          <a:prstGeom prst="rect">
            <a:avLst/>
          </a:prstGeom>
          <a:solidFill>
            <a:srgbClr val="10B7CD"/>
          </a:solidFill>
          <a:ln/>
        </p:spPr>
      </p:sp>
      <p:sp>
        <p:nvSpPr>
          <p:cNvPr id="19" name="Shape 16"/>
          <p:cNvSpPr/>
          <p:nvPr/>
        </p:nvSpPr>
        <p:spPr>
          <a:xfrm>
            <a:off x="3047924" y="6711696"/>
            <a:ext cx="3066212" cy="146304"/>
          </a:xfrm>
          <a:prstGeom prst="rect">
            <a:avLst/>
          </a:prstGeom>
          <a:solidFill>
            <a:srgbClr val="E84141"/>
          </a:solidFill>
          <a:ln/>
        </p:spPr>
      </p:sp>
      <p:sp>
        <p:nvSpPr>
          <p:cNvPr id="20" name="Shape 17"/>
          <p:cNvSpPr/>
          <p:nvPr/>
        </p:nvSpPr>
        <p:spPr>
          <a:xfrm>
            <a:off x="6095848" y="6711696"/>
            <a:ext cx="3066212" cy="146304"/>
          </a:xfrm>
          <a:prstGeom prst="rect">
            <a:avLst/>
          </a:prstGeom>
          <a:solidFill>
            <a:srgbClr val="F8AB11"/>
          </a:solidFill>
          <a:ln/>
        </p:spPr>
      </p:sp>
      <p:sp>
        <p:nvSpPr>
          <p:cNvPr id="21" name="Shape 18"/>
          <p:cNvSpPr/>
          <p:nvPr/>
        </p:nvSpPr>
        <p:spPr>
          <a:xfrm>
            <a:off x="9143771" y="6711696"/>
            <a:ext cx="3047924" cy="146304"/>
          </a:xfrm>
          <a:prstGeom prst="rect">
            <a:avLst/>
          </a:prstGeom>
          <a:solidFill>
            <a:srgbClr val="8974B3"/>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BFB"/>
        </a:solidFill>
      </p:bgPr>
    </p:bg>
    <p:spTree>
      <p:nvGrpSpPr>
        <p:cNvPr id="1" name=""/>
        <p:cNvGrpSpPr/>
        <p:nvPr/>
      </p:nvGrpSpPr>
      <p:grpSpPr>
        <a:xfrm>
          <a:off x="0" y="0"/>
          <a:ext cx="0" cy="0"/>
          <a:chOff x="0" y="0"/>
          <a:chExt cx="0" cy="0"/>
        </a:xfrm>
      </p:grpSpPr>
      <p:sp>
        <p:nvSpPr>
          <p:cNvPr id="2" name="Shape 0"/>
          <p:cNvSpPr/>
          <p:nvPr/>
        </p:nvSpPr>
        <p:spPr>
          <a:xfrm>
            <a:off x="640080" y="457200"/>
            <a:ext cx="1481328" cy="384048"/>
          </a:xfrm>
          <a:prstGeom prst="roundRect">
            <a:avLst>
              <a:gd name="adj" fmla="val 50000"/>
            </a:avLst>
          </a:prstGeom>
          <a:solidFill>
            <a:srgbClr val="0167D5"/>
          </a:solidFill>
          <a:ln/>
        </p:spPr>
      </p:sp>
      <p:sp>
        <p:nvSpPr>
          <p:cNvPr id="3" name="Text 1"/>
          <p:cNvSpPr/>
          <p:nvPr/>
        </p:nvSpPr>
        <p:spPr>
          <a:xfrm>
            <a:off x="640080" y="457200"/>
            <a:ext cx="1481328" cy="384048"/>
          </a:xfrm>
          <a:prstGeom prst="rect">
            <a:avLst/>
          </a:prstGeom>
          <a:noFill/>
          <a:ln/>
        </p:spPr>
        <p:txBody>
          <a:bodyPr wrap="square" lIns="0" tIns="0" rIns="0" bIns="0" rtlCol="0" anchor="ctr"/>
          <a:lstStyle/>
          <a:p>
            <a:pPr algn="ctr" indent="0" marL="0">
              <a:buNone/>
            </a:pPr>
            <a:r>
              <a:rPr lang="en-US" sz="1400" b="1" spc="100" kern="0" dirty="0">
                <a:solidFill>
                  <a:srgbClr val="FFFFFF"/>
                </a:solidFill>
                <a:latin typeface="Montserrat" pitchFamily="34" charset="0"/>
                <a:ea typeface="Montserrat" pitchFamily="34" charset="-122"/>
                <a:cs typeface="Montserrat" pitchFamily="34" charset="-120"/>
              </a:rPr>
              <a:t>PASO 2</a:t>
            </a:r>
            <a:endParaRPr lang="en-US" sz="1400" dirty="0"/>
          </a:p>
        </p:txBody>
      </p:sp>
      <p:sp>
        <p:nvSpPr>
          <p:cNvPr id="4" name="Text 2"/>
          <p:cNvSpPr/>
          <p:nvPr/>
        </p:nvSpPr>
        <p:spPr>
          <a:xfrm>
            <a:off x="640080" y="969264"/>
            <a:ext cx="6796735" cy="475488"/>
          </a:xfrm>
          <a:prstGeom prst="rect">
            <a:avLst/>
          </a:prstGeom>
          <a:noFill/>
          <a:ln/>
        </p:spPr>
        <p:txBody>
          <a:bodyPr wrap="square" lIns="0" tIns="0" rIns="0" bIns="0" rtlCol="0" anchor="t"/>
          <a:lstStyle/>
          <a:p>
            <a:pPr indent="0" marL="0">
              <a:buNone/>
            </a:pPr>
            <a:r>
              <a:rPr lang="en-US" sz="3000" b="1" dirty="0">
                <a:solidFill>
                  <a:srgbClr val="0B3A78"/>
                </a:solidFill>
                <a:latin typeface="Montserrat" pitchFamily="34" charset="0"/>
                <a:ea typeface="Montserrat" pitchFamily="34" charset="-122"/>
                <a:cs typeface="Montserrat" pitchFamily="34" charset="-120"/>
              </a:rPr>
              <a:t>Verifica antes de entregar</a:t>
            </a:r>
            <a:endParaRPr lang="en-US" sz="3000" dirty="0"/>
          </a:p>
        </p:txBody>
      </p:sp>
      <p:sp>
        <p:nvSpPr>
          <p:cNvPr id="5" name="Text 3"/>
          <p:cNvSpPr/>
          <p:nvPr/>
        </p:nvSpPr>
        <p:spPr>
          <a:xfrm>
            <a:off x="640080" y="1828800"/>
            <a:ext cx="6796735" cy="2889504"/>
          </a:xfrm>
          <a:prstGeom prst="rect">
            <a:avLst/>
          </a:prstGeom>
          <a:noFill/>
          <a:ln/>
        </p:spPr>
        <p:txBody>
          <a:bodyPr wrap="square" lIns="0" tIns="0" rIns="0" bIns="0" rtlCol="0" anchor="t"/>
          <a:lstStyle/>
          <a:p>
            <a:pPr indent="0" marL="0">
              <a:lnSpc>
                <a:spcPts val="2800"/>
              </a:lnSpc>
              <a:buNone/>
            </a:pPr>
            <a:r>
              <a:rPr lang="en-US" sz="1700" dirty="0">
                <a:solidFill>
                  <a:srgbClr val="333333"/>
                </a:solidFill>
                <a:latin typeface="Inter" pitchFamily="34" charset="0"/>
                <a:ea typeface="Inter" pitchFamily="34" charset="-122"/>
                <a:cs typeface="Inter" pitchFamily="34" charset="-120"/>
              </a:rPr>
              <a:t>Antes de tocar nada, revisa las tres cosas marcadas en la pantalla:</a:t>
            </a:r>
            <a:endParaRPr lang="en-US" sz="1700" dirty="0"/>
          </a:p>
          <a:p>
            <a:pPr indent="0" marL="0">
              <a:lnSpc>
                <a:spcPts val="2800"/>
              </a:lnSpc>
              <a:buNone/>
            </a:pPr>
            <a:endParaRPr lang="en-US" sz="1700" dirty="0"/>
          </a:p>
          <a:p>
            <a:pPr indent="0" marL="0">
              <a:lnSpc>
                <a:spcPts val="2800"/>
              </a:lnSpc>
              <a:buNone/>
            </a:pPr>
            <a:r>
              <a:rPr lang="en-US" sz="1700" dirty="0">
                <a:solidFill>
                  <a:srgbClr val="333333"/>
                </a:solidFill>
                <a:latin typeface="Inter" pitchFamily="34" charset="0"/>
                <a:ea typeface="Inter" pitchFamily="34" charset="-122"/>
                <a:cs typeface="Inter" pitchFamily="34" charset="-120"/>
              </a:rPr>
              <a:t>1.  El nombre del niño. Dilo en voz alta y que la familia lo confirme.</a:t>
            </a:r>
            <a:endParaRPr lang="en-US" sz="1700" dirty="0"/>
          </a:p>
          <a:p>
            <a:pPr indent="0" marL="0">
              <a:lnSpc>
                <a:spcPts val="2800"/>
              </a:lnSpc>
              <a:buNone/>
            </a:pPr>
            <a:r>
              <a:rPr lang="en-US" sz="1700" dirty="0">
                <a:solidFill>
                  <a:srgbClr val="333333"/>
                </a:solidFill>
                <a:latin typeface="Inter" pitchFamily="34" charset="0"/>
                <a:ea typeface="Inter" pitchFamily="34" charset="-122"/>
                <a:cs typeface="Inter" pitchFamily="34" charset="-120"/>
              </a:rPr>
              <a:t>2.  La carpa donde se despacha ese juguete.</a:t>
            </a:r>
            <a:endParaRPr lang="en-US" sz="1700" dirty="0"/>
          </a:p>
          <a:p>
            <a:pPr indent="0" marL="0">
              <a:lnSpc>
                <a:spcPts val="2800"/>
              </a:lnSpc>
              <a:buNone/>
            </a:pPr>
            <a:r>
              <a:rPr lang="en-US" sz="1700" dirty="0">
                <a:solidFill>
                  <a:srgbClr val="333333"/>
                </a:solidFill>
                <a:latin typeface="Inter" pitchFamily="34" charset="0"/>
                <a:ea typeface="Inter" pitchFamily="34" charset="-122"/>
                <a:cs typeface="Inter" pitchFamily="34" charset="-120"/>
              </a:rPr>
              <a:t>3.  El juguete asignado.</a:t>
            </a:r>
            <a:endParaRPr lang="en-US" sz="1700" dirty="0"/>
          </a:p>
          <a:p>
            <a:pPr indent="0" marL="0">
              <a:lnSpc>
                <a:spcPts val="2800"/>
              </a:lnSpc>
              <a:buNone/>
            </a:pPr>
            <a:endParaRPr lang="en-US" sz="1700" dirty="0"/>
          </a:p>
          <a:p>
            <a:pPr indent="0" marL="0">
              <a:lnSpc>
                <a:spcPts val="2800"/>
              </a:lnSpc>
              <a:buNone/>
            </a:pPr>
            <a:r>
              <a:rPr lang="en-US" sz="1700" dirty="0">
                <a:solidFill>
                  <a:srgbClr val="333333"/>
                </a:solidFill>
                <a:latin typeface="Inter" pitchFamily="34" charset="0"/>
                <a:ea typeface="Inter" pitchFamily="34" charset="-122"/>
                <a:cs typeface="Inter" pitchFamily="34" charset="-120"/>
              </a:rPr>
              <a:t>Si todo cuadra, búscalo en tu carpa y entrégalo.</a:t>
            </a:r>
            <a:endParaRPr lang="en-US" sz="1700" dirty="0"/>
          </a:p>
        </p:txBody>
      </p:sp>
      <p:sp>
        <p:nvSpPr>
          <p:cNvPr id="6" name="Shape 4"/>
          <p:cNvSpPr/>
          <p:nvPr/>
        </p:nvSpPr>
        <p:spPr>
          <a:xfrm>
            <a:off x="8986225" y="484632"/>
            <a:ext cx="2629398" cy="5541264"/>
          </a:xfrm>
          <a:prstGeom prst="roundRect">
            <a:avLst>
              <a:gd name="adj" fmla="val 3478"/>
            </a:avLst>
          </a:prstGeom>
          <a:solidFill>
            <a:srgbClr val="FFFFFF"/>
          </a:solidFill>
          <a:ln w="12700">
            <a:solidFill>
              <a:srgbClr val="C9D6E3"/>
            </a:solidFill>
            <a:prstDash val="solid"/>
          </a:ln>
        </p:spPr>
      </p:sp>
      <p:pic>
        <p:nvPicPr>
          <p:cNvPr id="7" name="Image 0" descr="docs/presentacion/recursos/ins-op-02-ficha.png">    </p:cNvPr>
          <p:cNvPicPr>
            <a:picLocks noChangeAspect="1"/>
          </p:cNvPicPr>
          <p:nvPr/>
        </p:nvPicPr>
        <p:blipFill>
          <a:blip r:embed="rId1"/>
          <a:stretch>
            <a:fillRect/>
          </a:stretch>
        </p:blipFill>
        <p:spPr>
          <a:xfrm>
            <a:off x="9050233" y="548640"/>
            <a:ext cx="2501382" cy="5413248"/>
          </a:xfrm>
          <a:prstGeom prst="rect">
            <a:avLst/>
          </a:prstGeom>
        </p:spPr>
      </p:pic>
      <p:sp>
        <p:nvSpPr>
          <p:cNvPr id="8" name="Shape 5"/>
          <p:cNvSpPr/>
          <p:nvPr/>
        </p:nvSpPr>
        <p:spPr>
          <a:xfrm>
            <a:off x="9107134" y="1975589"/>
            <a:ext cx="2387581" cy="940166"/>
          </a:xfrm>
          <a:prstGeom prst="roundRect">
            <a:avLst>
              <a:gd name="adj" fmla="val 24315"/>
            </a:avLst>
          </a:prstGeom>
          <a:solidFill>
            <a:srgbClr val="E84141">
              <a:alpha val="0"/>
            </a:srgbClr>
          </a:solidFill>
          <a:ln w="88900">
            <a:solidFill>
              <a:srgbClr val="FFFFFF"/>
            </a:solidFill>
            <a:prstDash val="solid"/>
          </a:ln>
        </p:spPr>
      </p:sp>
      <p:sp>
        <p:nvSpPr>
          <p:cNvPr id="9" name="Shape 6"/>
          <p:cNvSpPr/>
          <p:nvPr/>
        </p:nvSpPr>
        <p:spPr>
          <a:xfrm>
            <a:off x="9107134" y="1975589"/>
            <a:ext cx="2387581" cy="940166"/>
          </a:xfrm>
          <a:prstGeom prst="roundRect">
            <a:avLst>
              <a:gd name="adj" fmla="val 24315"/>
            </a:avLst>
          </a:prstGeom>
          <a:solidFill>
            <a:srgbClr val="E84141">
              <a:alpha val="0"/>
            </a:srgbClr>
          </a:solidFill>
          <a:ln w="44450">
            <a:solidFill>
              <a:srgbClr val="E84141"/>
            </a:solidFill>
            <a:prstDash val="solid"/>
          </a:ln>
        </p:spPr>
      </p:sp>
      <p:sp>
        <p:nvSpPr>
          <p:cNvPr id="10" name="Shape 7"/>
          <p:cNvSpPr/>
          <p:nvPr/>
        </p:nvSpPr>
        <p:spPr>
          <a:xfrm>
            <a:off x="8492449" y="2244504"/>
            <a:ext cx="402336" cy="402336"/>
          </a:xfrm>
          <a:prstGeom prst="ellipse">
            <a:avLst/>
          </a:prstGeom>
          <a:solidFill>
            <a:srgbClr val="FFFFFF"/>
          </a:solidFill>
          <a:ln/>
        </p:spPr>
      </p:sp>
      <p:sp>
        <p:nvSpPr>
          <p:cNvPr id="11" name="Shape 8"/>
          <p:cNvSpPr/>
          <p:nvPr/>
        </p:nvSpPr>
        <p:spPr>
          <a:xfrm>
            <a:off x="8519881" y="2271936"/>
            <a:ext cx="347472" cy="347472"/>
          </a:xfrm>
          <a:prstGeom prst="ellipse">
            <a:avLst/>
          </a:prstGeom>
          <a:solidFill>
            <a:srgbClr val="E84141"/>
          </a:solidFill>
          <a:ln w="12700">
            <a:solidFill>
              <a:srgbClr val="8E1B1B"/>
            </a:solidFill>
            <a:prstDash val="solid"/>
          </a:ln>
        </p:spPr>
      </p:sp>
      <p:sp>
        <p:nvSpPr>
          <p:cNvPr id="12" name="Text 9"/>
          <p:cNvSpPr/>
          <p:nvPr/>
        </p:nvSpPr>
        <p:spPr>
          <a:xfrm>
            <a:off x="8519881" y="2271936"/>
            <a:ext cx="347472" cy="347472"/>
          </a:xfrm>
          <a:prstGeom prst="rect">
            <a:avLst/>
          </a:prstGeom>
          <a:noFill/>
          <a:ln/>
        </p:spPr>
        <p:txBody>
          <a:bodyPr wrap="square" rtlCol="0" anchor="ctr"/>
          <a:lstStyle/>
          <a:p>
            <a:pPr algn="ctr" indent="0" marL="0">
              <a:buNone/>
            </a:pPr>
            <a:r>
              <a:rPr lang="en-US" sz="1400" b="1" dirty="0">
                <a:solidFill>
                  <a:srgbClr val="FFFFFF"/>
                </a:solidFill>
                <a:latin typeface="Montserrat" pitchFamily="34" charset="0"/>
                <a:ea typeface="Montserrat" pitchFamily="34" charset="-122"/>
                <a:cs typeface="Montserrat" pitchFamily="34" charset="-120"/>
              </a:rPr>
              <a:t>1</a:t>
            </a:r>
            <a:endParaRPr lang="en-US" sz="1400" dirty="0"/>
          </a:p>
        </p:txBody>
      </p:sp>
      <p:sp>
        <p:nvSpPr>
          <p:cNvPr id="13" name="Shape 10"/>
          <p:cNvSpPr/>
          <p:nvPr/>
        </p:nvSpPr>
        <p:spPr>
          <a:xfrm>
            <a:off x="9107134" y="2952591"/>
            <a:ext cx="2387581" cy="701453"/>
          </a:xfrm>
          <a:prstGeom prst="roundRect">
            <a:avLst>
              <a:gd name="adj" fmla="val 32589"/>
            </a:avLst>
          </a:prstGeom>
          <a:solidFill>
            <a:srgbClr val="E84141">
              <a:alpha val="0"/>
            </a:srgbClr>
          </a:solidFill>
          <a:ln w="88900">
            <a:solidFill>
              <a:srgbClr val="FFFFFF"/>
            </a:solidFill>
            <a:prstDash val="solid"/>
          </a:ln>
        </p:spPr>
      </p:sp>
      <p:sp>
        <p:nvSpPr>
          <p:cNvPr id="14" name="Shape 11"/>
          <p:cNvSpPr/>
          <p:nvPr/>
        </p:nvSpPr>
        <p:spPr>
          <a:xfrm>
            <a:off x="9107134" y="2952591"/>
            <a:ext cx="2387581" cy="701453"/>
          </a:xfrm>
          <a:prstGeom prst="roundRect">
            <a:avLst>
              <a:gd name="adj" fmla="val 32589"/>
            </a:avLst>
          </a:prstGeom>
          <a:solidFill>
            <a:srgbClr val="E84141">
              <a:alpha val="0"/>
            </a:srgbClr>
          </a:solidFill>
          <a:ln w="44450">
            <a:solidFill>
              <a:srgbClr val="E84141"/>
            </a:solidFill>
            <a:prstDash val="solid"/>
          </a:ln>
        </p:spPr>
      </p:sp>
      <p:sp>
        <p:nvSpPr>
          <p:cNvPr id="15" name="Shape 12"/>
          <p:cNvSpPr/>
          <p:nvPr/>
        </p:nvSpPr>
        <p:spPr>
          <a:xfrm>
            <a:off x="8492449" y="3102149"/>
            <a:ext cx="402336" cy="402336"/>
          </a:xfrm>
          <a:prstGeom prst="ellipse">
            <a:avLst/>
          </a:prstGeom>
          <a:solidFill>
            <a:srgbClr val="FFFFFF"/>
          </a:solidFill>
          <a:ln/>
        </p:spPr>
      </p:sp>
      <p:sp>
        <p:nvSpPr>
          <p:cNvPr id="16" name="Shape 13"/>
          <p:cNvSpPr/>
          <p:nvPr/>
        </p:nvSpPr>
        <p:spPr>
          <a:xfrm>
            <a:off x="8519881" y="3129581"/>
            <a:ext cx="347472" cy="347472"/>
          </a:xfrm>
          <a:prstGeom prst="ellipse">
            <a:avLst/>
          </a:prstGeom>
          <a:solidFill>
            <a:srgbClr val="E84141"/>
          </a:solidFill>
          <a:ln w="12700">
            <a:solidFill>
              <a:srgbClr val="8E1B1B"/>
            </a:solidFill>
            <a:prstDash val="solid"/>
          </a:ln>
        </p:spPr>
      </p:sp>
      <p:sp>
        <p:nvSpPr>
          <p:cNvPr id="17" name="Text 14"/>
          <p:cNvSpPr/>
          <p:nvPr/>
        </p:nvSpPr>
        <p:spPr>
          <a:xfrm>
            <a:off x="8519881" y="3129581"/>
            <a:ext cx="347472" cy="347472"/>
          </a:xfrm>
          <a:prstGeom prst="rect">
            <a:avLst/>
          </a:prstGeom>
          <a:noFill/>
          <a:ln/>
        </p:spPr>
        <p:txBody>
          <a:bodyPr wrap="square" rtlCol="0" anchor="ctr"/>
          <a:lstStyle/>
          <a:p>
            <a:pPr algn="ctr" indent="0" marL="0">
              <a:buNone/>
            </a:pPr>
            <a:r>
              <a:rPr lang="en-US" sz="1400" b="1" dirty="0">
                <a:solidFill>
                  <a:srgbClr val="FFFFFF"/>
                </a:solidFill>
                <a:latin typeface="Montserrat" pitchFamily="34" charset="0"/>
                <a:ea typeface="Montserrat" pitchFamily="34" charset="-122"/>
                <a:cs typeface="Montserrat" pitchFamily="34" charset="-120"/>
              </a:rPr>
              <a:t>2</a:t>
            </a:r>
            <a:endParaRPr lang="en-US" sz="1400" dirty="0"/>
          </a:p>
        </p:txBody>
      </p:sp>
      <p:sp>
        <p:nvSpPr>
          <p:cNvPr id="18" name="Shape 15"/>
          <p:cNvSpPr/>
          <p:nvPr/>
        </p:nvSpPr>
        <p:spPr>
          <a:xfrm>
            <a:off x="9107134" y="5255847"/>
            <a:ext cx="2387581" cy="552232"/>
          </a:xfrm>
          <a:prstGeom prst="roundRect">
            <a:avLst>
              <a:gd name="adj" fmla="val 41396"/>
            </a:avLst>
          </a:prstGeom>
          <a:solidFill>
            <a:srgbClr val="E84141">
              <a:alpha val="0"/>
            </a:srgbClr>
          </a:solidFill>
          <a:ln w="88900">
            <a:solidFill>
              <a:srgbClr val="FFFFFF"/>
            </a:solidFill>
            <a:prstDash val="solid"/>
          </a:ln>
        </p:spPr>
      </p:sp>
      <p:sp>
        <p:nvSpPr>
          <p:cNvPr id="19" name="Shape 16"/>
          <p:cNvSpPr/>
          <p:nvPr/>
        </p:nvSpPr>
        <p:spPr>
          <a:xfrm>
            <a:off x="9107134" y="5255847"/>
            <a:ext cx="2387581" cy="552232"/>
          </a:xfrm>
          <a:prstGeom prst="roundRect">
            <a:avLst>
              <a:gd name="adj" fmla="val 41396"/>
            </a:avLst>
          </a:prstGeom>
          <a:solidFill>
            <a:srgbClr val="E84141">
              <a:alpha val="0"/>
            </a:srgbClr>
          </a:solidFill>
          <a:ln w="44450">
            <a:solidFill>
              <a:srgbClr val="E84141"/>
            </a:solidFill>
            <a:prstDash val="solid"/>
          </a:ln>
        </p:spPr>
      </p:sp>
      <p:sp>
        <p:nvSpPr>
          <p:cNvPr id="20" name="Shape 17"/>
          <p:cNvSpPr/>
          <p:nvPr/>
        </p:nvSpPr>
        <p:spPr>
          <a:xfrm>
            <a:off x="8492449" y="5330795"/>
            <a:ext cx="402336" cy="402336"/>
          </a:xfrm>
          <a:prstGeom prst="ellipse">
            <a:avLst/>
          </a:prstGeom>
          <a:solidFill>
            <a:srgbClr val="FFFFFF"/>
          </a:solidFill>
          <a:ln/>
        </p:spPr>
      </p:sp>
      <p:sp>
        <p:nvSpPr>
          <p:cNvPr id="21" name="Shape 18"/>
          <p:cNvSpPr/>
          <p:nvPr/>
        </p:nvSpPr>
        <p:spPr>
          <a:xfrm>
            <a:off x="8519881" y="5358227"/>
            <a:ext cx="347472" cy="347472"/>
          </a:xfrm>
          <a:prstGeom prst="ellipse">
            <a:avLst/>
          </a:prstGeom>
          <a:solidFill>
            <a:srgbClr val="E84141"/>
          </a:solidFill>
          <a:ln w="12700">
            <a:solidFill>
              <a:srgbClr val="8E1B1B"/>
            </a:solidFill>
            <a:prstDash val="solid"/>
          </a:ln>
        </p:spPr>
      </p:sp>
      <p:sp>
        <p:nvSpPr>
          <p:cNvPr id="22" name="Text 19"/>
          <p:cNvSpPr/>
          <p:nvPr/>
        </p:nvSpPr>
        <p:spPr>
          <a:xfrm>
            <a:off x="8519881" y="5358227"/>
            <a:ext cx="347472" cy="347472"/>
          </a:xfrm>
          <a:prstGeom prst="rect">
            <a:avLst/>
          </a:prstGeom>
          <a:noFill/>
          <a:ln/>
        </p:spPr>
        <p:txBody>
          <a:bodyPr wrap="square" rtlCol="0" anchor="ctr"/>
          <a:lstStyle/>
          <a:p>
            <a:pPr algn="ctr" indent="0" marL="0">
              <a:buNone/>
            </a:pPr>
            <a:r>
              <a:rPr lang="en-US" sz="1400" b="1" dirty="0">
                <a:solidFill>
                  <a:srgbClr val="FFFFFF"/>
                </a:solidFill>
                <a:latin typeface="Montserrat" pitchFamily="34" charset="0"/>
                <a:ea typeface="Montserrat" pitchFamily="34" charset="-122"/>
                <a:cs typeface="Montserrat" pitchFamily="34" charset="-120"/>
              </a:rPr>
              <a:t>3</a:t>
            </a:r>
            <a:endParaRPr lang="en-US" sz="1400" dirty="0"/>
          </a:p>
        </p:txBody>
      </p:sp>
      <p:sp>
        <p:nvSpPr>
          <p:cNvPr id="23" name="Shape 20"/>
          <p:cNvSpPr/>
          <p:nvPr/>
        </p:nvSpPr>
        <p:spPr>
          <a:xfrm>
            <a:off x="0" y="6711696"/>
            <a:ext cx="3066212" cy="146304"/>
          </a:xfrm>
          <a:prstGeom prst="rect">
            <a:avLst/>
          </a:prstGeom>
          <a:solidFill>
            <a:srgbClr val="10B7CD"/>
          </a:solidFill>
          <a:ln/>
        </p:spPr>
      </p:sp>
      <p:sp>
        <p:nvSpPr>
          <p:cNvPr id="24" name="Shape 21"/>
          <p:cNvSpPr/>
          <p:nvPr/>
        </p:nvSpPr>
        <p:spPr>
          <a:xfrm>
            <a:off x="3047924" y="6711696"/>
            <a:ext cx="3066212" cy="146304"/>
          </a:xfrm>
          <a:prstGeom prst="rect">
            <a:avLst/>
          </a:prstGeom>
          <a:solidFill>
            <a:srgbClr val="E84141"/>
          </a:solidFill>
          <a:ln/>
        </p:spPr>
      </p:sp>
      <p:sp>
        <p:nvSpPr>
          <p:cNvPr id="25" name="Shape 22"/>
          <p:cNvSpPr/>
          <p:nvPr/>
        </p:nvSpPr>
        <p:spPr>
          <a:xfrm>
            <a:off x="6095848" y="6711696"/>
            <a:ext cx="3066212" cy="146304"/>
          </a:xfrm>
          <a:prstGeom prst="rect">
            <a:avLst/>
          </a:prstGeom>
          <a:solidFill>
            <a:srgbClr val="F8AB11"/>
          </a:solidFill>
          <a:ln/>
        </p:spPr>
      </p:sp>
      <p:sp>
        <p:nvSpPr>
          <p:cNvPr id="26" name="Shape 23"/>
          <p:cNvSpPr/>
          <p:nvPr/>
        </p:nvSpPr>
        <p:spPr>
          <a:xfrm>
            <a:off x="9143771" y="6711696"/>
            <a:ext cx="3047924" cy="146304"/>
          </a:xfrm>
          <a:prstGeom prst="rect">
            <a:avLst/>
          </a:prstGeom>
          <a:solidFill>
            <a:srgbClr val="8974B3"/>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BFB"/>
        </a:solidFill>
      </p:bgPr>
    </p:bg>
    <p:spTree>
      <p:nvGrpSpPr>
        <p:cNvPr id="1" name=""/>
        <p:cNvGrpSpPr/>
        <p:nvPr/>
      </p:nvGrpSpPr>
      <p:grpSpPr>
        <a:xfrm>
          <a:off x="0" y="0"/>
          <a:ext cx="0" cy="0"/>
          <a:chOff x="0" y="0"/>
          <a:chExt cx="0" cy="0"/>
        </a:xfrm>
      </p:grpSpPr>
      <p:sp>
        <p:nvSpPr>
          <p:cNvPr id="2" name="Shape 0"/>
          <p:cNvSpPr/>
          <p:nvPr/>
        </p:nvSpPr>
        <p:spPr>
          <a:xfrm>
            <a:off x="640080" y="457200"/>
            <a:ext cx="1481328" cy="384048"/>
          </a:xfrm>
          <a:prstGeom prst="roundRect">
            <a:avLst>
              <a:gd name="adj" fmla="val 50000"/>
            </a:avLst>
          </a:prstGeom>
          <a:solidFill>
            <a:srgbClr val="0167D5"/>
          </a:solidFill>
          <a:ln/>
        </p:spPr>
      </p:sp>
      <p:sp>
        <p:nvSpPr>
          <p:cNvPr id="3" name="Text 1"/>
          <p:cNvSpPr/>
          <p:nvPr/>
        </p:nvSpPr>
        <p:spPr>
          <a:xfrm>
            <a:off x="640080" y="457200"/>
            <a:ext cx="1481328" cy="384048"/>
          </a:xfrm>
          <a:prstGeom prst="rect">
            <a:avLst/>
          </a:prstGeom>
          <a:noFill/>
          <a:ln/>
        </p:spPr>
        <p:txBody>
          <a:bodyPr wrap="square" lIns="0" tIns="0" rIns="0" bIns="0" rtlCol="0" anchor="ctr"/>
          <a:lstStyle/>
          <a:p>
            <a:pPr algn="ctr" indent="0" marL="0">
              <a:buNone/>
            </a:pPr>
            <a:r>
              <a:rPr lang="en-US" sz="1400" b="1" spc="100" kern="0" dirty="0">
                <a:solidFill>
                  <a:srgbClr val="FFFFFF"/>
                </a:solidFill>
                <a:latin typeface="Montserrat" pitchFamily="34" charset="0"/>
                <a:ea typeface="Montserrat" pitchFamily="34" charset="-122"/>
                <a:cs typeface="Montserrat" pitchFamily="34" charset="-120"/>
              </a:rPr>
              <a:t>PASO 3</a:t>
            </a:r>
            <a:endParaRPr lang="en-US" sz="1400" dirty="0"/>
          </a:p>
        </p:txBody>
      </p:sp>
      <p:sp>
        <p:nvSpPr>
          <p:cNvPr id="4" name="Text 2"/>
          <p:cNvSpPr/>
          <p:nvPr/>
        </p:nvSpPr>
        <p:spPr>
          <a:xfrm>
            <a:off x="640080" y="969264"/>
            <a:ext cx="6796735" cy="475488"/>
          </a:xfrm>
          <a:prstGeom prst="rect">
            <a:avLst/>
          </a:prstGeom>
          <a:noFill/>
          <a:ln/>
        </p:spPr>
        <p:txBody>
          <a:bodyPr wrap="square" lIns="0" tIns="0" rIns="0" bIns="0" rtlCol="0" anchor="t"/>
          <a:lstStyle/>
          <a:p>
            <a:pPr indent="0" marL="0">
              <a:buNone/>
            </a:pPr>
            <a:r>
              <a:rPr lang="en-US" sz="3000" b="1" dirty="0">
                <a:solidFill>
                  <a:srgbClr val="0B3A78"/>
                </a:solidFill>
                <a:latin typeface="Montserrat" pitchFamily="34" charset="0"/>
                <a:ea typeface="Montserrat" pitchFamily="34" charset="-122"/>
                <a:cs typeface="Montserrat" pitchFamily="34" charset="-120"/>
              </a:rPr>
              <a:t>Entrega y marca</a:t>
            </a:r>
            <a:endParaRPr lang="en-US" sz="3000" dirty="0"/>
          </a:p>
        </p:txBody>
      </p:sp>
      <p:sp>
        <p:nvSpPr>
          <p:cNvPr id="5" name="Text 3"/>
          <p:cNvSpPr/>
          <p:nvPr/>
        </p:nvSpPr>
        <p:spPr>
          <a:xfrm>
            <a:off x="640080" y="1828800"/>
            <a:ext cx="6796735" cy="1956816"/>
          </a:xfrm>
          <a:prstGeom prst="rect">
            <a:avLst/>
          </a:prstGeom>
          <a:noFill/>
          <a:ln/>
        </p:spPr>
        <p:txBody>
          <a:bodyPr wrap="square" lIns="0" tIns="0" rIns="0" bIns="0" rtlCol="0" anchor="t"/>
          <a:lstStyle/>
          <a:p>
            <a:pPr indent="0" marL="0">
              <a:lnSpc>
                <a:spcPts val="2800"/>
              </a:lnSpc>
              <a:buNone/>
            </a:pPr>
            <a:r>
              <a:rPr lang="en-US" sz="1700" dirty="0">
                <a:solidFill>
                  <a:srgbClr val="333333"/>
                </a:solidFill>
                <a:latin typeface="Inter" pitchFamily="34" charset="0"/>
                <a:ea typeface="Inter" pitchFamily="34" charset="-122"/>
                <a:cs typeface="Inter" pitchFamily="34" charset="-120"/>
              </a:rPr>
              <a:t>Entrega primero el juguete. Después, al final de esa misma ficha, toca el botón verde «Marcar entregado».</a:t>
            </a:r>
            <a:endParaRPr lang="en-US" sz="1700" dirty="0"/>
          </a:p>
          <a:p>
            <a:pPr indent="0" marL="0">
              <a:lnSpc>
                <a:spcPts val="2800"/>
              </a:lnSpc>
              <a:buNone/>
            </a:pPr>
            <a:endParaRPr lang="en-US" sz="1700" dirty="0"/>
          </a:p>
          <a:p>
            <a:pPr indent="0" marL="0">
              <a:lnSpc>
                <a:spcPts val="2800"/>
              </a:lnSpc>
              <a:buNone/>
            </a:pPr>
            <a:r>
              <a:rPr lang="en-US" sz="1700" dirty="0">
                <a:solidFill>
                  <a:srgbClr val="333333"/>
                </a:solidFill>
                <a:latin typeface="Inter" pitchFamily="34" charset="0"/>
                <a:ea typeface="Inter" pitchFamily="34" charset="-122"/>
                <a:cs typeface="Inter" pitchFamily="34" charset="-120"/>
              </a:rPr>
              <a:t>Quedó registrado cuando ves esta pantalla: verde de lado a lado, con el nombre del niño y su juguete. Toca «Siguiente» y atiende a la próxima familia.</a:t>
            </a:r>
            <a:endParaRPr lang="en-US" sz="1700" dirty="0"/>
          </a:p>
        </p:txBody>
      </p:sp>
      <p:sp>
        <p:nvSpPr>
          <p:cNvPr id="6" name="Shape 4"/>
          <p:cNvSpPr/>
          <p:nvPr/>
        </p:nvSpPr>
        <p:spPr>
          <a:xfrm>
            <a:off x="640080" y="4151376"/>
            <a:ext cx="6796735" cy="1280160"/>
          </a:xfrm>
          <a:prstGeom prst="roundRect">
            <a:avLst>
              <a:gd name="adj" fmla="val 4286"/>
            </a:avLst>
          </a:prstGeom>
          <a:solidFill>
            <a:srgbClr val="FDECEC"/>
          </a:solidFill>
          <a:ln w="31750">
            <a:solidFill>
              <a:srgbClr val="E84141"/>
            </a:solidFill>
            <a:prstDash val="solid"/>
          </a:ln>
        </p:spPr>
      </p:sp>
      <p:sp>
        <p:nvSpPr>
          <p:cNvPr id="7" name="Shape 5"/>
          <p:cNvSpPr/>
          <p:nvPr/>
        </p:nvSpPr>
        <p:spPr>
          <a:xfrm>
            <a:off x="640080" y="4151376"/>
            <a:ext cx="118872" cy="1280160"/>
          </a:xfrm>
          <a:prstGeom prst="rect">
            <a:avLst/>
          </a:prstGeom>
          <a:solidFill>
            <a:srgbClr val="E84141"/>
          </a:solidFill>
          <a:ln/>
        </p:spPr>
      </p:sp>
      <p:sp>
        <p:nvSpPr>
          <p:cNvPr id="8" name="Text 6"/>
          <p:cNvSpPr/>
          <p:nvPr/>
        </p:nvSpPr>
        <p:spPr>
          <a:xfrm>
            <a:off x="960120" y="4242816"/>
            <a:ext cx="6248095" cy="1097280"/>
          </a:xfrm>
          <a:prstGeom prst="rect">
            <a:avLst/>
          </a:prstGeom>
          <a:noFill/>
          <a:ln/>
        </p:spPr>
        <p:txBody>
          <a:bodyPr wrap="square" lIns="0" tIns="0" rIns="0" bIns="0" rtlCol="0" anchor="ctr"/>
          <a:lstStyle/>
          <a:p>
            <a:pPr indent="0" marL="0">
              <a:lnSpc>
                <a:spcPts val="2200"/>
              </a:lnSpc>
              <a:buNone/>
            </a:pPr>
            <a:r>
              <a:rPr lang="en-US" sz="1500" b="1" dirty="0">
                <a:solidFill>
                  <a:srgbClr val="8E1B1B"/>
                </a:solidFill>
                <a:latin typeface="Inter" pitchFamily="34" charset="0"/>
                <a:ea typeface="Inter" pitchFamily="34" charset="-122"/>
                <a:cs typeface="Inter" pitchFamily="34" charset="-120"/>
              </a:rPr>
              <a:t>El orden importa: PRIMERO entregas, DESPUÉS marcas. Si marcas antes y la familia se va sin el regalo, el sistema dice que se entregó y nadie lo va a notar.</a:t>
            </a:r>
            <a:endParaRPr lang="en-US" sz="1500" dirty="0"/>
          </a:p>
        </p:txBody>
      </p:sp>
      <p:sp>
        <p:nvSpPr>
          <p:cNvPr id="9" name="Shape 7"/>
          <p:cNvSpPr/>
          <p:nvPr/>
        </p:nvSpPr>
        <p:spPr>
          <a:xfrm>
            <a:off x="8986225" y="484632"/>
            <a:ext cx="2629398" cy="5541264"/>
          </a:xfrm>
          <a:prstGeom prst="roundRect">
            <a:avLst>
              <a:gd name="adj" fmla="val 3478"/>
            </a:avLst>
          </a:prstGeom>
          <a:solidFill>
            <a:srgbClr val="FFFFFF"/>
          </a:solidFill>
          <a:ln w="12700">
            <a:solidFill>
              <a:srgbClr val="C9D6E3"/>
            </a:solidFill>
            <a:prstDash val="solid"/>
          </a:ln>
        </p:spPr>
      </p:sp>
      <p:pic>
        <p:nvPicPr>
          <p:cNvPr id="10" name="Image 0" descr="docs/presentacion/capturas/movil-07-entrega-entregado.png">    </p:cNvPr>
          <p:cNvPicPr>
            <a:picLocks noChangeAspect="1"/>
          </p:cNvPicPr>
          <p:nvPr/>
        </p:nvPicPr>
        <p:blipFill>
          <a:blip r:embed="rId1"/>
          <a:stretch>
            <a:fillRect/>
          </a:stretch>
        </p:blipFill>
        <p:spPr>
          <a:xfrm>
            <a:off x="9050233" y="548640"/>
            <a:ext cx="2501382" cy="5413248"/>
          </a:xfrm>
          <a:prstGeom prst="rect">
            <a:avLst/>
          </a:prstGeom>
        </p:spPr>
      </p:pic>
      <p:sp>
        <p:nvSpPr>
          <p:cNvPr id="11" name="Shape 8"/>
          <p:cNvSpPr/>
          <p:nvPr/>
        </p:nvSpPr>
        <p:spPr>
          <a:xfrm>
            <a:off x="0" y="6711696"/>
            <a:ext cx="3066212" cy="146304"/>
          </a:xfrm>
          <a:prstGeom prst="rect">
            <a:avLst/>
          </a:prstGeom>
          <a:solidFill>
            <a:srgbClr val="10B7CD"/>
          </a:solidFill>
          <a:ln/>
        </p:spPr>
      </p:sp>
      <p:sp>
        <p:nvSpPr>
          <p:cNvPr id="12" name="Shape 9"/>
          <p:cNvSpPr/>
          <p:nvPr/>
        </p:nvSpPr>
        <p:spPr>
          <a:xfrm>
            <a:off x="3047924" y="6711696"/>
            <a:ext cx="3066212" cy="146304"/>
          </a:xfrm>
          <a:prstGeom prst="rect">
            <a:avLst/>
          </a:prstGeom>
          <a:solidFill>
            <a:srgbClr val="E84141"/>
          </a:solidFill>
          <a:ln/>
        </p:spPr>
      </p:sp>
      <p:sp>
        <p:nvSpPr>
          <p:cNvPr id="13" name="Shape 10"/>
          <p:cNvSpPr/>
          <p:nvPr/>
        </p:nvSpPr>
        <p:spPr>
          <a:xfrm>
            <a:off x="6095848" y="6711696"/>
            <a:ext cx="3066212" cy="146304"/>
          </a:xfrm>
          <a:prstGeom prst="rect">
            <a:avLst/>
          </a:prstGeom>
          <a:solidFill>
            <a:srgbClr val="F8AB11"/>
          </a:solidFill>
          <a:ln/>
        </p:spPr>
      </p:sp>
      <p:sp>
        <p:nvSpPr>
          <p:cNvPr id="14" name="Shape 11"/>
          <p:cNvSpPr/>
          <p:nvPr/>
        </p:nvSpPr>
        <p:spPr>
          <a:xfrm>
            <a:off x="9143771" y="6711696"/>
            <a:ext cx="3047924" cy="146304"/>
          </a:xfrm>
          <a:prstGeom prst="rect">
            <a:avLst/>
          </a:prstGeom>
          <a:solidFill>
            <a:srgbClr val="8974B3"/>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BFB"/>
        </a:solidFill>
      </p:bgPr>
    </p:bg>
    <p:spTree>
      <p:nvGrpSpPr>
        <p:cNvPr id="1" name=""/>
        <p:cNvGrpSpPr/>
        <p:nvPr/>
      </p:nvGrpSpPr>
      <p:grpSpPr>
        <a:xfrm>
          <a:off x="0" y="0"/>
          <a:ext cx="0" cy="0"/>
          <a:chOff x="0" y="0"/>
          <a:chExt cx="0" cy="0"/>
        </a:xfrm>
      </p:grpSpPr>
      <p:sp>
        <p:nvSpPr>
          <p:cNvPr id="2" name="Text 0"/>
          <p:cNvSpPr/>
          <p:nvPr/>
        </p:nvSpPr>
        <p:spPr>
          <a:xfrm>
            <a:off x="640080" y="384048"/>
            <a:ext cx="10911535" cy="658368"/>
          </a:xfrm>
          <a:prstGeom prst="rect">
            <a:avLst/>
          </a:prstGeom>
          <a:noFill/>
          <a:ln/>
        </p:spPr>
        <p:txBody>
          <a:bodyPr wrap="square" lIns="0" tIns="0" rIns="0" bIns="0" rtlCol="0" anchor="t"/>
          <a:lstStyle/>
          <a:p>
            <a:pPr indent="0" marL="0">
              <a:buNone/>
            </a:pPr>
            <a:r>
              <a:rPr lang="en-US" sz="3000" b="1" dirty="0">
                <a:solidFill>
                  <a:srgbClr val="0B3A78"/>
                </a:solidFill>
                <a:latin typeface="Montserrat" pitchFamily="34" charset="0"/>
                <a:ea typeface="Montserrat" pitchFamily="34" charset="-122"/>
                <a:cs typeface="Montserrat" pitchFamily="34" charset="-120"/>
              </a:rPr>
              <a:t>Si sale pantalla ROJA</a:t>
            </a:r>
            <a:endParaRPr lang="en-US" sz="3000" dirty="0"/>
          </a:p>
        </p:txBody>
      </p:sp>
      <p:sp>
        <p:nvSpPr>
          <p:cNvPr id="3" name="Text 1"/>
          <p:cNvSpPr/>
          <p:nvPr/>
        </p:nvSpPr>
        <p:spPr>
          <a:xfrm>
            <a:off x="640080" y="1024128"/>
            <a:ext cx="10911535" cy="384048"/>
          </a:xfrm>
          <a:prstGeom prst="rect">
            <a:avLst/>
          </a:prstGeom>
          <a:noFill/>
          <a:ln/>
        </p:spPr>
        <p:txBody>
          <a:bodyPr wrap="square" lIns="0" tIns="0" rIns="0" bIns="0" rtlCol="0" anchor="t"/>
          <a:lstStyle/>
          <a:p>
            <a:pPr indent="0" marL="0">
              <a:buNone/>
            </a:pPr>
            <a:r>
              <a:rPr lang="en-US" sz="1500" dirty="0">
                <a:solidFill>
                  <a:srgbClr val="5A6472"/>
                </a:solidFill>
                <a:latin typeface="Inter" pitchFamily="34" charset="0"/>
                <a:ea typeface="Inter" pitchFamily="34" charset="-122"/>
                <a:cs typeface="Inter" pitchFamily="34" charset="-120"/>
              </a:rPr>
              <a:t>«Ya fue entregado»</a:t>
            </a:r>
            <a:endParaRPr lang="en-US" sz="1500" dirty="0"/>
          </a:p>
        </p:txBody>
      </p:sp>
      <p:sp>
        <p:nvSpPr>
          <p:cNvPr id="4" name="Shape 2"/>
          <p:cNvSpPr/>
          <p:nvPr/>
        </p:nvSpPr>
        <p:spPr>
          <a:xfrm>
            <a:off x="0" y="6711696"/>
            <a:ext cx="3066212" cy="146304"/>
          </a:xfrm>
          <a:prstGeom prst="rect">
            <a:avLst/>
          </a:prstGeom>
          <a:solidFill>
            <a:srgbClr val="10B7CD"/>
          </a:solidFill>
          <a:ln/>
        </p:spPr>
      </p:sp>
      <p:sp>
        <p:nvSpPr>
          <p:cNvPr id="5" name="Shape 3"/>
          <p:cNvSpPr/>
          <p:nvPr/>
        </p:nvSpPr>
        <p:spPr>
          <a:xfrm>
            <a:off x="3047924" y="6711696"/>
            <a:ext cx="3066212" cy="146304"/>
          </a:xfrm>
          <a:prstGeom prst="rect">
            <a:avLst/>
          </a:prstGeom>
          <a:solidFill>
            <a:srgbClr val="E84141"/>
          </a:solidFill>
          <a:ln/>
        </p:spPr>
      </p:sp>
      <p:sp>
        <p:nvSpPr>
          <p:cNvPr id="6" name="Shape 4"/>
          <p:cNvSpPr/>
          <p:nvPr/>
        </p:nvSpPr>
        <p:spPr>
          <a:xfrm>
            <a:off x="6095848" y="6711696"/>
            <a:ext cx="3066212" cy="146304"/>
          </a:xfrm>
          <a:prstGeom prst="rect">
            <a:avLst/>
          </a:prstGeom>
          <a:solidFill>
            <a:srgbClr val="F8AB11"/>
          </a:solidFill>
          <a:ln/>
        </p:spPr>
      </p:sp>
      <p:sp>
        <p:nvSpPr>
          <p:cNvPr id="7" name="Shape 5"/>
          <p:cNvSpPr/>
          <p:nvPr/>
        </p:nvSpPr>
        <p:spPr>
          <a:xfrm>
            <a:off x="9143771" y="6711696"/>
            <a:ext cx="3047924" cy="146304"/>
          </a:xfrm>
          <a:prstGeom prst="rect">
            <a:avLst/>
          </a:prstGeom>
          <a:solidFill>
            <a:srgbClr val="8974B3"/>
          </a:solidFill>
          <a:ln/>
        </p:spPr>
      </p:sp>
      <p:sp>
        <p:nvSpPr>
          <p:cNvPr id="8" name="Shape 6"/>
          <p:cNvSpPr/>
          <p:nvPr/>
        </p:nvSpPr>
        <p:spPr>
          <a:xfrm>
            <a:off x="640080" y="2907792"/>
            <a:ext cx="137160" cy="137160"/>
          </a:xfrm>
          <a:prstGeom prst="ellipse">
            <a:avLst/>
          </a:prstGeom>
          <a:solidFill>
            <a:srgbClr val="10B7CD"/>
          </a:solidFill>
          <a:ln/>
        </p:spPr>
      </p:sp>
      <p:sp>
        <p:nvSpPr>
          <p:cNvPr id="9" name="Text 7"/>
          <p:cNvSpPr/>
          <p:nvPr/>
        </p:nvSpPr>
        <p:spPr>
          <a:xfrm>
            <a:off x="932688" y="2825496"/>
            <a:ext cx="7849292" cy="274320"/>
          </a:xfrm>
          <a:prstGeom prst="rect">
            <a:avLst/>
          </a:prstGeom>
          <a:noFill/>
          <a:ln/>
        </p:spPr>
        <p:txBody>
          <a:bodyPr wrap="square" lIns="0" tIns="0" rIns="0" bIns="0" rtlCol="0" anchor="t"/>
          <a:lstStyle/>
          <a:p>
            <a:pPr indent="0" marL="0">
              <a:lnSpc>
                <a:spcPts val="2200"/>
              </a:lnSpc>
              <a:buNone/>
            </a:pPr>
            <a:r>
              <a:rPr lang="en-US" sz="1500" dirty="0">
                <a:solidFill>
                  <a:srgbClr val="333333"/>
                </a:solidFill>
                <a:latin typeface="Inter" pitchFamily="34" charset="0"/>
                <a:ea typeface="Inter" pitchFamily="34" charset="-122"/>
                <a:cs typeface="Inter" pitchFamily="34" charset="-120"/>
              </a:rPr>
              <a:t>Ese regalo ya se entregó antes</a:t>
            </a:r>
            <a:endParaRPr lang="en-US" sz="1500" dirty="0"/>
          </a:p>
        </p:txBody>
      </p:sp>
      <p:sp>
        <p:nvSpPr>
          <p:cNvPr id="10" name="Shape 8"/>
          <p:cNvSpPr/>
          <p:nvPr/>
        </p:nvSpPr>
        <p:spPr>
          <a:xfrm>
            <a:off x="640080" y="3493008"/>
            <a:ext cx="137160" cy="137160"/>
          </a:xfrm>
          <a:prstGeom prst="ellipse">
            <a:avLst/>
          </a:prstGeom>
          <a:solidFill>
            <a:srgbClr val="10B7CD"/>
          </a:solidFill>
          <a:ln/>
        </p:spPr>
      </p:sp>
      <p:sp>
        <p:nvSpPr>
          <p:cNvPr id="11" name="Text 9"/>
          <p:cNvSpPr/>
          <p:nvPr/>
        </p:nvSpPr>
        <p:spPr>
          <a:xfrm>
            <a:off x="932688" y="3410712"/>
            <a:ext cx="7849292" cy="274320"/>
          </a:xfrm>
          <a:prstGeom prst="rect">
            <a:avLst/>
          </a:prstGeom>
          <a:noFill/>
          <a:ln/>
        </p:spPr>
        <p:txBody>
          <a:bodyPr wrap="square" lIns="0" tIns="0" rIns="0" bIns="0" rtlCol="0" anchor="t"/>
          <a:lstStyle/>
          <a:p>
            <a:pPr indent="0" marL="0">
              <a:lnSpc>
                <a:spcPts val="2200"/>
              </a:lnSpc>
              <a:buNone/>
            </a:pPr>
            <a:r>
              <a:rPr lang="en-US" sz="1500" dirty="0">
                <a:solidFill>
                  <a:srgbClr val="333333"/>
                </a:solidFill>
                <a:latin typeface="Inter" pitchFamily="34" charset="0"/>
                <a:ea typeface="Inter" pitchFamily="34" charset="-122"/>
                <a:cs typeface="Inter" pitchFamily="34" charset="-120"/>
              </a:rPr>
              <a:t>La pantalla te dice cuándo se entregó y con qué cuenta</a:t>
            </a:r>
            <a:endParaRPr lang="en-US" sz="1500" dirty="0"/>
          </a:p>
        </p:txBody>
      </p:sp>
      <p:sp>
        <p:nvSpPr>
          <p:cNvPr id="12" name="Shape 10"/>
          <p:cNvSpPr/>
          <p:nvPr/>
        </p:nvSpPr>
        <p:spPr>
          <a:xfrm>
            <a:off x="640080" y="4078224"/>
            <a:ext cx="137160" cy="137160"/>
          </a:xfrm>
          <a:prstGeom prst="ellipse">
            <a:avLst/>
          </a:prstGeom>
          <a:solidFill>
            <a:srgbClr val="10B7CD"/>
          </a:solidFill>
          <a:ln/>
        </p:spPr>
      </p:sp>
      <p:sp>
        <p:nvSpPr>
          <p:cNvPr id="13" name="Text 11"/>
          <p:cNvSpPr/>
          <p:nvPr/>
        </p:nvSpPr>
        <p:spPr>
          <a:xfrm>
            <a:off x="932688" y="3995928"/>
            <a:ext cx="7849292" cy="274320"/>
          </a:xfrm>
          <a:prstGeom prst="rect">
            <a:avLst/>
          </a:prstGeom>
          <a:noFill/>
          <a:ln/>
        </p:spPr>
        <p:txBody>
          <a:bodyPr wrap="square" lIns="0" tIns="0" rIns="0" bIns="0" rtlCol="0" anchor="t"/>
          <a:lstStyle/>
          <a:p>
            <a:pPr indent="0" marL="0">
              <a:lnSpc>
                <a:spcPts val="2200"/>
              </a:lnSpc>
              <a:buNone/>
            </a:pPr>
            <a:r>
              <a:rPr lang="en-US" sz="1500" dirty="0">
                <a:solidFill>
                  <a:srgbClr val="333333"/>
                </a:solidFill>
                <a:latin typeface="Inter" pitchFamily="34" charset="0"/>
                <a:ea typeface="Inter" pitchFamily="34" charset="-122"/>
                <a:cs typeface="Inter" pitchFamily="34" charset="-120"/>
              </a:rPr>
              <a:t>NO entregues un segundo juguete</a:t>
            </a:r>
            <a:endParaRPr lang="en-US" sz="1500" dirty="0"/>
          </a:p>
        </p:txBody>
      </p:sp>
      <p:sp>
        <p:nvSpPr>
          <p:cNvPr id="14" name="Shape 12"/>
          <p:cNvSpPr/>
          <p:nvPr/>
        </p:nvSpPr>
        <p:spPr>
          <a:xfrm>
            <a:off x="640080" y="4663440"/>
            <a:ext cx="137160" cy="137160"/>
          </a:xfrm>
          <a:prstGeom prst="ellipse">
            <a:avLst/>
          </a:prstGeom>
          <a:solidFill>
            <a:srgbClr val="10B7CD"/>
          </a:solidFill>
          <a:ln/>
        </p:spPr>
      </p:sp>
      <p:sp>
        <p:nvSpPr>
          <p:cNvPr id="15" name="Text 13"/>
          <p:cNvSpPr/>
          <p:nvPr/>
        </p:nvSpPr>
        <p:spPr>
          <a:xfrm>
            <a:off x="932688" y="4581144"/>
            <a:ext cx="7849292" cy="274320"/>
          </a:xfrm>
          <a:prstGeom prst="rect">
            <a:avLst/>
          </a:prstGeom>
          <a:noFill/>
          <a:ln/>
        </p:spPr>
        <p:txBody>
          <a:bodyPr wrap="square" lIns="0" tIns="0" rIns="0" bIns="0" rtlCol="0" anchor="t"/>
          <a:lstStyle/>
          <a:p>
            <a:pPr indent="0" marL="0">
              <a:lnSpc>
                <a:spcPts val="2200"/>
              </a:lnSpc>
              <a:buNone/>
            </a:pPr>
            <a:r>
              <a:rPr lang="en-US" sz="1500" dirty="0">
                <a:solidFill>
                  <a:srgbClr val="333333"/>
                </a:solidFill>
                <a:latin typeface="Inter" pitchFamily="34" charset="0"/>
                <a:ea typeface="Inter" pitchFamily="34" charset="-122"/>
                <a:cs typeface="Inter" pitchFamily="34" charset="-120"/>
              </a:rPr>
              <a:t>Explica con calma y llama al coordinador</a:t>
            </a:r>
            <a:endParaRPr lang="en-US" sz="1500" dirty="0"/>
          </a:p>
        </p:txBody>
      </p:sp>
      <p:sp>
        <p:nvSpPr>
          <p:cNvPr id="16" name="Shape 14"/>
          <p:cNvSpPr/>
          <p:nvPr/>
        </p:nvSpPr>
        <p:spPr>
          <a:xfrm>
            <a:off x="9367196" y="1481328"/>
            <a:ext cx="2239283" cy="4718304"/>
          </a:xfrm>
          <a:prstGeom prst="roundRect">
            <a:avLst>
              <a:gd name="adj" fmla="val 1633"/>
            </a:avLst>
          </a:prstGeom>
          <a:solidFill>
            <a:srgbClr val="FFFFFF"/>
          </a:solidFill>
          <a:ln w="12700">
            <a:solidFill>
              <a:srgbClr val="D9E2EC"/>
            </a:solidFill>
            <a:prstDash val="solid"/>
          </a:ln>
        </p:spPr>
      </p:sp>
      <p:pic>
        <p:nvPicPr>
          <p:cNvPr id="17" name="Image 0" descr="docs/presentacion/recursos/ins-op-03-ya-entregado.png">    </p:cNvPr>
          <p:cNvPicPr>
            <a:picLocks noChangeAspect="1"/>
          </p:cNvPicPr>
          <p:nvPr/>
        </p:nvPicPr>
        <p:blipFill>
          <a:blip r:embed="rId1"/>
          <a:stretch>
            <a:fillRect/>
          </a:stretch>
        </p:blipFill>
        <p:spPr>
          <a:xfrm>
            <a:off x="9422060" y="1536192"/>
            <a:ext cx="2129555" cy="460857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BFB"/>
        </a:solidFill>
      </p:bgPr>
    </p:bg>
    <p:spTree>
      <p:nvGrpSpPr>
        <p:cNvPr id="1" name=""/>
        <p:cNvGrpSpPr/>
        <p:nvPr/>
      </p:nvGrpSpPr>
      <p:grpSpPr>
        <a:xfrm>
          <a:off x="0" y="0"/>
          <a:ext cx="0" cy="0"/>
          <a:chOff x="0" y="0"/>
          <a:chExt cx="0" cy="0"/>
        </a:xfrm>
      </p:grpSpPr>
      <p:sp>
        <p:nvSpPr>
          <p:cNvPr id="2" name="Text 0"/>
          <p:cNvSpPr/>
          <p:nvPr/>
        </p:nvSpPr>
        <p:spPr>
          <a:xfrm>
            <a:off x="640080" y="384048"/>
            <a:ext cx="10911535" cy="658368"/>
          </a:xfrm>
          <a:prstGeom prst="rect">
            <a:avLst/>
          </a:prstGeom>
          <a:noFill/>
          <a:ln/>
        </p:spPr>
        <p:txBody>
          <a:bodyPr wrap="square" lIns="0" tIns="0" rIns="0" bIns="0" rtlCol="0" anchor="t"/>
          <a:lstStyle/>
          <a:p>
            <a:pPr indent="0" marL="0">
              <a:buNone/>
            </a:pPr>
            <a:r>
              <a:rPr lang="en-US" sz="3000" b="1" dirty="0">
                <a:solidFill>
                  <a:srgbClr val="0B3A78"/>
                </a:solidFill>
                <a:latin typeface="Montserrat" pitchFamily="34" charset="0"/>
                <a:ea typeface="Montserrat" pitchFamily="34" charset="-122"/>
                <a:cs typeface="Montserrat" pitchFamily="34" charset="-120"/>
              </a:rPr>
              <a:t>Si dice OTRA CARPA</a:t>
            </a:r>
            <a:endParaRPr lang="en-US" sz="3000" dirty="0"/>
          </a:p>
        </p:txBody>
      </p:sp>
      <p:sp>
        <p:nvSpPr>
          <p:cNvPr id="3" name="Text 1"/>
          <p:cNvSpPr/>
          <p:nvPr/>
        </p:nvSpPr>
        <p:spPr>
          <a:xfrm>
            <a:off x="640080" y="1024128"/>
            <a:ext cx="10911535" cy="384048"/>
          </a:xfrm>
          <a:prstGeom prst="rect">
            <a:avLst/>
          </a:prstGeom>
          <a:noFill/>
          <a:ln/>
        </p:spPr>
        <p:txBody>
          <a:bodyPr wrap="square" lIns="0" tIns="0" rIns="0" bIns="0" rtlCol="0" anchor="t"/>
          <a:lstStyle/>
          <a:p>
            <a:pPr indent="0" marL="0">
              <a:buNone/>
            </a:pPr>
            <a:r>
              <a:rPr lang="en-US" sz="1500" dirty="0">
                <a:solidFill>
                  <a:srgbClr val="5A6472"/>
                </a:solidFill>
                <a:latin typeface="Inter" pitchFamily="34" charset="0"/>
                <a:ea typeface="Inter" pitchFamily="34" charset="-122"/>
                <a:cs typeface="Inter" pitchFamily="34" charset="-120"/>
              </a:rPr>
              <a:t>Puedes entregarlo igual</a:t>
            </a:r>
            <a:endParaRPr lang="en-US" sz="1500" dirty="0"/>
          </a:p>
        </p:txBody>
      </p:sp>
      <p:sp>
        <p:nvSpPr>
          <p:cNvPr id="4" name="Shape 2"/>
          <p:cNvSpPr/>
          <p:nvPr/>
        </p:nvSpPr>
        <p:spPr>
          <a:xfrm>
            <a:off x="0" y="6711696"/>
            <a:ext cx="3066212" cy="146304"/>
          </a:xfrm>
          <a:prstGeom prst="rect">
            <a:avLst/>
          </a:prstGeom>
          <a:solidFill>
            <a:srgbClr val="10B7CD"/>
          </a:solidFill>
          <a:ln/>
        </p:spPr>
      </p:sp>
      <p:sp>
        <p:nvSpPr>
          <p:cNvPr id="5" name="Shape 3"/>
          <p:cNvSpPr/>
          <p:nvPr/>
        </p:nvSpPr>
        <p:spPr>
          <a:xfrm>
            <a:off x="3047924" y="6711696"/>
            <a:ext cx="3066212" cy="146304"/>
          </a:xfrm>
          <a:prstGeom prst="rect">
            <a:avLst/>
          </a:prstGeom>
          <a:solidFill>
            <a:srgbClr val="E84141"/>
          </a:solidFill>
          <a:ln/>
        </p:spPr>
      </p:sp>
      <p:sp>
        <p:nvSpPr>
          <p:cNvPr id="6" name="Shape 4"/>
          <p:cNvSpPr/>
          <p:nvPr/>
        </p:nvSpPr>
        <p:spPr>
          <a:xfrm>
            <a:off x="6095848" y="6711696"/>
            <a:ext cx="3066212" cy="146304"/>
          </a:xfrm>
          <a:prstGeom prst="rect">
            <a:avLst/>
          </a:prstGeom>
          <a:solidFill>
            <a:srgbClr val="F8AB11"/>
          </a:solidFill>
          <a:ln/>
        </p:spPr>
      </p:sp>
      <p:sp>
        <p:nvSpPr>
          <p:cNvPr id="7" name="Shape 5"/>
          <p:cNvSpPr/>
          <p:nvPr/>
        </p:nvSpPr>
        <p:spPr>
          <a:xfrm>
            <a:off x="9143771" y="6711696"/>
            <a:ext cx="3047924" cy="146304"/>
          </a:xfrm>
          <a:prstGeom prst="rect">
            <a:avLst/>
          </a:prstGeom>
          <a:solidFill>
            <a:srgbClr val="8974B3"/>
          </a:solidFill>
          <a:ln/>
        </p:spPr>
      </p:sp>
      <p:sp>
        <p:nvSpPr>
          <p:cNvPr id="8" name="Shape 6"/>
          <p:cNvSpPr/>
          <p:nvPr/>
        </p:nvSpPr>
        <p:spPr>
          <a:xfrm>
            <a:off x="640080" y="2907792"/>
            <a:ext cx="137160" cy="137160"/>
          </a:xfrm>
          <a:prstGeom prst="ellipse">
            <a:avLst/>
          </a:prstGeom>
          <a:solidFill>
            <a:srgbClr val="10B7CD"/>
          </a:solidFill>
          <a:ln/>
        </p:spPr>
      </p:sp>
      <p:sp>
        <p:nvSpPr>
          <p:cNvPr id="9" name="Text 7"/>
          <p:cNvSpPr/>
          <p:nvPr/>
        </p:nvSpPr>
        <p:spPr>
          <a:xfrm>
            <a:off x="932688" y="2825496"/>
            <a:ext cx="7849292" cy="274320"/>
          </a:xfrm>
          <a:prstGeom prst="rect">
            <a:avLst/>
          </a:prstGeom>
          <a:noFill/>
          <a:ln/>
        </p:spPr>
        <p:txBody>
          <a:bodyPr wrap="square" lIns="0" tIns="0" rIns="0" bIns="0" rtlCol="0" anchor="t"/>
          <a:lstStyle/>
          <a:p>
            <a:pPr indent="0" marL="0">
              <a:lnSpc>
                <a:spcPts val="2200"/>
              </a:lnSpc>
              <a:buNone/>
            </a:pPr>
            <a:r>
              <a:rPr lang="en-US" sz="1500" dirty="0">
                <a:solidFill>
                  <a:srgbClr val="333333"/>
                </a:solidFill>
                <a:latin typeface="Inter" pitchFamily="34" charset="0"/>
                <a:ea typeface="Inter" pitchFamily="34" charset="-122"/>
                <a:cs typeface="Inter" pitchFamily="34" charset="-120"/>
              </a:rPr>
              <a:t>Si tienes ese juguete en tu carpa, entrégalo</a:t>
            </a:r>
            <a:endParaRPr lang="en-US" sz="1500" dirty="0"/>
          </a:p>
        </p:txBody>
      </p:sp>
      <p:sp>
        <p:nvSpPr>
          <p:cNvPr id="10" name="Shape 8"/>
          <p:cNvSpPr/>
          <p:nvPr/>
        </p:nvSpPr>
        <p:spPr>
          <a:xfrm>
            <a:off x="640080" y="3493008"/>
            <a:ext cx="137160" cy="137160"/>
          </a:xfrm>
          <a:prstGeom prst="ellipse">
            <a:avLst/>
          </a:prstGeom>
          <a:solidFill>
            <a:srgbClr val="10B7CD"/>
          </a:solidFill>
          <a:ln/>
        </p:spPr>
      </p:sp>
      <p:sp>
        <p:nvSpPr>
          <p:cNvPr id="11" name="Text 9"/>
          <p:cNvSpPr/>
          <p:nvPr/>
        </p:nvSpPr>
        <p:spPr>
          <a:xfrm>
            <a:off x="932688" y="3410712"/>
            <a:ext cx="7849292" cy="274320"/>
          </a:xfrm>
          <a:prstGeom prst="rect">
            <a:avLst/>
          </a:prstGeom>
          <a:noFill/>
          <a:ln/>
        </p:spPr>
        <p:txBody>
          <a:bodyPr wrap="square" lIns="0" tIns="0" rIns="0" bIns="0" rtlCol="0" anchor="t"/>
          <a:lstStyle/>
          <a:p>
            <a:pPr indent="0" marL="0">
              <a:lnSpc>
                <a:spcPts val="2200"/>
              </a:lnSpc>
              <a:buNone/>
            </a:pPr>
            <a:r>
              <a:rPr lang="en-US" sz="1500" dirty="0">
                <a:solidFill>
                  <a:srgbClr val="333333"/>
                </a:solidFill>
                <a:latin typeface="Inter" pitchFamily="34" charset="0"/>
                <a:ea typeface="Inter" pitchFamily="34" charset="-122"/>
                <a:cs typeface="Inter" pitchFamily="34" charset="-120"/>
              </a:rPr>
              <a:t>No devuelvas a la familia a hacer otra fila</a:t>
            </a:r>
            <a:endParaRPr lang="en-US" sz="1500" dirty="0"/>
          </a:p>
        </p:txBody>
      </p:sp>
      <p:sp>
        <p:nvSpPr>
          <p:cNvPr id="12" name="Shape 10"/>
          <p:cNvSpPr/>
          <p:nvPr/>
        </p:nvSpPr>
        <p:spPr>
          <a:xfrm>
            <a:off x="640080" y="4078224"/>
            <a:ext cx="137160" cy="137160"/>
          </a:xfrm>
          <a:prstGeom prst="ellipse">
            <a:avLst/>
          </a:prstGeom>
          <a:solidFill>
            <a:srgbClr val="10B7CD"/>
          </a:solidFill>
          <a:ln/>
        </p:spPr>
      </p:sp>
      <p:sp>
        <p:nvSpPr>
          <p:cNvPr id="13" name="Text 11"/>
          <p:cNvSpPr/>
          <p:nvPr/>
        </p:nvSpPr>
        <p:spPr>
          <a:xfrm>
            <a:off x="932688" y="3995928"/>
            <a:ext cx="7849292" cy="274320"/>
          </a:xfrm>
          <a:prstGeom prst="rect">
            <a:avLst/>
          </a:prstGeom>
          <a:noFill/>
          <a:ln/>
        </p:spPr>
        <p:txBody>
          <a:bodyPr wrap="square" lIns="0" tIns="0" rIns="0" bIns="0" rtlCol="0" anchor="t"/>
          <a:lstStyle/>
          <a:p>
            <a:pPr indent="0" marL="0">
              <a:lnSpc>
                <a:spcPts val="2200"/>
              </a:lnSpc>
              <a:buNone/>
            </a:pPr>
            <a:r>
              <a:rPr lang="en-US" sz="1500" dirty="0">
                <a:solidFill>
                  <a:srgbClr val="333333"/>
                </a:solidFill>
                <a:latin typeface="Inter" pitchFamily="34" charset="0"/>
                <a:ea typeface="Inter" pitchFamily="34" charset="-122"/>
                <a:cs typeface="Inter" pitchFamily="34" charset="-120"/>
              </a:rPr>
              <a:t>El sistema lo registra como entrega fuera de carpa</a:t>
            </a:r>
            <a:endParaRPr lang="en-US" sz="1500" dirty="0"/>
          </a:p>
        </p:txBody>
      </p:sp>
      <p:sp>
        <p:nvSpPr>
          <p:cNvPr id="14" name="Shape 12"/>
          <p:cNvSpPr/>
          <p:nvPr/>
        </p:nvSpPr>
        <p:spPr>
          <a:xfrm>
            <a:off x="640080" y="4663440"/>
            <a:ext cx="137160" cy="137160"/>
          </a:xfrm>
          <a:prstGeom prst="ellipse">
            <a:avLst/>
          </a:prstGeom>
          <a:solidFill>
            <a:srgbClr val="10B7CD"/>
          </a:solidFill>
          <a:ln/>
        </p:spPr>
      </p:sp>
      <p:sp>
        <p:nvSpPr>
          <p:cNvPr id="15" name="Text 13"/>
          <p:cNvSpPr/>
          <p:nvPr/>
        </p:nvSpPr>
        <p:spPr>
          <a:xfrm>
            <a:off x="932688" y="4581144"/>
            <a:ext cx="7849292" cy="274320"/>
          </a:xfrm>
          <a:prstGeom prst="rect">
            <a:avLst/>
          </a:prstGeom>
          <a:noFill/>
          <a:ln/>
        </p:spPr>
        <p:txBody>
          <a:bodyPr wrap="square" lIns="0" tIns="0" rIns="0" bIns="0" rtlCol="0" anchor="t"/>
          <a:lstStyle/>
          <a:p>
            <a:pPr indent="0" marL="0">
              <a:lnSpc>
                <a:spcPts val="2200"/>
              </a:lnSpc>
              <a:buNone/>
            </a:pPr>
            <a:r>
              <a:rPr lang="en-US" sz="1500" dirty="0">
                <a:solidFill>
                  <a:srgbClr val="333333"/>
                </a:solidFill>
                <a:latin typeface="Inter" pitchFamily="34" charset="0"/>
                <a:ea typeface="Inter" pitchFamily="34" charset="-122"/>
                <a:cs typeface="Inter" pitchFamily="34" charset="-120"/>
              </a:rPr>
              <a:t>El conteo se cuadra después, no en el momento</a:t>
            </a:r>
            <a:endParaRPr lang="en-US" sz="1500" dirty="0"/>
          </a:p>
        </p:txBody>
      </p:sp>
      <p:sp>
        <p:nvSpPr>
          <p:cNvPr id="16" name="Shape 14"/>
          <p:cNvSpPr/>
          <p:nvPr/>
        </p:nvSpPr>
        <p:spPr>
          <a:xfrm>
            <a:off x="9367196" y="1481328"/>
            <a:ext cx="2239283" cy="4718304"/>
          </a:xfrm>
          <a:prstGeom prst="roundRect">
            <a:avLst>
              <a:gd name="adj" fmla="val 1633"/>
            </a:avLst>
          </a:prstGeom>
          <a:solidFill>
            <a:srgbClr val="FFFFFF"/>
          </a:solidFill>
          <a:ln w="12700">
            <a:solidFill>
              <a:srgbClr val="D9E2EC"/>
            </a:solidFill>
            <a:prstDash val="solid"/>
          </a:ln>
        </p:spPr>
      </p:sp>
      <p:pic>
        <p:nvPicPr>
          <p:cNvPr id="17" name="Image 0" descr="docs/presentacion/recursos/ins-op-04-otra-carpa.png">    </p:cNvPr>
          <p:cNvPicPr>
            <a:picLocks noChangeAspect="1"/>
          </p:cNvPicPr>
          <p:nvPr/>
        </p:nvPicPr>
        <p:blipFill>
          <a:blip r:embed="rId1"/>
          <a:stretch>
            <a:fillRect/>
          </a:stretch>
        </p:blipFill>
        <p:spPr>
          <a:xfrm>
            <a:off x="9422060" y="1536192"/>
            <a:ext cx="2129555" cy="460857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BFB"/>
        </a:solidFill>
      </p:bgPr>
    </p:bg>
    <p:spTree>
      <p:nvGrpSpPr>
        <p:cNvPr id="1" name=""/>
        <p:cNvGrpSpPr/>
        <p:nvPr/>
      </p:nvGrpSpPr>
      <p:grpSpPr>
        <a:xfrm>
          <a:off x="0" y="0"/>
          <a:ext cx="0" cy="0"/>
          <a:chOff x="0" y="0"/>
          <a:chExt cx="0" cy="0"/>
        </a:xfrm>
      </p:grpSpPr>
      <p:sp>
        <p:nvSpPr>
          <p:cNvPr id="2" name="Text 0"/>
          <p:cNvSpPr/>
          <p:nvPr/>
        </p:nvSpPr>
        <p:spPr>
          <a:xfrm>
            <a:off x="640080" y="384048"/>
            <a:ext cx="10911535" cy="658368"/>
          </a:xfrm>
          <a:prstGeom prst="rect">
            <a:avLst/>
          </a:prstGeom>
          <a:noFill/>
          <a:ln/>
        </p:spPr>
        <p:txBody>
          <a:bodyPr wrap="square" lIns="0" tIns="0" rIns="0" bIns="0" rtlCol="0" anchor="t"/>
          <a:lstStyle/>
          <a:p>
            <a:pPr indent="0" marL="0">
              <a:buNone/>
            </a:pPr>
            <a:r>
              <a:rPr lang="en-US" sz="3000" b="1" dirty="0">
                <a:solidFill>
                  <a:srgbClr val="0B3A78"/>
                </a:solidFill>
                <a:latin typeface="Montserrat" pitchFamily="34" charset="0"/>
                <a:ea typeface="Montserrat" pitchFamily="34" charset="-122"/>
                <a:cs typeface="Montserrat" pitchFamily="34" charset="-120"/>
              </a:rPr>
              <a:t>Si algo falla</a:t>
            </a:r>
            <a:endParaRPr lang="en-US" sz="3000" dirty="0"/>
          </a:p>
        </p:txBody>
      </p:sp>
      <p:sp>
        <p:nvSpPr>
          <p:cNvPr id="3" name="Text 1"/>
          <p:cNvSpPr/>
          <p:nvPr/>
        </p:nvSpPr>
        <p:spPr>
          <a:xfrm>
            <a:off x="640080" y="1024128"/>
            <a:ext cx="10911535" cy="384048"/>
          </a:xfrm>
          <a:prstGeom prst="rect">
            <a:avLst/>
          </a:prstGeom>
          <a:noFill/>
          <a:ln/>
        </p:spPr>
        <p:txBody>
          <a:bodyPr wrap="square" lIns="0" tIns="0" rIns="0" bIns="0" rtlCol="0" anchor="t"/>
          <a:lstStyle/>
          <a:p>
            <a:pPr indent="0" marL="0">
              <a:buNone/>
            </a:pPr>
            <a:r>
              <a:rPr lang="en-US" sz="1500" dirty="0">
                <a:solidFill>
                  <a:srgbClr val="5A6472"/>
                </a:solidFill>
                <a:latin typeface="Inter" pitchFamily="34" charset="0"/>
                <a:ea typeface="Inter" pitchFamily="34" charset="-122"/>
                <a:cs typeface="Inter" pitchFamily="34" charset="-120"/>
              </a:rPr>
              <a:t>Qué hacer y a quién llamar</a:t>
            </a:r>
            <a:endParaRPr lang="en-US" sz="1500" dirty="0"/>
          </a:p>
        </p:txBody>
      </p:sp>
      <p:sp>
        <p:nvSpPr>
          <p:cNvPr id="4" name="Shape 2"/>
          <p:cNvSpPr/>
          <p:nvPr/>
        </p:nvSpPr>
        <p:spPr>
          <a:xfrm>
            <a:off x="0" y="6711696"/>
            <a:ext cx="3066212" cy="146304"/>
          </a:xfrm>
          <a:prstGeom prst="rect">
            <a:avLst/>
          </a:prstGeom>
          <a:solidFill>
            <a:srgbClr val="10B7CD"/>
          </a:solidFill>
          <a:ln/>
        </p:spPr>
      </p:sp>
      <p:sp>
        <p:nvSpPr>
          <p:cNvPr id="5" name="Shape 3"/>
          <p:cNvSpPr/>
          <p:nvPr/>
        </p:nvSpPr>
        <p:spPr>
          <a:xfrm>
            <a:off x="3047924" y="6711696"/>
            <a:ext cx="3066212" cy="146304"/>
          </a:xfrm>
          <a:prstGeom prst="rect">
            <a:avLst/>
          </a:prstGeom>
          <a:solidFill>
            <a:srgbClr val="E84141"/>
          </a:solidFill>
          <a:ln/>
        </p:spPr>
      </p:sp>
      <p:sp>
        <p:nvSpPr>
          <p:cNvPr id="6" name="Shape 4"/>
          <p:cNvSpPr/>
          <p:nvPr/>
        </p:nvSpPr>
        <p:spPr>
          <a:xfrm>
            <a:off x="6095848" y="6711696"/>
            <a:ext cx="3066212" cy="146304"/>
          </a:xfrm>
          <a:prstGeom prst="rect">
            <a:avLst/>
          </a:prstGeom>
          <a:solidFill>
            <a:srgbClr val="F8AB11"/>
          </a:solidFill>
          <a:ln/>
        </p:spPr>
      </p:sp>
      <p:sp>
        <p:nvSpPr>
          <p:cNvPr id="7" name="Shape 5"/>
          <p:cNvSpPr/>
          <p:nvPr/>
        </p:nvSpPr>
        <p:spPr>
          <a:xfrm>
            <a:off x="9143771" y="6711696"/>
            <a:ext cx="3047924" cy="146304"/>
          </a:xfrm>
          <a:prstGeom prst="rect">
            <a:avLst/>
          </a:prstGeom>
          <a:solidFill>
            <a:srgbClr val="8974B3"/>
          </a:solidFill>
          <a:ln/>
        </p:spPr>
      </p:sp>
      <p:sp>
        <p:nvSpPr>
          <p:cNvPr id="8" name="Shape 6"/>
          <p:cNvSpPr/>
          <p:nvPr/>
        </p:nvSpPr>
        <p:spPr>
          <a:xfrm>
            <a:off x="640080" y="1536192"/>
            <a:ext cx="5227168" cy="1377696"/>
          </a:xfrm>
          <a:prstGeom prst="roundRect">
            <a:avLst>
              <a:gd name="adj" fmla="val 3982"/>
            </a:avLst>
          </a:prstGeom>
          <a:solidFill>
            <a:srgbClr val="FFFFFF"/>
          </a:solidFill>
          <a:ln w="12700">
            <a:solidFill>
              <a:srgbClr val="D9E2EC"/>
            </a:solidFill>
            <a:prstDash val="solid"/>
          </a:ln>
        </p:spPr>
      </p:sp>
      <p:sp>
        <p:nvSpPr>
          <p:cNvPr id="9" name="Shape 7"/>
          <p:cNvSpPr/>
          <p:nvPr/>
        </p:nvSpPr>
        <p:spPr>
          <a:xfrm>
            <a:off x="640080" y="1536192"/>
            <a:ext cx="64008" cy="1377696"/>
          </a:xfrm>
          <a:prstGeom prst="rect">
            <a:avLst/>
          </a:prstGeom>
          <a:solidFill>
            <a:srgbClr val="E84141"/>
          </a:solidFill>
          <a:ln/>
        </p:spPr>
      </p:sp>
      <p:sp>
        <p:nvSpPr>
          <p:cNvPr id="10" name="Text 8"/>
          <p:cNvSpPr/>
          <p:nvPr/>
        </p:nvSpPr>
        <p:spPr>
          <a:xfrm>
            <a:off x="914400" y="1737360"/>
            <a:ext cx="4678528" cy="294640"/>
          </a:xfrm>
          <a:prstGeom prst="rect">
            <a:avLst/>
          </a:prstGeom>
          <a:noFill/>
          <a:ln/>
        </p:spPr>
        <p:txBody>
          <a:bodyPr wrap="square" lIns="0" tIns="0" rIns="0" bIns="0" rtlCol="0" anchor="t"/>
          <a:lstStyle/>
          <a:p>
            <a:pPr indent="0" marL="0">
              <a:buNone/>
            </a:pPr>
            <a:r>
              <a:rPr lang="en-US" sz="1600" b="1" dirty="0">
                <a:solidFill>
                  <a:srgbClr val="0B3A78"/>
                </a:solidFill>
                <a:latin typeface="Montserrat" pitchFamily="34" charset="0"/>
                <a:ea typeface="Montserrat" pitchFamily="34" charset="-122"/>
                <a:cs typeface="Montserrat" pitchFamily="34" charset="-120"/>
              </a:rPr>
              <a:t>No hay señal</a:t>
            </a:r>
            <a:endParaRPr lang="en-US" sz="1600" dirty="0"/>
          </a:p>
        </p:txBody>
      </p:sp>
      <p:sp>
        <p:nvSpPr>
          <p:cNvPr id="11" name="Text 9"/>
          <p:cNvSpPr/>
          <p:nvPr/>
        </p:nvSpPr>
        <p:spPr>
          <a:xfrm>
            <a:off x="914400" y="2105152"/>
            <a:ext cx="4678528" cy="699008"/>
          </a:xfrm>
          <a:prstGeom prst="rect">
            <a:avLst/>
          </a:prstGeom>
          <a:noFill/>
          <a:ln/>
        </p:spPr>
        <p:txBody>
          <a:bodyPr wrap="square" lIns="0" tIns="0" rIns="0" bIns="0" rtlCol="0" anchor="t"/>
          <a:lstStyle/>
          <a:p>
            <a:pPr indent="0" marL="0">
              <a:lnSpc>
                <a:spcPts val="1800"/>
              </a:lnSpc>
              <a:buNone/>
            </a:pPr>
            <a:r>
              <a:rPr lang="en-US" sz="1300" dirty="0">
                <a:solidFill>
                  <a:srgbClr val="5A6472"/>
                </a:solidFill>
                <a:latin typeface="Inter" pitchFamily="34" charset="0"/>
                <a:ea typeface="Inter" pitchFamily="34" charset="-122"/>
                <a:cs typeface="Inter" pitchFamily="34" charset="-120"/>
              </a:rPr>
              <a:t>No se puede registrar sin conexión. Usa el listado impreso de tu carpa, anota el código y avisa al coordinador.</a:t>
            </a:r>
            <a:endParaRPr lang="en-US" sz="1300" dirty="0"/>
          </a:p>
        </p:txBody>
      </p:sp>
      <p:sp>
        <p:nvSpPr>
          <p:cNvPr id="12" name="Shape 10"/>
          <p:cNvSpPr/>
          <p:nvPr/>
        </p:nvSpPr>
        <p:spPr>
          <a:xfrm>
            <a:off x="6324448" y="1536192"/>
            <a:ext cx="5227168" cy="1377696"/>
          </a:xfrm>
          <a:prstGeom prst="roundRect">
            <a:avLst>
              <a:gd name="adj" fmla="val 3982"/>
            </a:avLst>
          </a:prstGeom>
          <a:solidFill>
            <a:srgbClr val="FFFFFF"/>
          </a:solidFill>
          <a:ln w="12700">
            <a:solidFill>
              <a:srgbClr val="D9E2EC"/>
            </a:solidFill>
            <a:prstDash val="solid"/>
          </a:ln>
        </p:spPr>
      </p:sp>
      <p:sp>
        <p:nvSpPr>
          <p:cNvPr id="13" name="Shape 11"/>
          <p:cNvSpPr/>
          <p:nvPr/>
        </p:nvSpPr>
        <p:spPr>
          <a:xfrm>
            <a:off x="6324448" y="1536192"/>
            <a:ext cx="64008" cy="1377696"/>
          </a:xfrm>
          <a:prstGeom prst="rect">
            <a:avLst/>
          </a:prstGeom>
          <a:solidFill>
            <a:srgbClr val="E84141"/>
          </a:solidFill>
          <a:ln/>
        </p:spPr>
      </p:sp>
      <p:sp>
        <p:nvSpPr>
          <p:cNvPr id="14" name="Text 12"/>
          <p:cNvSpPr/>
          <p:nvPr/>
        </p:nvSpPr>
        <p:spPr>
          <a:xfrm>
            <a:off x="6598768" y="1737360"/>
            <a:ext cx="4678528" cy="294640"/>
          </a:xfrm>
          <a:prstGeom prst="rect">
            <a:avLst/>
          </a:prstGeom>
          <a:noFill/>
          <a:ln/>
        </p:spPr>
        <p:txBody>
          <a:bodyPr wrap="square" lIns="0" tIns="0" rIns="0" bIns="0" rtlCol="0" anchor="t"/>
          <a:lstStyle/>
          <a:p>
            <a:pPr indent="0" marL="0">
              <a:buNone/>
            </a:pPr>
            <a:r>
              <a:rPr lang="en-US" sz="1600" b="1" dirty="0">
                <a:solidFill>
                  <a:srgbClr val="0B3A78"/>
                </a:solidFill>
                <a:latin typeface="Montserrat" pitchFamily="34" charset="0"/>
                <a:ea typeface="Montserrat" pitchFamily="34" charset="-122"/>
                <a:cs typeface="Montserrat" pitchFamily="34" charset="-120"/>
              </a:rPr>
              <a:t>El código no existe</a:t>
            </a:r>
            <a:endParaRPr lang="en-US" sz="1600" dirty="0"/>
          </a:p>
        </p:txBody>
      </p:sp>
      <p:sp>
        <p:nvSpPr>
          <p:cNvPr id="15" name="Text 13"/>
          <p:cNvSpPr/>
          <p:nvPr/>
        </p:nvSpPr>
        <p:spPr>
          <a:xfrm>
            <a:off x="6598768" y="2105152"/>
            <a:ext cx="4678528" cy="699008"/>
          </a:xfrm>
          <a:prstGeom prst="rect">
            <a:avLst/>
          </a:prstGeom>
          <a:noFill/>
          <a:ln/>
        </p:spPr>
        <p:txBody>
          <a:bodyPr wrap="square" lIns="0" tIns="0" rIns="0" bIns="0" rtlCol="0" anchor="t"/>
          <a:lstStyle/>
          <a:p>
            <a:pPr indent="0" marL="0">
              <a:lnSpc>
                <a:spcPts val="1800"/>
              </a:lnSpc>
              <a:buNone/>
            </a:pPr>
            <a:r>
              <a:rPr lang="en-US" sz="1300" dirty="0">
                <a:solidFill>
                  <a:srgbClr val="5A6472"/>
                </a:solidFill>
                <a:latin typeface="Inter" pitchFamily="34" charset="0"/>
                <a:ea typeface="Inter" pitchFamily="34" charset="-122"/>
                <a:cs typeface="Inter" pitchFamily="34" charset="-120"/>
              </a:rPr>
              <a:t>Verifica que esté bien escrito. Si sigue igual, al coordinador.</a:t>
            </a:r>
            <a:endParaRPr lang="en-US" sz="1300" dirty="0"/>
          </a:p>
        </p:txBody>
      </p:sp>
      <p:sp>
        <p:nvSpPr>
          <p:cNvPr id="16" name="Shape 14"/>
          <p:cNvSpPr/>
          <p:nvPr/>
        </p:nvSpPr>
        <p:spPr>
          <a:xfrm>
            <a:off x="640080" y="3151632"/>
            <a:ext cx="5227168" cy="1377696"/>
          </a:xfrm>
          <a:prstGeom prst="roundRect">
            <a:avLst>
              <a:gd name="adj" fmla="val 3982"/>
            </a:avLst>
          </a:prstGeom>
          <a:solidFill>
            <a:srgbClr val="FFFFFF"/>
          </a:solidFill>
          <a:ln w="12700">
            <a:solidFill>
              <a:srgbClr val="D9E2EC"/>
            </a:solidFill>
            <a:prstDash val="solid"/>
          </a:ln>
        </p:spPr>
      </p:sp>
      <p:sp>
        <p:nvSpPr>
          <p:cNvPr id="17" name="Shape 15"/>
          <p:cNvSpPr/>
          <p:nvPr/>
        </p:nvSpPr>
        <p:spPr>
          <a:xfrm>
            <a:off x="640080" y="3151632"/>
            <a:ext cx="64008" cy="1377696"/>
          </a:xfrm>
          <a:prstGeom prst="rect">
            <a:avLst/>
          </a:prstGeom>
          <a:solidFill>
            <a:srgbClr val="E84141"/>
          </a:solidFill>
          <a:ln/>
        </p:spPr>
      </p:sp>
      <p:sp>
        <p:nvSpPr>
          <p:cNvPr id="18" name="Text 16"/>
          <p:cNvSpPr/>
          <p:nvPr/>
        </p:nvSpPr>
        <p:spPr>
          <a:xfrm>
            <a:off x="914400" y="3352800"/>
            <a:ext cx="4678528" cy="294640"/>
          </a:xfrm>
          <a:prstGeom prst="rect">
            <a:avLst/>
          </a:prstGeom>
          <a:noFill/>
          <a:ln/>
        </p:spPr>
        <p:txBody>
          <a:bodyPr wrap="square" lIns="0" tIns="0" rIns="0" bIns="0" rtlCol="0" anchor="t"/>
          <a:lstStyle/>
          <a:p>
            <a:pPr indent="0" marL="0">
              <a:buNone/>
            </a:pPr>
            <a:r>
              <a:rPr lang="en-US" sz="1600" b="1" dirty="0">
                <a:solidFill>
                  <a:srgbClr val="0B3A78"/>
                </a:solidFill>
                <a:latin typeface="Montserrat" pitchFamily="34" charset="0"/>
                <a:ea typeface="Montserrat" pitchFamily="34" charset="-122"/>
                <a:cs typeface="Montserrat" pitchFamily="34" charset="-120"/>
              </a:rPr>
              <a:t>El papá no trae comprobante</a:t>
            </a:r>
            <a:endParaRPr lang="en-US" sz="1600" dirty="0"/>
          </a:p>
        </p:txBody>
      </p:sp>
      <p:sp>
        <p:nvSpPr>
          <p:cNvPr id="19" name="Text 17"/>
          <p:cNvSpPr/>
          <p:nvPr/>
        </p:nvSpPr>
        <p:spPr>
          <a:xfrm>
            <a:off x="914400" y="3720592"/>
            <a:ext cx="4678528" cy="699008"/>
          </a:xfrm>
          <a:prstGeom prst="rect">
            <a:avLst/>
          </a:prstGeom>
          <a:noFill/>
          <a:ln/>
        </p:spPr>
        <p:txBody>
          <a:bodyPr wrap="square" lIns="0" tIns="0" rIns="0" bIns="0" rtlCol="0" anchor="t"/>
          <a:lstStyle/>
          <a:p>
            <a:pPr indent="0" marL="0">
              <a:lnSpc>
                <a:spcPts val="1800"/>
              </a:lnSpc>
              <a:buNone/>
            </a:pPr>
            <a:r>
              <a:rPr lang="en-US" sz="1300" dirty="0">
                <a:solidFill>
                  <a:srgbClr val="5A6472"/>
                </a:solidFill>
                <a:latin typeface="Inter" pitchFamily="34" charset="0"/>
                <a:ea typeface="Inter" pitchFamily="34" charset="-122"/>
                <a:cs typeface="Inter" pitchFamily="34" charset="-120"/>
              </a:rPr>
              <a:t>Busca por su número de cédula.</a:t>
            </a:r>
            <a:endParaRPr lang="en-US" sz="1300" dirty="0"/>
          </a:p>
        </p:txBody>
      </p:sp>
      <p:sp>
        <p:nvSpPr>
          <p:cNvPr id="20" name="Shape 18"/>
          <p:cNvSpPr/>
          <p:nvPr/>
        </p:nvSpPr>
        <p:spPr>
          <a:xfrm>
            <a:off x="6324448" y="3151632"/>
            <a:ext cx="5227168" cy="1377696"/>
          </a:xfrm>
          <a:prstGeom prst="roundRect">
            <a:avLst>
              <a:gd name="adj" fmla="val 3982"/>
            </a:avLst>
          </a:prstGeom>
          <a:solidFill>
            <a:srgbClr val="FFFFFF"/>
          </a:solidFill>
          <a:ln w="12700">
            <a:solidFill>
              <a:srgbClr val="D9E2EC"/>
            </a:solidFill>
            <a:prstDash val="solid"/>
          </a:ln>
        </p:spPr>
      </p:sp>
      <p:sp>
        <p:nvSpPr>
          <p:cNvPr id="21" name="Shape 19"/>
          <p:cNvSpPr/>
          <p:nvPr/>
        </p:nvSpPr>
        <p:spPr>
          <a:xfrm>
            <a:off x="6324448" y="3151632"/>
            <a:ext cx="64008" cy="1377696"/>
          </a:xfrm>
          <a:prstGeom prst="rect">
            <a:avLst/>
          </a:prstGeom>
          <a:solidFill>
            <a:srgbClr val="E84141"/>
          </a:solidFill>
          <a:ln/>
        </p:spPr>
      </p:sp>
      <p:sp>
        <p:nvSpPr>
          <p:cNvPr id="22" name="Text 20"/>
          <p:cNvSpPr/>
          <p:nvPr/>
        </p:nvSpPr>
        <p:spPr>
          <a:xfrm>
            <a:off x="6598768" y="3352800"/>
            <a:ext cx="4678528" cy="294640"/>
          </a:xfrm>
          <a:prstGeom prst="rect">
            <a:avLst/>
          </a:prstGeom>
          <a:noFill/>
          <a:ln/>
        </p:spPr>
        <p:txBody>
          <a:bodyPr wrap="square" lIns="0" tIns="0" rIns="0" bIns="0" rtlCol="0" anchor="t"/>
          <a:lstStyle/>
          <a:p>
            <a:pPr indent="0" marL="0">
              <a:buNone/>
            </a:pPr>
            <a:r>
              <a:rPr lang="en-US" sz="1600" b="1" dirty="0">
                <a:solidFill>
                  <a:srgbClr val="0B3A78"/>
                </a:solidFill>
                <a:latin typeface="Montserrat" pitchFamily="34" charset="0"/>
                <a:ea typeface="Montserrat" pitchFamily="34" charset="-122"/>
                <a:cs typeface="Montserrat" pitchFamily="34" charset="-120"/>
              </a:rPr>
              <a:t>Se acabó el juguete en tu carpa</a:t>
            </a:r>
            <a:endParaRPr lang="en-US" sz="1600" dirty="0"/>
          </a:p>
        </p:txBody>
      </p:sp>
      <p:sp>
        <p:nvSpPr>
          <p:cNvPr id="23" name="Text 21"/>
          <p:cNvSpPr/>
          <p:nvPr/>
        </p:nvSpPr>
        <p:spPr>
          <a:xfrm>
            <a:off x="6598768" y="3720592"/>
            <a:ext cx="4678528" cy="699008"/>
          </a:xfrm>
          <a:prstGeom prst="rect">
            <a:avLst/>
          </a:prstGeom>
          <a:noFill/>
          <a:ln/>
        </p:spPr>
        <p:txBody>
          <a:bodyPr wrap="square" lIns="0" tIns="0" rIns="0" bIns="0" rtlCol="0" anchor="t"/>
          <a:lstStyle/>
          <a:p>
            <a:pPr indent="0" marL="0">
              <a:lnSpc>
                <a:spcPts val="1800"/>
              </a:lnSpc>
              <a:buNone/>
            </a:pPr>
            <a:r>
              <a:rPr lang="en-US" sz="1300" dirty="0">
                <a:solidFill>
                  <a:srgbClr val="5A6472"/>
                </a:solidFill>
                <a:latin typeface="Inter" pitchFamily="34" charset="0"/>
                <a:ea typeface="Inter" pitchFamily="34" charset="-122"/>
                <a:cs typeface="Inter" pitchFamily="34" charset="-120"/>
              </a:rPr>
              <a:t>Avisa al coordinador antes de decirle nada a la familia.</a:t>
            </a:r>
            <a:endParaRPr lang="en-US" sz="1300" dirty="0"/>
          </a:p>
        </p:txBody>
      </p:sp>
      <p:sp>
        <p:nvSpPr>
          <p:cNvPr id="24" name="Shape 22"/>
          <p:cNvSpPr/>
          <p:nvPr/>
        </p:nvSpPr>
        <p:spPr>
          <a:xfrm>
            <a:off x="640080" y="4767072"/>
            <a:ext cx="5227168" cy="1377696"/>
          </a:xfrm>
          <a:prstGeom prst="roundRect">
            <a:avLst>
              <a:gd name="adj" fmla="val 3982"/>
            </a:avLst>
          </a:prstGeom>
          <a:solidFill>
            <a:srgbClr val="FFFFFF"/>
          </a:solidFill>
          <a:ln w="12700">
            <a:solidFill>
              <a:srgbClr val="D9E2EC"/>
            </a:solidFill>
            <a:prstDash val="solid"/>
          </a:ln>
        </p:spPr>
      </p:sp>
      <p:sp>
        <p:nvSpPr>
          <p:cNvPr id="25" name="Shape 23"/>
          <p:cNvSpPr/>
          <p:nvPr/>
        </p:nvSpPr>
        <p:spPr>
          <a:xfrm>
            <a:off x="640080" y="4767072"/>
            <a:ext cx="64008" cy="1377696"/>
          </a:xfrm>
          <a:prstGeom prst="rect">
            <a:avLst/>
          </a:prstGeom>
          <a:solidFill>
            <a:srgbClr val="E84141"/>
          </a:solidFill>
          <a:ln/>
        </p:spPr>
      </p:sp>
      <p:sp>
        <p:nvSpPr>
          <p:cNvPr id="26" name="Text 24"/>
          <p:cNvSpPr/>
          <p:nvPr/>
        </p:nvSpPr>
        <p:spPr>
          <a:xfrm>
            <a:off x="914400" y="4968240"/>
            <a:ext cx="4678528" cy="294640"/>
          </a:xfrm>
          <a:prstGeom prst="rect">
            <a:avLst/>
          </a:prstGeom>
          <a:noFill/>
          <a:ln/>
        </p:spPr>
        <p:txBody>
          <a:bodyPr wrap="square" lIns="0" tIns="0" rIns="0" bIns="0" rtlCol="0" anchor="t"/>
          <a:lstStyle/>
          <a:p>
            <a:pPr indent="0" marL="0">
              <a:buNone/>
            </a:pPr>
            <a:r>
              <a:rPr lang="en-US" sz="1600" b="1" dirty="0">
                <a:solidFill>
                  <a:srgbClr val="0B3A78"/>
                </a:solidFill>
                <a:latin typeface="Montserrat" pitchFamily="34" charset="0"/>
                <a:ea typeface="Montserrat" pitchFamily="34" charset="-122"/>
                <a:cs typeface="Montserrat" pitchFamily="34" charset="-120"/>
              </a:rPr>
              <a:t>El equipo se apaga o se traba</a:t>
            </a:r>
            <a:endParaRPr lang="en-US" sz="1600" dirty="0"/>
          </a:p>
        </p:txBody>
      </p:sp>
      <p:sp>
        <p:nvSpPr>
          <p:cNvPr id="27" name="Text 25"/>
          <p:cNvSpPr/>
          <p:nvPr/>
        </p:nvSpPr>
        <p:spPr>
          <a:xfrm>
            <a:off x="914400" y="5336032"/>
            <a:ext cx="4678528" cy="699008"/>
          </a:xfrm>
          <a:prstGeom prst="rect">
            <a:avLst/>
          </a:prstGeom>
          <a:noFill/>
          <a:ln/>
        </p:spPr>
        <p:txBody>
          <a:bodyPr wrap="square" lIns="0" tIns="0" rIns="0" bIns="0" rtlCol="0" anchor="t"/>
          <a:lstStyle/>
          <a:p>
            <a:pPr indent="0" marL="0">
              <a:lnSpc>
                <a:spcPts val="1800"/>
              </a:lnSpc>
              <a:buNone/>
            </a:pPr>
            <a:r>
              <a:rPr lang="en-US" sz="1300" dirty="0">
                <a:solidFill>
                  <a:srgbClr val="5A6472"/>
                </a:solidFill>
                <a:latin typeface="Inter" pitchFamily="34" charset="0"/>
                <a:ea typeface="Inter" pitchFamily="34" charset="-122"/>
                <a:cs typeface="Inter" pitchFamily="34" charset="-120"/>
              </a:rPr>
              <a:t>Vuelve a entrar con tu correo. Lo que ya marcaste quedó guardado.</a:t>
            </a:r>
            <a:endParaRPr lang="en-US" sz="1300" dirty="0"/>
          </a:p>
        </p:txBody>
      </p:sp>
      <p:sp>
        <p:nvSpPr>
          <p:cNvPr id="28" name="Shape 26"/>
          <p:cNvSpPr/>
          <p:nvPr/>
        </p:nvSpPr>
        <p:spPr>
          <a:xfrm>
            <a:off x="6324448" y="4767072"/>
            <a:ext cx="5227168" cy="1377696"/>
          </a:xfrm>
          <a:prstGeom prst="roundRect">
            <a:avLst>
              <a:gd name="adj" fmla="val 3982"/>
            </a:avLst>
          </a:prstGeom>
          <a:solidFill>
            <a:srgbClr val="FFFFFF"/>
          </a:solidFill>
          <a:ln w="12700">
            <a:solidFill>
              <a:srgbClr val="D9E2EC"/>
            </a:solidFill>
            <a:prstDash val="solid"/>
          </a:ln>
        </p:spPr>
      </p:sp>
      <p:sp>
        <p:nvSpPr>
          <p:cNvPr id="29" name="Shape 27"/>
          <p:cNvSpPr/>
          <p:nvPr/>
        </p:nvSpPr>
        <p:spPr>
          <a:xfrm>
            <a:off x="6324448" y="4767072"/>
            <a:ext cx="64008" cy="1377696"/>
          </a:xfrm>
          <a:prstGeom prst="rect">
            <a:avLst/>
          </a:prstGeom>
          <a:solidFill>
            <a:srgbClr val="E84141"/>
          </a:solidFill>
          <a:ln/>
        </p:spPr>
      </p:sp>
      <p:sp>
        <p:nvSpPr>
          <p:cNvPr id="30" name="Text 28"/>
          <p:cNvSpPr/>
          <p:nvPr/>
        </p:nvSpPr>
        <p:spPr>
          <a:xfrm>
            <a:off x="6598768" y="4968240"/>
            <a:ext cx="4678528" cy="294640"/>
          </a:xfrm>
          <a:prstGeom prst="rect">
            <a:avLst/>
          </a:prstGeom>
          <a:noFill/>
          <a:ln/>
        </p:spPr>
        <p:txBody>
          <a:bodyPr wrap="square" lIns="0" tIns="0" rIns="0" bIns="0" rtlCol="0" anchor="t"/>
          <a:lstStyle/>
          <a:p>
            <a:pPr indent="0" marL="0">
              <a:buNone/>
            </a:pPr>
            <a:r>
              <a:rPr lang="en-US" sz="1600" b="1" dirty="0">
                <a:solidFill>
                  <a:srgbClr val="0B3A78"/>
                </a:solidFill>
                <a:latin typeface="Montserrat" pitchFamily="34" charset="0"/>
                <a:ea typeface="Montserrat" pitchFamily="34" charset="-122"/>
                <a:cs typeface="Montserrat" pitchFamily="34" charset="-120"/>
              </a:rPr>
              <a:t>Coordinador de jornada</a:t>
            </a:r>
            <a:endParaRPr lang="en-US" sz="1600" dirty="0"/>
          </a:p>
        </p:txBody>
      </p:sp>
      <p:sp>
        <p:nvSpPr>
          <p:cNvPr id="31" name="Text 29"/>
          <p:cNvSpPr/>
          <p:nvPr/>
        </p:nvSpPr>
        <p:spPr>
          <a:xfrm>
            <a:off x="6598768" y="5336032"/>
            <a:ext cx="4678528" cy="699008"/>
          </a:xfrm>
          <a:prstGeom prst="rect">
            <a:avLst/>
          </a:prstGeom>
          <a:noFill/>
          <a:ln/>
        </p:spPr>
        <p:txBody>
          <a:bodyPr wrap="square" lIns="0" tIns="0" rIns="0" bIns="0" rtlCol="0" anchor="t"/>
          <a:lstStyle/>
          <a:p>
            <a:pPr indent="0" marL="0">
              <a:lnSpc>
                <a:spcPts val="1800"/>
              </a:lnSpc>
              <a:buNone/>
            </a:pPr>
            <a:r>
              <a:rPr lang="en-US" sz="1300" dirty="0">
                <a:solidFill>
                  <a:srgbClr val="5A6472"/>
                </a:solidFill>
                <a:latin typeface="Inter" pitchFamily="34" charset="0"/>
                <a:ea typeface="Inter" pitchFamily="34" charset="-122"/>
                <a:cs typeface="Inter" pitchFamily="34" charset="-120"/>
              </a:rPr>
              <a:t>Kidotoy confirma el número el día del evento.</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Kidotoy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Guía de entrega · 12 de diciembre</dc:title>
  <dc:subject>Instructivo para operarios de Kidotoy</dc:subject>
  <dc:creator>Sebastián Grajales</dc:creator>
  <cp:lastModifiedBy>Sebastián Grajales</cp:lastModifiedBy>
  <cp:revision>1</cp:revision>
  <dcterms:created xsi:type="dcterms:W3CDTF">2026-09-06T08:26:47Z</dcterms:created>
  <dcterms:modified xsi:type="dcterms:W3CDTF">2026-09-06T08:26:47Z</dcterms:modified>
</cp:coreProperties>
</file>