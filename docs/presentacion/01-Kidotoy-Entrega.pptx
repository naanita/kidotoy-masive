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Les traigo el piloto terminado y funcionando. No es una maqueta: está en internet, lo pueden abrir ahora mismo desde el celular. Hoy quiero mostrarles el recorrido completo, lo que ustedes van a ver desde su panel, y cerrar con lo que necesito de ustedes para pasar 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seis puntos del requerimiento. Quiero destacar el primero y el cuarto: 'un regalo por niño' y 'la elección es irreversible' no están resueltos con una validación de pantalla, que se salta con un doble clic. Están resueltos en el motor de base de datos. Es la diferencia entre que parezca que funciona y que funcione.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Ábranlo mientras hablo. Les dejo tres cuentas para que vean tres momentos distintos: Diana va a mitad de camino y tiene hijos de 4, 6 y 10 años, así que ve tres catálogos distintos bajo un mismo usuario; Valeria arranca de cero; y Antonia ya terminó y solo consulta sus comprobantes. Los datos son ficticios, ninguno es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pasos. Nada más. Fíjense en la segunda: un hijo ya confirmado con su juguete y dos pendientes en rojo. Si el papá duda si guardó o no, lo ve de una. Eso es lo que evita llamadas a Recursos Humanos.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Está diseñado para el celular primero. Botones grandes, una sola columna, nada de zoom. El comprobante lleva el QR que después se escanea en la carpa, y se puede copiar o descargar.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su panel. El avance se actualiza solo. Desde aquí liberan una selección si un papá se equivocó, pero el sistema les exige escribir el motivo y lo deja registrado en auditoría. Nadie puede deshacer algo sin dejar rastro.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pieza que no encuentran en ninguna plataforma genérica. No les dice cuánto stock queda: les dice si ALCANZA. Cruza las unidades disponibles contra los niños de ese grupo que todavía no han elegido. Si un grupo se va a quedar corto, lo ven antes de que un papá se encuentre con la pantalla vacía, y todavía hay tiempo de reponer.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operario entra con su cuenta y arriba le queda fijo el nombre de su carpa. Escanea el QR del papá, ve el niño y el juguete, y marca. Verde es adelante, rojo es alto. Está pensado para usarse de pie, con una mano y con sol de frente.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el último punto: el Acueducto ve todo pero no toca nada. No puede editar inventario ni liberar selecciones. Eso les da tranquilidad a ustedes y transparencia a ellos al mismo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separa una plataforma seria de una hoja de cálculo bonita. Si dos papás confirman la última unidad en el mismo instante, uno gana y el otro se entera al momento. Sin esto se comprometen regalos que no existen, y eso se descubre el 12 de diciembre con la familia enfrente. Lo probé en producción, no en mi computador.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Prefiero decirles esto yo antes de que lo descubran en una demostración con el cliente. Nada de esto está construido. Si en la propuesta al Acueducto aparece alguno, tiene que ir como alcance de producción, con su tiempo y su costo. Lo que sí está, está probado.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cosas. Las dos primeras son las que más tiempo toman de su lado. El horario del evento lo dejé vacío a propósito: prefiero un dato ausente a uno inventado que nadie corrige y termina impreso en mil comprobantes.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Queda abierto para que lo prueben con calma y lo muestren. Cuando me den catálogo completo y mapa de carpas, la migración a producción es cuestión de días, no de semanas. Quedo atento a lo que encuentren probándolo.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1554480"/>
            <a:ext cx="10911535" cy="365760"/>
          </a:xfrm>
          <a:prstGeom prst="rect">
            <a:avLst/>
          </a:prstGeom>
          <a:noFill/>
          <a:ln/>
        </p:spPr>
        <p:txBody>
          <a:bodyPr wrap="square" lIns="0" tIns="0" rIns="0" bIns="0" rtlCol="0" anchor="t"/>
          <a:lstStyle/>
          <a:p>
            <a:pPr indent="0" marL="0">
              <a:buNone/>
            </a:pPr>
            <a:r>
              <a:rPr lang="en-US" sz="1500" b="1" spc="200" kern="0" dirty="0">
                <a:solidFill>
                  <a:srgbClr val="10B7CD"/>
                </a:solidFill>
                <a:latin typeface="Inter" pitchFamily="34" charset="0"/>
                <a:ea typeface="Inter" pitchFamily="34" charset="-122"/>
                <a:cs typeface="Inter" pitchFamily="34" charset="-120"/>
              </a:rPr>
              <a:t>KIDOTOY × ACUEDUCTO DE BOGOTÁ</a:t>
            </a:r>
            <a:endParaRPr lang="en-US" sz="1500" dirty="0"/>
          </a:p>
        </p:txBody>
      </p:sp>
      <p:sp>
        <p:nvSpPr>
          <p:cNvPr id="3" name="Text 1"/>
          <p:cNvSpPr/>
          <p:nvPr/>
        </p:nvSpPr>
        <p:spPr>
          <a:xfrm>
            <a:off x="640080" y="2011680"/>
            <a:ext cx="8716975" cy="17373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Plataforma de selección</a:t>
            </a:r>
            <a:endParaRPr lang="en-US" sz="4400" dirty="0"/>
          </a:p>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de regalos</a:t>
            </a:r>
            <a:endParaRPr lang="en-US" sz="4400" dirty="0"/>
          </a:p>
        </p:txBody>
      </p:sp>
      <p:sp>
        <p:nvSpPr>
          <p:cNvPr id="4" name="Text 2"/>
          <p:cNvSpPr/>
          <p:nvPr/>
        </p:nvSpPr>
        <p:spPr>
          <a:xfrm>
            <a:off x="640080" y="3886200"/>
            <a:ext cx="8716975" cy="1005840"/>
          </a:xfrm>
          <a:prstGeom prst="rect">
            <a:avLst/>
          </a:prstGeom>
          <a:noFill/>
          <a:ln/>
        </p:spPr>
        <p:txBody>
          <a:bodyPr wrap="square" lIns="0" tIns="0" rIns="0" bIns="0" rtlCol="0" anchor="t"/>
          <a:lstStyle/>
          <a:p>
            <a:pPr indent="0" marL="0">
              <a:lnSpc>
                <a:spcPts val="3000"/>
              </a:lnSpc>
              <a:buNone/>
            </a:pPr>
            <a:r>
              <a:rPr lang="en-US" sz="1800" dirty="0">
                <a:solidFill>
                  <a:srgbClr val="C8D8F0"/>
                </a:solidFill>
                <a:latin typeface="Inter" pitchFamily="34" charset="0"/>
                <a:ea typeface="Inter" pitchFamily="34" charset="-122"/>
                <a:cs typeface="Inter" pitchFamily="34" charset="-120"/>
              </a:rPr>
              <a:t>Piloto entregado y funcionando en vivo</a:t>
            </a:r>
            <a:endParaRPr lang="en-US" sz="1800" dirty="0"/>
          </a:p>
        </p:txBody>
      </p:sp>
      <p:sp>
        <p:nvSpPr>
          <p:cNvPr id="5" name="Text 3"/>
          <p:cNvSpPr/>
          <p:nvPr/>
        </p:nvSpPr>
        <p:spPr>
          <a:xfrm>
            <a:off x="640080" y="5715000"/>
            <a:ext cx="10911535" cy="365760"/>
          </a:xfrm>
          <a:prstGeom prst="rect">
            <a:avLst/>
          </a:prstGeom>
          <a:noFill/>
          <a:ln/>
        </p:spPr>
        <p:txBody>
          <a:bodyPr wrap="square" lIns="0" tIns="0" rIns="0" bIns="0" rtlCol="0" anchor="t"/>
          <a:lstStyle/>
          <a:p>
            <a:pPr indent="0" marL="0">
              <a:buNone/>
            </a:pPr>
            <a:r>
              <a:rPr lang="en-US" sz="1300" dirty="0">
                <a:solidFill>
                  <a:srgbClr val="AFC4E0"/>
                </a:solidFill>
                <a:latin typeface="Inter" pitchFamily="34" charset="0"/>
                <a:ea typeface="Inter" pitchFamily="34" charset="-122"/>
                <a:cs typeface="Inter" pitchFamily="34" charset="-120"/>
              </a:rPr>
              <a:t>Sebastián Grajales · 6 de septiembre de 2026</a:t>
            </a:r>
            <a:endParaRPr lang="en-US" sz="1300" dirty="0"/>
          </a:p>
        </p:txBody>
      </p:sp>
      <p:sp>
        <p:nvSpPr>
          <p:cNvPr id="6" name="Shape 4"/>
          <p:cNvSpPr/>
          <p:nvPr/>
        </p:nvSpPr>
        <p:spPr>
          <a:xfrm>
            <a:off x="0" y="6711696"/>
            <a:ext cx="3066212" cy="146304"/>
          </a:xfrm>
          <a:prstGeom prst="rect">
            <a:avLst/>
          </a:prstGeom>
          <a:solidFill>
            <a:srgbClr val="10B7CD"/>
          </a:solidFill>
          <a:ln/>
        </p:spPr>
      </p:sp>
      <p:sp>
        <p:nvSpPr>
          <p:cNvPr id="7" name="Shape 5"/>
          <p:cNvSpPr/>
          <p:nvPr/>
        </p:nvSpPr>
        <p:spPr>
          <a:xfrm>
            <a:off x="3047924" y="6711696"/>
            <a:ext cx="3066212" cy="146304"/>
          </a:xfrm>
          <a:prstGeom prst="rect">
            <a:avLst/>
          </a:prstGeom>
          <a:solidFill>
            <a:srgbClr val="E84141"/>
          </a:solidFill>
          <a:ln/>
        </p:spPr>
      </p:sp>
      <p:sp>
        <p:nvSpPr>
          <p:cNvPr id="8" name="Shape 6"/>
          <p:cNvSpPr/>
          <p:nvPr/>
        </p:nvSpPr>
        <p:spPr>
          <a:xfrm>
            <a:off x="6095848" y="6711696"/>
            <a:ext cx="3066212" cy="146304"/>
          </a:xfrm>
          <a:prstGeom prst="rect">
            <a:avLst/>
          </a:prstGeom>
          <a:solidFill>
            <a:srgbClr val="F8AB11"/>
          </a:solidFill>
          <a:ln/>
        </p:spPr>
      </p:sp>
      <p:sp>
        <p:nvSpPr>
          <p:cNvPr id="9" name="Shape 7"/>
          <p:cNvSpPr/>
          <p:nvPr/>
        </p:nvSpPr>
        <p:spPr>
          <a:xfrm>
            <a:off x="9143771" y="6711696"/>
            <a:ext cx="3047924" cy="146304"/>
          </a:xfrm>
          <a:prstGeom prst="rect">
            <a:avLst/>
          </a:prstGeom>
          <a:solidFill>
            <a:srgbClr val="8974B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Qué pedían y qué construimos</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El requerimiento, punto por punto</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1568196"/>
            <a:ext cx="5227168" cy="1356360"/>
          </a:xfrm>
          <a:prstGeom prst="roundRect">
            <a:avLst>
              <a:gd name="adj" fmla="val 4045"/>
            </a:avLst>
          </a:prstGeom>
          <a:solidFill>
            <a:srgbClr val="FFFFFF"/>
          </a:solidFill>
          <a:ln w="12700">
            <a:solidFill>
              <a:srgbClr val="D9E2EC"/>
            </a:solidFill>
            <a:prstDash val="solid"/>
          </a:ln>
        </p:spPr>
      </p:sp>
      <p:sp>
        <p:nvSpPr>
          <p:cNvPr id="9" name="Shape 7"/>
          <p:cNvSpPr/>
          <p:nvPr/>
        </p:nvSpPr>
        <p:spPr>
          <a:xfrm>
            <a:off x="640080" y="1568196"/>
            <a:ext cx="64008" cy="1356360"/>
          </a:xfrm>
          <a:prstGeom prst="rect">
            <a:avLst/>
          </a:prstGeom>
          <a:solidFill>
            <a:srgbClr val="0167D5"/>
          </a:solidFill>
          <a:ln/>
        </p:spPr>
      </p:sp>
      <p:sp>
        <p:nvSpPr>
          <p:cNvPr id="10" name="Text 8"/>
          <p:cNvSpPr/>
          <p:nvPr/>
        </p:nvSpPr>
        <p:spPr>
          <a:xfrm>
            <a:off x="914400" y="1769364"/>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Un regalo por niño</a:t>
            </a:r>
            <a:endParaRPr lang="en-US" sz="1600" dirty="0"/>
          </a:p>
        </p:txBody>
      </p:sp>
      <p:sp>
        <p:nvSpPr>
          <p:cNvPr id="11" name="Text 9"/>
          <p:cNvSpPr/>
          <p:nvPr/>
        </p:nvSpPr>
        <p:spPr>
          <a:xfrm>
            <a:off x="914400" y="2137156"/>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Garantizado en la base de datos, no solo en la pantalla. Es imposible duplicar.</a:t>
            </a:r>
            <a:endParaRPr lang="en-US" sz="1300" dirty="0"/>
          </a:p>
        </p:txBody>
      </p:sp>
      <p:sp>
        <p:nvSpPr>
          <p:cNvPr id="12" name="Shape 10"/>
          <p:cNvSpPr/>
          <p:nvPr/>
        </p:nvSpPr>
        <p:spPr>
          <a:xfrm>
            <a:off x="6324448" y="1568196"/>
            <a:ext cx="5227168" cy="1356360"/>
          </a:xfrm>
          <a:prstGeom prst="roundRect">
            <a:avLst>
              <a:gd name="adj" fmla="val 4045"/>
            </a:avLst>
          </a:prstGeom>
          <a:solidFill>
            <a:srgbClr val="FFFFFF"/>
          </a:solidFill>
          <a:ln w="12700">
            <a:solidFill>
              <a:srgbClr val="D9E2EC"/>
            </a:solidFill>
            <a:prstDash val="solid"/>
          </a:ln>
        </p:spPr>
      </p:sp>
      <p:sp>
        <p:nvSpPr>
          <p:cNvPr id="13" name="Shape 11"/>
          <p:cNvSpPr/>
          <p:nvPr/>
        </p:nvSpPr>
        <p:spPr>
          <a:xfrm>
            <a:off x="6324448" y="1568196"/>
            <a:ext cx="64008" cy="1356360"/>
          </a:xfrm>
          <a:prstGeom prst="rect">
            <a:avLst/>
          </a:prstGeom>
          <a:solidFill>
            <a:srgbClr val="0167D5"/>
          </a:solidFill>
          <a:ln/>
        </p:spPr>
      </p:sp>
      <p:sp>
        <p:nvSpPr>
          <p:cNvPr id="14" name="Text 12"/>
          <p:cNvSpPr/>
          <p:nvPr/>
        </p:nvSpPr>
        <p:spPr>
          <a:xfrm>
            <a:off x="6598768" y="1769364"/>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Catálogo por edad y género</a:t>
            </a:r>
            <a:endParaRPr lang="en-US" sz="1600" dirty="0"/>
          </a:p>
        </p:txBody>
      </p:sp>
      <p:sp>
        <p:nvSpPr>
          <p:cNvPr id="15" name="Text 13"/>
          <p:cNvSpPr/>
          <p:nvPr/>
        </p:nvSpPr>
        <p:spPr>
          <a:xfrm>
            <a:off x="6598768" y="2137156"/>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Cada niño ve exactamente las 6 referencias de su grupo. Nunca las de otro.</a:t>
            </a:r>
            <a:endParaRPr lang="en-US" sz="1300" dirty="0"/>
          </a:p>
        </p:txBody>
      </p:sp>
      <p:sp>
        <p:nvSpPr>
          <p:cNvPr id="16" name="Shape 14"/>
          <p:cNvSpPr/>
          <p:nvPr/>
        </p:nvSpPr>
        <p:spPr>
          <a:xfrm>
            <a:off x="640080" y="3162300"/>
            <a:ext cx="5227168" cy="1356360"/>
          </a:xfrm>
          <a:prstGeom prst="roundRect">
            <a:avLst>
              <a:gd name="adj" fmla="val 4045"/>
            </a:avLst>
          </a:prstGeom>
          <a:solidFill>
            <a:srgbClr val="FFFFFF"/>
          </a:solidFill>
          <a:ln w="12700">
            <a:solidFill>
              <a:srgbClr val="D9E2EC"/>
            </a:solidFill>
            <a:prstDash val="solid"/>
          </a:ln>
        </p:spPr>
      </p:sp>
      <p:sp>
        <p:nvSpPr>
          <p:cNvPr id="17" name="Shape 15"/>
          <p:cNvSpPr/>
          <p:nvPr/>
        </p:nvSpPr>
        <p:spPr>
          <a:xfrm>
            <a:off x="640080" y="3162300"/>
            <a:ext cx="64008" cy="1356360"/>
          </a:xfrm>
          <a:prstGeom prst="rect">
            <a:avLst/>
          </a:prstGeom>
          <a:solidFill>
            <a:srgbClr val="0167D5"/>
          </a:solidFill>
          <a:ln/>
        </p:spPr>
      </p:sp>
      <p:sp>
        <p:nvSpPr>
          <p:cNvPr id="18" name="Text 16"/>
          <p:cNvSpPr/>
          <p:nvPr/>
        </p:nvSpPr>
        <p:spPr>
          <a:xfrm>
            <a:off x="914400" y="3363468"/>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Inventario en vivo</a:t>
            </a:r>
            <a:endParaRPr lang="en-US" sz="1600" dirty="0"/>
          </a:p>
        </p:txBody>
      </p:sp>
      <p:sp>
        <p:nvSpPr>
          <p:cNvPr id="19" name="Text 17"/>
          <p:cNvSpPr/>
          <p:nvPr/>
        </p:nvSpPr>
        <p:spPr>
          <a:xfrm>
            <a:off x="914400" y="3731260"/>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La disponibilidad se actualiza sola mientras la gente elige.</a:t>
            </a:r>
            <a:endParaRPr lang="en-US" sz="1300" dirty="0"/>
          </a:p>
        </p:txBody>
      </p:sp>
      <p:sp>
        <p:nvSpPr>
          <p:cNvPr id="20" name="Shape 18"/>
          <p:cNvSpPr/>
          <p:nvPr/>
        </p:nvSpPr>
        <p:spPr>
          <a:xfrm>
            <a:off x="6324448" y="3162300"/>
            <a:ext cx="5227168" cy="1356360"/>
          </a:xfrm>
          <a:prstGeom prst="roundRect">
            <a:avLst>
              <a:gd name="adj" fmla="val 4045"/>
            </a:avLst>
          </a:prstGeom>
          <a:solidFill>
            <a:srgbClr val="FFFFFF"/>
          </a:solidFill>
          <a:ln w="12700">
            <a:solidFill>
              <a:srgbClr val="D9E2EC"/>
            </a:solidFill>
            <a:prstDash val="solid"/>
          </a:ln>
        </p:spPr>
      </p:sp>
      <p:sp>
        <p:nvSpPr>
          <p:cNvPr id="21" name="Shape 19"/>
          <p:cNvSpPr/>
          <p:nvPr/>
        </p:nvSpPr>
        <p:spPr>
          <a:xfrm>
            <a:off x="6324448" y="3162300"/>
            <a:ext cx="64008" cy="1356360"/>
          </a:xfrm>
          <a:prstGeom prst="rect">
            <a:avLst/>
          </a:prstGeom>
          <a:solidFill>
            <a:srgbClr val="0167D5"/>
          </a:solidFill>
          <a:ln/>
        </p:spPr>
      </p:sp>
      <p:sp>
        <p:nvSpPr>
          <p:cNvPr id="22" name="Text 20"/>
          <p:cNvSpPr/>
          <p:nvPr/>
        </p:nvSpPr>
        <p:spPr>
          <a:xfrm>
            <a:off x="6598768" y="3363468"/>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Elección irreversible</a:t>
            </a:r>
            <a:endParaRPr lang="en-US" sz="1600" dirty="0"/>
          </a:p>
        </p:txBody>
      </p:sp>
      <p:sp>
        <p:nvSpPr>
          <p:cNvPr id="23" name="Text 21"/>
          <p:cNvSpPr/>
          <p:nvPr/>
        </p:nvSpPr>
        <p:spPr>
          <a:xfrm>
            <a:off x="6598768" y="3731260"/>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El papá confirma y queda. Solo ustedes pueden liberar una selección.</a:t>
            </a:r>
            <a:endParaRPr lang="en-US" sz="1300" dirty="0"/>
          </a:p>
        </p:txBody>
      </p:sp>
      <p:sp>
        <p:nvSpPr>
          <p:cNvPr id="24" name="Shape 22"/>
          <p:cNvSpPr/>
          <p:nvPr/>
        </p:nvSpPr>
        <p:spPr>
          <a:xfrm>
            <a:off x="640080" y="4756404"/>
            <a:ext cx="5227168" cy="1356360"/>
          </a:xfrm>
          <a:prstGeom prst="roundRect">
            <a:avLst>
              <a:gd name="adj" fmla="val 4045"/>
            </a:avLst>
          </a:prstGeom>
          <a:solidFill>
            <a:srgbClr val="FFFFFF"/>
          </a:solidFill>
          <a:ln w="12700">
            <a:solidFill>
              <a:srgbClr val="D9E2EC"/>
            </a:solidFill>
            <a:prstDash val="solid"/>
          </a:ln>
        </p:spPr>
      </p:sp>
      <p:sp>
        <p:nvSpPr>
          <p:cNvPr id="25" name="Shape 23"/>
          <p:cNvSpPr/>
          <p:nvPr/>
        </p:nvSpPr>
        <p:spPr>
          <a:xfrm>
            <a:off x="640080" y="4756404"/>
            <a:ext cx="64008" cy="1356360"/>
          </a:xfrm>
          <a:prstGeom prst="rect">
            <a:avLst/>
          </a:prstGeom>
          <a:solidFill>
            <a:srgbClr val="0167D5"/>
          </a:solidFill>
          <a:ln/>
        </p:spPr>
      </p:sp>
      <p:sp>
        <p:nvSpPr>
          <p:cNvPr id="26" name="Text 24"/>
          <p:cNvSpPr/>
          <p:nvPr/>
        </p:nvSpPr>
        <p:spPr>
          <a:xfrm>
            <a:off x="914400" y="4957572"/>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Control de la entrega</a:t>
            </a:r>
            <a:endParaRPr lang="en-US" sz="1600" dirty="0"/>
          </a:p>
        </p:txBody>
      </p:sp>
      <p:sp>
        <p:nvSpPr>
          <p:cNvPr id="27" name="Text 25"/>
          <p:cNvSpPr/>
          <p:nvPr/>
        </p:nvSpPr>
        <p:spPr>
          <a:xfrm>
            <a:off x="914400" y="5325364"/>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Código y QR por niño. El operario escanea, verifica y marca.</a:t>
            </a:r>
            <a:endParaRPr lang="en-US" sz="1300" dirty="0"/>
          </a:p>
        </p:txBody>
      </p:sp>
      <p:sp>
        <p:nvSpPr>
          <p:cNvPr id="28" name="Shape 26"/>
          <p:cNvSpPr/>
          <p:nvPr/>
        </p:nvSpPr>
        <p:spPr>
          <a:xfrm>
            <a:off x="6324448" y="4756404"/>
            <a:ext cx="5227168" cy="1356360"/>
          </a:xfrm>
          <a:prstGeom prst="roundRect">
            <a:avLst>
              <a:gd name="adj" fmla="val 4045"/>
            </a:avLst>
          </a:prstGeom>
          <a:solidFill>
            <a:srgbClr val="FFFFFF"/>
          </a:solidFill>
          <a:ln w="12700">
            <a:solidFill>
              <a:srgbClr val="D9E2EC"/>
            </a:solidFill>
            <a:prstDash val="solid"/>
          </a:ln>
        </p:spPr>
      </p:sp>
      <p:sp>
        <p:nvSpPr>
          <p:cNvPr id="29" name="Shape 27"/>
          <p:cNvSpPr/>
          <p:nvPr/>
        </p:nvSpPr>
        <p:spPr>
          <a:xfrm>
            <a:off x="6324448" y="4756404"/>
            <a:ext cx="64008" cy="1356360"/>
          </a:xfrm>
          <a:prstGeom prst="rect">
            <a:avLst/>
          </a:prstGeom>
          <a:solidFill>
            <a:srgbClr val="0167D5"/>
          </a:solidFill>
          <a:ln/>
        </p:spPr>
      </p:sp>
      <p:sp>
        <p:nvSpPr>
          <p:cNvPr id="30" name="Text 28"/>
          <p:cNvSpPr/>
          <p:nvPr/>
        </p:nvSpPr>
        <p:spPr>
          <a:xfrm>
            <a:off x="6598768" y="4957572"/>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Visibilidad para el Acueducto</a:t>
            </a:r>
            <a:endParaRPr lang="en-US" sz="1600" dirty="0"/>
          </a:p>
        </p:txBody>
      </p:sp>
      <p:sp>
        <p:nvSpPr>
          <p:cNvPr id="31" name="Text 29"/>
          <p:cNvSpPr/>
          <p:nvPr/>
        </p:nvSpPr>
        <p:spPr>
          <a:xfrm>
            <a:off x="6598768" y="5325364"/>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Portal de solo consulta con su avance y sus reportes.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754380"/>
            <a:ext cx="5854903" cy="475488"/>
          </a:xfrm>
          <a:prstGeom prst="rect">
            <a:avLst/>
          </a:prstGeom>
          <a:noFill/>
          <a:ln/>
        </p:spPr>
        <p:txBody>
          <a:bodyPr wrap="square" lIns="0" tIns="0" rIns="0" bIns="0" rtlCol="0" anchor="t"/>
          <a:lstStyle/>
          <a:p>
            <a:pPr indent="0" marL="0">
              <a:buNone/>
            </a:pPr>
            <a:r>
              <a:rPr lang="en-US" sz="3200" b="1" dirty="0">
                <a:solidFill>
                  <a:srgbClr val="FFFFFF"/>
                </a:solidFill>
                <a:latin typeface="Montserrat" pitchFamily="34" charset="0"/>
                <a:ea typeface="Montserrat" pitchFamily="34" charset="-122"/>
                <a:cs typeface="Montserrat" pitchFamily="34" charset="-120"/>
              </a:rPr>
              <a:t>El sitio está en vivo</a:t>
            </a:r>
            <a:endParaRPr lang="en-US" sz="3200" dirty="0"/>
          </a:p>
        </p:txBody>
      </p:sp>
      <p:sp>
        <p:nvSpPr>
          <p:cNvPr id="3" name="Text 1"/>
          <p:cNvSpPr/>
          <p:nvPr/>
        </p:nvSpPr>
        <p:spPr>
          <a:xfrm>
            <a:off x="640080" y="1504188"/>
            <a:ext cx="5854903" cy="640080"/>
          </a:xfrm>
          <a:prstGeom prst="rect">
            <a:avLst/>
          </a:prstGeom>
          <a:noFill/>
          <a:ln/>
        </p:spPr>
        <p:txBody>
          <a:bodyPr wrap="square" lIns="0" tIns="0" rIns="0" bIns="0" rtlCol="0" anchor="t"/>
          <a:lstStyle/>
          <a:p>
            <a:pPr indent="0" marL="0">
              <a:lnSpc>
                <a:spcPts val="2200"/>
              </a:lnSpc>
              <a:buNone/>
            </a:pPr>
            <a:r>
              <a:rPr lang="en-US" sz="1500" dirty="0">
                <a:solidFill>
                  <a:srgbClr val="C8D8F0"/>
                </a:solidFill>
                <a:latin typeface="Inter" pitchFamily="34" charset="0"/>
                <a:ea typeface="Inter" pitchFamily="34" charset="-122"/>
                <a:cs typeface="Inter" pitchFamily="34" charset="-120"/>
              </a:rPr>
              <a:t>Ábranlo ahora. Tres cuentas de prueba, cada una en un momento distinto de la campaña. Los datos son ficticios.</a:t>
            </a:r>
            <a:endParaRPr lang="en-US" sz="1500" dirty="0"/>
          </a:p>
        </p:txBody>
      </p:sp>
      <p:sp>
        <p:nvSpPr>
          <p:cNvPr id="4" name="Shape 2"/>
          <p:cNvSpPr/>
          <p:nvPr/>
        </p:nvSpPr>
        <p:spPr>
          <a:xfrm>
            <a:off x="640080" y="2464308"/>
            <a:ext cx="5854903" cy="731520"/>
          </a:xfrm>
          <a:prstGeom prst="roundRect">
            <a:avLst>
              <a:gd name="adj" fmla="val 7500"/>
            </a:avLst>
          </a:prstGeom>
          <a:solidFill>
            <a:srgbClr val="12306B"/>
          </a:solidFill>
          <a:ln w="25400">
            <a:solidFill>
              <a:srgbClr val="10B7CD"/>
            </a:solidFill>
            <a:prstDash val="solid"/>
          </a:ln>
        </p:spPr>
      </p:sp>
      <p:sp>
        <p:nvSpPr>
          <p:cNvPr id="5" name="Text 3"/>
          <p:cNvSpPr/>
          <p:nvPr/>
        </p:nvSpPr>
        <p:spPr>
          <a:xfrm>
            <a:off x="841248" y="2464308"/>
            <a:ext cx="5452567" cy="731520"/>
          </a:xfrm>
          <a:prstGeom prst="rect">
            <a:avLst/>
          </a:prstGeom>
          <a:noFill/>
          <a:ln/>
        </p:spPr>
        <p:txBody>
          <a:bodyPr wrap="square" lIns="0" tIns="0" rIns="0" bIns="0" rtlCol="0" anchor="ctr"/>
          <a:lstStyle/>
          <a:p>
            <a:pPr indent="0" marL="0">
              <a:buNone/>
            </a:pPr>
            <a:r>
              <a:rPr lang="en-US" sz="1900" b="1" dirty="0">
                <a:solidFill>
                  <a:srgbClr val="10B7CD"/>
                </a:solidFill>
                <a:latin typeface="Montserrat" pitchFamily="34" charset="0"/>
                <a:ea typeface="Montserrat" pitchFamily="34" charset="-122"/>
                <a:cs typeface="Montserrat" pitchFamily="34" charset="-120"/>
              </a:rPr>
              <a:t>acueducto-kidotoy.vaisy.app</a:t>
            </a:r>
            <a:endParaRPr lang="en-US" sz="1900" dirty="0"/>
          </a:p>
        </p:txBody>
      </p:sp>
      <p:sp>
        <p:nvSpPr>
          <p:cNvPr id="6" name="Text 4"/>
          <p:cNvSpPr/>
          <p:nvPr/>
        </p:nvSpPr>
        <p:spPr>
          <a:xfrm>
            <a:off x="640080" y="3515868"/>
            <a:ext cx="2654503" cy="256032"/>
          </a:xfrm>
          <a:prstGeom prst="rect">
            <a:avLst/>
          </a:prstGeom>
          <a:noFill/>
          <a:ln/>
        </p:spPr>
        <p:txBody>
          <a:bodyPr wrap="square" lIns="0" tIns="0" rIns="0" bIns="0" rtlCol="0" anchor="t"/>
          <a:lstStyle/>
          <a:p>
            <a:pPr indent="0" marL="0">
              <a:buNone/>
            </a:pPr>
            <a:r>
              <a:rPr lang="en-US" sz="1050" b="1" spc="100" kern="0" dirty="0">
                <a:solidFill>
                  <a:srgbClr val="AFC4E0"/>
                </a:solidFill>
                <a:latin typeface="Inter" pitchFamily="34" charset="0"/>
                <a:ea typeface="Inter" pitchFamily="34" charset="-122"/>
                <a:cs typeface="Inter" pitchFamily="34" charset="-120"/>
              </a:rPr>
              <a:t>CUENTA DE PRUEBA</a:t>
            </a:r>
            <a:endParaRPr lang="en-US" sz="1050" dirty="0"/>
          </a:p>
        </p:txBody>
      </p:sp>
      <p:sp>
        <p:nvSpPr>
          <p:cNvPr id="7" name="Text 5"/>
          <p:cNvSpPr/>
          <p:nvPr/>
        </p:nvSpPr>
        <p:spPr>
          <a:xfrm>
            <a:off x="3294583" y="3515868"/>
            <a:ext cx="1463040" cy="256032"/>
          </a:xfrm>
          <a:prstGeom prst="rect">
            <a:avLst/>
          </a:prstGeom>
          <a:noFill/>
          <a:ln/>
        </p:spPr>
        <p:txBody>
          <a:bodyPr wrap="square" lIns="0" tIns="0" rIns="0" bIns="0" rtlCol="0" anchor="t"/>
          <a:lstStyle/>
          <a:p>
            <a:pPr indent="0" marL="0">
              <a:buNone/>
            </a:pPr>
            <a:r>
              <a:rPr lang="en-US" sz="1050" b="1" spc="100" kern="0" dirty="0">
                <a:solidFill>
                  <a:srgbClr val="AFC4E0"/>
                </a:solidFill>
                <a:latin typeface="Inter" pitchFamily="34" charset="0"/>
                <a:ea typeface="Inter" pitchFamily="34" charset="-122"/>
                <a:cs typeface="Inter" pitchFamily="34" charset="-120"/>
              </a:rPr>
              <a:t>CÉDULA</a:t>
            </a:r>
            <a:endParaRPr lang="en-US" sz="1050" dirty="0"/>
          </a:p>
        </p:txBody>
      </p:sp>
      <p:sp>
        <p:nvSpPr>
          <p:cNvPr id="8" name="Text 6"/>
          <p:cNvSpPr/>
          <p:nvPr/>
        </p:nvSpPr>
        <p:spPr>
          <a:xfrm>
            <a:off x="4757623" y="3515868"/>
            <a:ext cx="1737360" cy="256032"/>
          </a:xfrm>
          <a:prstGeom prst="rect">
            <a:avLst/>
          </a:prstGeom>
          <a:noFill/>
          <a:ln/>
        </p:spPr>
        <p:txBody>
          <a:bodyPr wrap="square" lIns="0" tIns="0" rIns="0" bIns="0" rtlCol="0" anchor="t"/>
          <a:lstStyle/>
          <a:p>
            <a:pPr indent="0" marL="0">
              <a:buNone/>
            </a:pPr>
            <a:r>
              <a:rPr lang="en-US" sz="1050" b="1" spc="100" kern="0" dirty="0">
                <a:solidFill>
                  <a:srgbClr val="AFC4E0"/>
                </a:solidFill>
                <a:latin typeface="Inter" pitchFamily="34" charset="0"/>
                <a:ea typeface="Inter" pitchFamily="34" charset="-122"/>
                <a:cs typeface="Inter" pitchFamily="34" charset="-120"/>
              </a:rPr>
              <a:t>CÓDIGO SAP</a:t>
            </a:r>
            <a:endParaRPr lang="en-US" sz="1050" dirty="0"/>
          </a:p>
        </p:txBody>
      </p:sp>
      <p:sp>
        <p:nvSpPr>
          <p:cNvPr id="9" name="Text 7"/>
          <p:cNvSpPr/>
          <p:nvPr/>
        </p:nvSpPr>
        <p:spPr>
          <a:xfrm>
            <a:off x="640080" y="3918204"/>
            <a:ext cx="2517343" cy="384048"/>
          </a:xfrm>
          <a:prstGeom prst="rect">
            <a:avLst/>
          </a:prstGeom>
          <a:noFill/>
          <a:ln/>
        </p:spPr>
        <p:txBody>
          <a:bodyPr wrap="square" lIns="0" tIns="0" rIns="0" bIns="0" rtlCol="0" anchor="t"/>
          <a:lstStyle/>
          <a:p>
            <a:pPr indent="0" marL="0">
              <a:buNone/>
            </a:pPr>
            <a:r>
              <a:rPr lang="en-US" sz="1250" dirty="0">
                <a:solidFill>
                  <a:srgbClr val="C8D8F0"/>
                </a:solidFill>
                <a:latin typeface="Inter" pitchFamily="34" charset="0"/>
                <a:ea typeface="Inter" pitchFamily="34" charset="-122"/>
                <a:cs typeface="Inter" pitchFamily="34" charset="-120"/>
              </a:rPr>
              <a:t>Diana · tres hijos, dos por elegir</a:t>
            </a:r>
            <a:endParaRPr lang="en-US" sz="1250" dirty="0"/>
          </a:p>
        </p:txBody>
      </p:sp>
      <p:sp>
        <p:nvSpPr>
          <p:cNvPr id="10" name="Text 8"/>
          <p:cNvSpPr/>
          <p:nvPr/>
        </p:nvSpPr>
        <p:spPr>
          <a:xfrm>
            <a:off x="3294583" y="3890772"/>
            <a:ext cx="137160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52318904</a:t>
            </a:r>
            <a:endParaRPr lang="en-US" sz="1500" dirty="0"/>
          </a:p>
        </p:txBody>
      </p:sp>
      <p:sp>
        <p:nvSpPr>
          <p:cNvPr id="11" name="Text 9"/>
          <p:cNvSpPr/>
          <p:nvPr/>
        </p:nvSpPr>
        <p:spPr>
          <a:xfrm>
            <a:off x="4757623" y="3890772"/>
            <a:ext cx="173736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SAP-007340</a:t>
            </a:r>
            <a:endParaRPr lang="en-US" sz="1500" dirty="0"/>
          </a:p>
        </p:txBody>
      </p:sp>
      <p:sp>
        <p:nvSpPr>
          <p:cNvPr id="12" name="Shape 10"/>
          <p:cNvSpPr/>
          <p:nvPr/>
        </p:nvSpPr>
        <p:spPr>
          <a:xfrm>
            <a:off x="640080" y="4357116"/>
            <a:ext cx="5854903" cy="10973"/>
          </a:xfrm>
          <a:prstGeom prst="rect">
            <a:avLst/>
          </a:prstGeom>
          <a:solidFill>
            <a:srgbClr val="1B4A8E"/>
          </a:solidFill>
          <a:ln/>
        </p:spPr>
      </p:sp>
      <p:sp>
        <p:nvSpPr>
          <p:cNvPr id="13" name="Text 11"/>
          <p:cNvSpPr/>
          <p:nvPr/>
        </p:nvSpPr>
        <p:spPr>
          <a:xfrm>
            <a:off x="640080" y="4430268"/>
            <a:ext cx="2517343" cy="384048"/>
          </a:xfrm>
          <a:prstGeom prst="rect">
            <a:avLst/>
          </a:prstGeom>
          <a:noFill/>
          <a:ln/>
        </p:spPr>
        <p:txBody>
          <a:bodyPr wrap="square" lIns="0" tIns="0" rIns="0" bIns="0" rtlCol="0" anchor="t"/>
          <a:lstStyle/>
          <a:p>
            <a:pPr indent="0" marL="0">
              <a:buNone/>
            </a:pPr>
            <a:r>
              <a:rPr lang="en-US" sz="1250" dirty="0">
                <a:solidFill>
                  <a:srgbClr val="C8D8F0"/>
                </a:solidFill>
                <a:latin typeface="Inter" pitchFamily="34" charset="0"/>
                <a:ea typeface="Inter" pitchFamily="34" charset="-122"/>
                <a:cs typeface="Inter" pitchFamily="34" charset="-120"/>
              </a:rPr>
              <a:t>Valeria · empieza de cero</a:t>
            </a:r>
            <a:endParaRPr lang="en-US" sz="1250" dirty="0"/>
          </a:p>
        </p:txBody>
      </p:sp>
      <p:sp>
        <p:nvSpPr>
          <p:cNvPr id="14" name="Text 12"/>
          <p:cNvSpPr/>
          <p:nvPr/>
        </p:nvSpPr>
        <p:spPr>
          <a:xfrm>
            <a:off x="3294583" y="4402836"/>
            <a:ext cx="137160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52350129</a:t>
            </a:r>
            <a:endParaRPr lang="en-US" sz="1500" dirty="0"/>
          </a:p>
        </p:txBody>
      </p:sp>
      <p:sp>
        <p:nvSpPr>
          <p:cNvPr id="15" name="Text 13"/>
          <p:cNvSpPr/>
          <p:nvPr/>
        </p:nvSpPr>
        <p:spPr>
          <a:xfrm>
            <a:off x="4757623" y="4402836"/>
            <a:ext cx="173736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SAP-095044</a:t>
            </a:r>
            <a:endParaRPr lang="en-US" sz="1500" dirty="0"/>
          </a:p>
        </p:txBody>
      </p:sp>
      <p:sp>
        <p:nvSpPr>
          <p:cNvPr id="16" name="Shape 14"/>
          <p:cNvSpPr/>
          <p:nvPr/>
        </p:nvSpPr>
        <p:spPr>
          <a:xfrm>
            <a:off x="640080" y="4869180"/>
            <a:ext cx="5854903" cy="10973"/>
          </a:xfrm>
          <a:prstGeom prst="rect">
            <a:avLst/>
          </a:prstGeom>
          <a:solidFill>
            <a:srgbClr val="1B4A8E"/>
          </a:solidFill>
          <a:ln/>
        </p:spPr>
      </p:sp>
      <p:sp>
        <p:nvSpPr>
          <p:cNvPr id="17" name="Text 15"/>
          <p:cNvSpPr/>
          <p:nvPr/>
        </p:nvSpPr>
        <p:spPr>
          <a:xfrm>
            <a:off x="640080" y="4942332"/>
            <a:ext cx="2517343" cy="384048"/>
          </a:xfrm>
          <a:prstGeom prst="rect">
            <a:avLst/>
          </a:prstGeom>
          <a:noFill/>
          <a:ln/>
        </p:spPr>
        <p:txBody>
          <a:bodyPr wrap="square" lIns="0" tIns="0" rIns="0" bIns="0" rtlCol="0" anchor="t"/>
          <a:lstStyle/>
          <a:p>
            <a:pPr indent="0" marL="0">
              <a:buNone/>
            </a:pPr>
            <a:r>
              <a:rPr lang="en-US" sz="1250" dirty="0">
                <a:solidFill>
                  <a:srgbClr val="C8D8F0"/>
                </a:solidFill>
                <a:latin typeface="Inter" pitchFamily="34" charset="0"/>
                <a:ea typeface="Inter" pitchFamily="34" charset="-122"/>
                <a:cs typeface="Inter" pitchFamily="34" charset="-120"/>
              </a:rPr>
              <a:t>Antonia · ya terminó, ve comprobantes</a:t>
            </a:r>
            <a:endParaRPr lang="en-US" sz="1250" dirty="0"/>
          </a:p>
        </p:txBody>
      </p:sp>
      <p:sp>
        <p:nvSpPr>
          <p:cNvPr id="18" name="Text 16"/>
          <p:cNvSpPr/>
          <p:nvPr/>
        </p:nvSpPr>
        <p:spPr>
          <a:xfrm>
            <a:off x="3294583" y="4914900"/>
            <a:ext cx="137160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80298382</a:t>
            </a:r>
            <a:endParaRPr lang="en-US" sz="1500" dirty="0"/>
          </a:p>
        </p:txBody>
      </p:sp>
      <p:sp>
        <p:nvSpPr>
          <p:cNvPr id="19" name="Text 17"/>
          <p:cNvSpPr/>
          <p:nvPr/>
        </p:nvSpPr>
        <p:spPr>
          <a:xfrm>
            <a:off x="4757623" y="4914900"/>
            <a:ext cx="1737360" cy="384048"/>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SAP-054153</a:t>
            </a:r>
            <a:endParaRPr lang="en-US" sz="1500" dirty="0"/>
          </a:p>
        </p:txBody>
      </p:sp>
      <p:sp>
        <p:nvSpPr>
          <p:cNvPr id="20" name="Shape 18"/>
          <p:cNvSpPr/>
          <p:nvPr/>
        </p:nvSpPr>
        <p:spPr>
          <a:xfrm>
            <a:off x="6906463" y="612648"/>
            <a:ext cx="4645152" cy="4645152"/>
          </a:xfrm>
          <a:prstGeom prst="roundRect">
            <a:avLst>
              <a:gd name="adj" fmla="val 984"/>
            </a:avLst>
          </a:prstGeom>
          <a:solidFill>
            <a:srgbClr val="FFFFFF"/>
          </a:solidFill>
          <a:ln/>
        </p:spPr>
      </p:sp>
      <p:pic>
        <p:nvPicPr>
          <p:cNvPr id="21" name="Image 0" descr="docs/presentacion/recursos/qr-sitio-negro.png">    </p:cNvPr>
          <p:cNvPicPr>
            <a:picLocks noChangeAspect="1"/>
          </p:cNvPicPr>
          <p:nvPr/>
        </p:nvPicPr>
        <p:blipFill>
          <a:blip r:embed="rId1"/>
          <a:stretch>
            <a:fillRect/>
          </a:stretch>
        </p:blipFill>
        <p:spPr>
          <a:xfrm>
            <a:off x="7217359" y="923544"/>
            <a:ext cx="4023360" cy="4023360"/>
          </a:xfrm>
          <a:prstGeom prst="rect">
            <a:avLst/>
          </a:prstGeom>
        </p:spPr>
      </p:pic>
      <p:sp>
        <p:nvSpPr>
          <p:cNvPr id="22" name="Text 19"/>
          <p:cNvSpPr/>
          <p:nvPr/>
        </p:nvSpPr>
        <p:spPr>
          <a:xfrm>
            <a:off x="6906463" y="5349240"/>
            <a:ext cx="4645152" cy="292608"/>
          </a:xfrm>
          <a:prstGeom prst="rect">
            <a:avLst/>
          </a:prstGeom>
          <a:noFill/>
          <a:ln/>
        </p:spPr>
        <p:txBody>
          <a:bodyPr wrap="square" rtlCol="0" anchor="t"/>
          <a:lstStyle/>
          <a:p>
            <a:pPr algn="ctr" indent="0" marL="0">
              <a:buNone/>
            </a:pPr>
            <a:r>
              <a:rPr lang="en-US" sz="1200" dirty="0">
                <a:solidFill>
                  <a:srgbClr val="AFC4E0"/>
                </a:solidFill>
                <a:latin typeface="Inter" pitchFamily="34" charset="0"/>
                <a:ea typeface="Inter" pitchFamily="34" charset="-122"/>
                <a:cs typeface="Inter" pitchFamily="34" charset="-120"/>
              </a:rPr>
              <a:t>Apunta la cámara del celular</a:t>
            </a:r>
            <a:endParaRPr lang="en-US" sz="1200" dirty="0"/>
          </a:p>
        </p:txBody>
      </p:sp>
      <p:sp>
        <p:nvSpPr>
          <p:cNvPr id="23" name="Shape 20"/>
          <p:cNvSpPr/>
          <p:nvPr/>
        </p:nvSpPr>
        <p:spPr>
          <a:xfrm>
            <a:off x="0" y="6711696"/>
            <a:ext cx="3066212" cy="146304"/>
          </a:xfrm>
          <a:prstGeom prst="rect">
            <a:avLst/>
          </a:prstGeom>
          <a:solidFill>
            <a:srgbClr val="10B7CD"/>
          </a:solidFill>
          <a:ln/>
        </p:spPr>
      </p:sp>
      <p:sp>
        <p:nvSpPr>
          <p:cNvPr id="24" name="Shape 21"/>
          <p:cNvSpPr/>
          <p:nvPr/>
        </p:nvSpPr>
        <p:spPr>
          <a:xfrm>
            <a:off x="3047924" y="6711696"/>
            <a:ext cx="3066212" cy="146304"/>
          </a:xfrm>
          <a:prstGeom prst="rect">
            <a:avLst/>
          </a:prstGeom>
          <a:solidFill>
            <a:srgbClr val="E84141"/>
          </a:solidFill>
          <a:ln/>
        </p:spPr>
      </p:sp>
      <p:sp>
        <p:nvSpPr>
          <p:cNvPr id="25" name="Shape 22"/>
          <p:cNvSpPr/>
          <p:nvPr/>
        </p:nvSpPr>
        <p:spPr>
          <a:xfrm>
            <a:off x="6095848" y="6711696"/>
            <a:ext cx="3066212" cy="146304"/>
          </a:xfrm>
          <a:prstGeom prst="rect">
            <a:avLst/>
          </a:prstGeom>
          <a:solidFill>
            <a:srgbClr val="F8AB11"/>
          </a:solidFill>
          <a:ln/>
        </p:spPr>
      </p:sp>
      <p:sp>
        <p:nvSpPr>
          <p:cNvPr id="26" name="Shape 23"/>
          <p:cNvSpPr/>
          <p:nvPr/>
        </p:nvSpPr>
        <p:spPr>
          <a:xfrm>
            <a:off x="9143771" y="6711696"/>
            <a:ext cx="3047924" cy="146304"/>
          </a:xfrm>
          <a:prstGeom prst="rect">
            <a:avLst/>
          </a:prstGeom>
          <a:solidFill>
            <a:srgbClr val="8974B3"/>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El recorrido del colaborador</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Cuatro pantallas, de principio a fin</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594360" y="1490472"/>
            <a:ext cx="2613584" cy="1667780"/>
          </a:xfrm>
          <a:prstGeom prst="roundRect">
            <a:avLst>
              <a:gd name="adj" fmla="val 2193"/>
            </a:avLst>
          </a:prstGeom>
          <a:solidFill>
            <a:srgbClr val="FFFFFF"/>
          </a:solidFill>
          <a:ln w="12700">
            <a:solidFill>
              <a:srgbClr val="D9E2EC"/>
            </a:solidFill>
            <a:prstDash val="solid"/>
          </a:ln>
        </p:spPr>
      </p:sp>
      <p:pic>
        <p:nvPicPr>
          <p:cNvPr id="9" name="Image 0" descr="docs/presentacion/capturas/escritorio-01-login-colaborador.png">    </p:cNvPr>
          <p:cNvPicPr>
            <a:picLocks noChangeAspect="1"/>
          </p:cNvPicPr>
          <p:nvPr/>
        </p:nvPicPr>
        <p:blipFill>
          <a:blip r:embed="rId1"/>
          <a:stretch>
            <a:fillRect/>
          </a:stretch>
        </p:blipFill>
        <p:spPr>
          <a:xfrm>
            <a:off x="640080" y="1536192"/>
            <a:ext cx="2522144" cy="1576340"/>
          </a:xfrm>
          <a:prstGeom prst="rect">
            <a:avLst/>
          </a:prstGeom>
        </p:spPr>
      </p:pic>
      <p:sp>
        <p:nvSpPr>
          <p:cNvPr id="10" name="Shape 7"/>
          <p:cNvSpPr/>
          <p:nvPr/>
        </p:nvSpPr>
        <p:spPr>
          <a:xfrm>
            <a:off x="1745704" y="3313700"/>
            <a:ext cx="310896" cy="310896"/>
          </a:xfrm>
          <a:prstGeom prst="ellipse">
            <a:avLst/>
          </a:prstGeom>
          <a:solidFill>
            <a:srgbClr val="0167D5"/>
          </a:solidFill>
          <a:ln/>
        </p:spPr>
      </p:sp>
      <p:sp>
        <p:nvSpPr>
          <p:cNvPr id="11" name="Text 8"/>
          <p:cNvSpPr/>
          <p:nvPr/>
        </p:nvSpPr>
        <p:spPr>
          <a:xfrm>
            <a:off x="1745704"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2" name="Text 9"/>
          <p:cNvSpPr/>
          <p:nvPr/>
        </p:nvSpPr>
        <p:spPr>
          <a:xfrm>
            <a:off x="640080" y="3679460"/>
            <a:ext cx="2522144"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Ingresa con cédula y código</a:t>
            </a:r>
            <a:endParaRPr lang="en-US" sz="1200" dirty="0"/>
          </a:p>
        </p:txBody>
      </p:sp>
      <p:sp>
        <p:nvSpPr>
          <p:cNvPr id="13" name="Shape 10"/>
          <p:cNvSpPr/>
          <p:nvPr/>
        </p:nvSpPr>
        <p:spPr>
          <a:xfrm>
            <a:off x="3572555" y="1490472"/>
            <a:ext cx="2561439" cy="1667780"/>
          </a:xfrm>
          <a:prstGeom prst="roundRect">
            <a:avLst>
              <a:gd name="adj" fmla="val 2193"/>
            </a:avLst>
          </a:prstGeom>
          <a:solidFill>
            <a:srgbClr val="FFFFFF"/>
          </a:solidFill>
          <a:ln w="12700">
            <a:solidFill>
              <a:srgbClr val="D9E2EC"/>
            </a:solidFill>
            <a:prstDash val="solid"/>
          </a:ln>
        </p:spPr>
      </p:sp>
      <p:pic>
        <p:nvPicPr>
          <p:cNvPr id="14" name="Image 1" descr="docs/presentacion/capturas/escritorio-02-mis-beneficiarios.png">    </p:cNvPr>
          <p:cNvPicPr>
            <a:picLocks noChangeAspect="1"/>
          </p:cNvPicPr>
          <p:nvPr/>
        </p:nvPicPr>
        <p:blipFill>
          <a:blip r:embed="rId2"/>
          <a:stretch>
            <a:fillRect/>
          </a:stretch>
        </p:blipFill>
        <p:spPr>
          <a:xfrm>
            <a:off x="3618275" y="1536192"/>
            <a:ext cx="2469999" cy="1576340"/>
          </a:xfrm>
          <a:prstGeom prst="rect">
            <a:avLst/>
          </a:prstGeom>
        </p:spPr>
      </p:pic>
      <p:sp>
        <p:nvSpPr>
          <p:cNvPr id="15" name="Shape 11"/>
          <p:cNvSpPr/>
          <p:nvPr/>
        </p:nvSpPr>
        <p:spPr>
          <a:xfrm>
            <a:off x="4697827" y="3313700"/>
            <a:ext cx="310896" cy="310896"/>
          </a:xfrm>
          <a:prstGeom prst="ellipse">
            <a:avLst/>
          </a:prstGeom>
          <a:solidFill>
            <a:srgbClr val="0167D5"/>
          </a:solidFill>
          <a:ln/>
        </p:spPr>
      </p:sp>
      <p:sp>
        <p:nvSpPr>
          <p:cNvPr id="16" name="Text 12"/>
          <p:cNvSpPr/>
          <p:nvPr/>
        </p:nvSpPr>
        <p:spPr>
          <a:xfrm>
            <a:off x="4697827"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7" name="Text 13"/>
          <p:cNvSpPr/>
          <p:nvPr/>
        </p:nvSpPr>
        <p:spPr>
          <a:xfrm>
            <a:off x="3481675" y="3679460"/>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Ve a sus hijos y su estado</a:t>
            </a:r>
            <a:endParaRPr lang="en-US" sz="1200" dirty="0"/>
          </a:p>
        </p:txBody>
      </p:sp>
      <p:sp>
        <p:nvSpPr>
          <p:cNvPr id="18" name="Shape 14"/>
          <p:cNvSpPr/>
          <p:nvPr/>
        </p:nvSpPr>
        <p:spPr>
          <a:xfrm>
            <a:off x="6498607" y="1490472"/>
            <a:ext cx="2480839" cy="1667780"/>
          </a:xfrm>
          <a:prstGeom prst="roundRect">
            <a:avLst>
              <a:gd name="adj" fmla="val 2193"/>
            </a:avLst>
          </a:prstGeom>
          <a:solidFill>
            <a:srgbClr val="FFFFFF"/>
          </a:solidFill>
          <a:ln w="12700">
            <a:solidFill>
              <a:srgbClr val="D9E2EC"/>
            </a:solidFill>
            <a:prstDash val="solid"/>
          </a:ln>
        </p:spPr>
      </p:sp>
      <p:pic>
        <p:nvPicPr>
          <p:cNvPr id="19" name="Image 2" descr="docs/presentacion/recursos/rec-escritorio-03-catalogo-valentina.png">    </p:cNvPr>
          <p:cNvPicPr>
            <a:picLocks noChangeAspect="1"/>
          </p:cNvPicPr>
          <p:nvPr/>
        </p:nvPicPr>
        <p:blipFill>
          <a:blip r:embed="rId3"/>
          <a:stretch>
            <a:fillRect/>
          </a:stretch>
        </p:blipFill>
        <p:spPr>
          <a:xfrm>
            <a:off x="6544327" y="1536192"/>
            <a:ext cx="2389399" cy="1576340"/>
          </a:xfrm>
          <a:prstGeom prst="rect">
            <a:avLst/>
          </a:prstGeom>
        </p:spPr>
      </p:pic>
      <p:sp>
        <p:nvSpPr>
          <p:cNvPr id="20" name="Shape 15"/>
          <p:cNvSpPr/>
          <p:nvPr/>
        </p:nvSpPr>
        <p:spPr>
          <a:xfrm>
            <a:off x="7583578" y="3313700"/>
            <a:ext cx="310896" cy="310896"/>
          </a:xfrm>
          <a:prstGeom prst="ellipse">
            <a:avLst/>
          </a:prstGeom>
          <a:solidFill>
            <a:srgbClr val="0167D5"/>
          </a:solidFill>
          <a:ln/>
        </p:spPr>
      </p:sp>
      <p:sp>
        <p:nvSpPr>
          <p:cNvPr id="21" name="Text 16"/>
          <p:cNvSpPr/>
          <p:nvPr/>
        </p:nvSpPr>
        <p:spPr>
          <a:xfrm>
            <a:off x="7583578"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17"/>
          <p:cNvSpPr/>
          <p:nvPr/>
        </p:nvSpPr>
        <p:spPr>
          <a:xfrm>
            <a:off x="6367426" y="3679460"/>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Elige entre 6 opciones</a:t>
            </a:r>
            <a:endParaRPr lang="en-US" sz="1200" dirty="0"/>
          </a:p>
        </p:txBody>
      </p:sp>
      <p:sp>
        <p:nvSpPr>
          <p:cNvPr id="23" name="Shape 18"/>
          <p:cNvSpPr/>
          <p:nvPr/>
        </p:nvSpPr>
        <p:spPr>
          <a:xfrm>
            <a:off x="9344058" y="1490472"/>
            <a:ext cx="2253278" cy="1667780"/>
          </a:xfrm>
          <a:prstGeom prst="roundRect">
            <a:avLst>
              <a:gd name="adj" fmla="val 2193"/>
            </a:avLst>
          </a:prstGeom>
          <a:solidFill>
            <a:srgbClr val="FFFFFF"/>
          </a:solidFill>
          <a:ln w="12700">
            <a:solidFill>
              <a:srgbClr val="D9E2EC"/>
            </a:solidFill>
            <a:prstDash val="solid"/>
          </a:ln>
        </p:spPr>
      </p:sp>
      <p:pic>
        <p:nvPicPr>
          <p:cNvPr id="24" name="Image 3" descr="docs/presentacion/recursos/rec-escritorio-05-comprobante.png">    </p:cNvPr>
          <p:cNvPicPr>
            <a:picLocks noChangeAspect="1"/>
          </p:cNvPicPr>
          <p:nvPr/>
        </p:nvPicPr>
        <p:blipFill>
          <a:blip r:embed="rId4"/>
          <a:stretch>
            <a:fillRect/>
          </a:stretch>
        </p:blipFill>
        <p:spPr>
          <a:xfrm>
            <a:off x="9389778" y="1536192"/>
            <a:ext cx="2161838" cy="1576340"/>
          </a:xfrm>
          <a:prstGeom prst="rect">
            <a:avLst/>
          </a:prstGeom>
        </p:spPr>
      </p:pic>
      <p:sp>
        <p:nvSpPr>
          <p:cNvPr id="25" name="Shape 19"/>
          <p:cNvSpPr/>
          <p:nvPr/>
        </p:nvSpPr>
        <p:spPr>
          <a:xfrm>
            <a:off x="10315248" y="3313700"/>
            <a:ext cx="310896" cy="310896"/>
          </a:xfrm>
          <a:prstGeom prst="ellipse">
            <a:avLst/>
          </a:prstGeom>
          <a:solidFill>
            <a:srgbClr val="0167D5"/>
          </a:solidFill>
          <a:ln/>
        </p:spPr>
      </p:sp>
      <p:sp>
        <p:nvSpPr>
          <p:cNvPr id="26" name="Text 20"/>
          <p:cNvSpPr/>
          <p:nvPr/>
        </p:nvSpPr>
        <p:spPr>
          <a:xfrm>
            <a:off x="10315248" y="3313700"/>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7" name="Text 21"/>
          <p:cNvSpPr/>
          <p:nvPr/>
        </p:nvSpPr>
        <p:spPr>
          <a:xfrm>
            <a:off x="9389778" y="3679460"/>
            <a:ext cx="2161838"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Recibe su código y QR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Lo que ve el papá en el celular</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La mayoría va a entrar así, no desde un computador</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1214750" y="1490472"/>
            <a:ext cx="1857619" cy="3913632"/>
          </a:xfrm>
          <a:prstGeom prst="roundRect">
            <a:avLst>
              <a:gd name="adj" fmla="val 1969"/>
            </a:avLst>
          </a:prstGeom>
          <a:solidFill>
            <a:srgbClr val="FFFFFF"/>
          </a:solidFill>
          <a:ln w="12700">
            <a:solidFill>
              <a:srgbClr val="D9E2EC"/>
            </a:solidFill>
            <a:prstDash val="solid"/>
          </a:ln>
        </p:spPr>
      </p:sp>
      <p:pic>
        <p:nvPicPr>
          <p:cNvPr id="9" name="Image 0" descr="docs/presentacion/recursos/rec-movil-01-login-colaborador.png">    </p:cNvPr>
          <p:cNvPicPr>
            <a:picLocks noChangeAspect="1"/>
          </p:cNvPicPr>
          <p:nvPr/>
        </p:nvPicPr>
        <p:blipFill>
          <a:blip r:embed="rId1"/>
          <a:stretch>
            <a:fillRect/>
          </a:stretch>
        </p:blipFill>
        <p:spPr>
          <a:xfrm>
            <a:off x="1260470" y="1536192"/>
            <a:ext cx="1766179" cy="3822192"/>
          </a:xfrm>
          <a:prstGeom prst="rect">
            <a:avLst/>
          </a:prstGeom>
        </p:spPr>
      </p:pic>
      <p:sp>
        <p:nvSpPr>
          <p:cNvPr id="10" name="Shape 7"/>
          <p:cNvSpPr/>
          <p:nvPr/>
        </p:nvSpPr>
        <p:spPr>
          <a:xfrm>
            <a:off x="1988111" y="5559552"/>
            <a:ext cx="310896" cy="310896"/>
          </a:xfrm>
          <a:prstGeom prst="ellipse">
            <a:avLst/>
          </a:prstGeom>
          <a:solidFill>
            <a:srgbClr val="0167D5"/>
          </a:solidFill>
          <a:ln/>
        </p:spPr>
      </p:sp>
      <p:sp>
        <p:nvSpPr>
          <p:cNvPr id="11" name="Text 8"/>
          <p:cNvSpPr/>
          <p:nvPr/>
        </p:nvSpPr>
        <p:spPr>
          <a:xfrm>
            <a:off x="1988111"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2" name="Text 9"/>
          <p:cNvSpPr/>
          <p:nvPr/>
        </p:nvSpPr>
        <p:spPr>
          <a:xfrm>
            <a:off x="771959"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Ingreso</a:t>
            </a:r>
            <a:endParaRPr lang="en-US" sz="1200" dirty="0"/>
          </a:p>
        </p:txBody>
      </p:sp>
      <p:sp>
        <p:nvSpPr>
          <p:cNvPr id="13" name="Shape 10"/>
          <p:cNvSpPr/>
          <p:nvPr/>
        </p:nvSpPr>
        <p:spPr>
          <a:xfrm>
            <a:off x="3849609" y="1490472"/>
            <a:ext cx="1857619" cy="3913632"/>
          </a:xfrm>
          <a:prstGeom prst="roundRect">
            <a:avLst>
              <a:gd name="adj" fmla="val 1969"/>
            </a:avLst>
          </a:prstGeom>
          <a:solidFill>
            <a:srgbClr val="FFFFFF"/>
          </a:solidFill>
          <a:ln w="12700">
            <a:solidFill>
              <a:srgbClr val="D9E2EC"/>
            </a:solidFill>
            <a:prstDash val="solid"/>
          </a:ln>
        </p:spPr>
      </p:sp>
      <p:pic>
        <p:nvPicPr>
          <p:cNvPr id="14" name="Image 1" descr="docs/presentacion/recursos/rec-movil-02-mis-beneficiarios.png">    </p:cNvPr>
          <p:cNvPicPr>
            <a:picLocks noChangeAspect="1"/>
          </p:cNvPicPr>
          <p:nvPr/>
        </p:nvPicPr>
        <p:blipFill>
          <a:blip r:embed="rId2"/>
          <a:stretch>
            <a:fillRect/>
          </a:stretch>
        </p:blipFill>
        <p:spPr>
          <a:xfrm>
            <a:off x="3895329" y="1536192"/>
            <a:ext cx="1766179" cy="3822192"/>
          </a:xfrm>
          <a:prstGeom prst="rect">
            <a:avLst/>
          </a:prstGeom>
        </p:spPr>
      </p:pic>
      <p:sp>
        <p:nvSpPr>
          <p:cNvPr id="15" name="Shape 11"/>
          <p:cNvSpPr/>
          <p:nvPr/>
        </p:nvSpPr>
        <p:spPr>
          <a:xfrm>
            <a:off x="4622970" y="5559552"/>
            <a:ext cx="310896" cy="310896"/>
          </a:xfrm>
          <a:prstGeom prst="ellipse">
            <a:avLst/>
          </a:prstGeom>
          <a:solidFill>
            <a:srgbClr val="0167D5"/>
          </a:solidFill>
          <a:ln/>
        </p:spPr>
      </p:sp>
      <p:sp>
        <p:nvSpPr>
          <p:cNvPr id="16" name="Text 12"/>
          <p:cNvSpPr/>
          <p:nvPr/>
        </p:nvSpPr>
        <p:spPr>
          <a:xfrm>
            <a:off x="4622970"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7" name="Text 13"/>
          <p:cNvSpPr/>
          <p:nvPr/>
        </p:nvSpPr>
        <p:spPr>
          <a:xfrm>
            <a:off x="3406818"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Sus hijos</a:t>
            </a:r>
            <a:endParaRPr lang="en-US" sz="1200" dirty="0"/>
          </a:p>
        </p:txBody>
      </p:sp>
      <p:sp>
        <p:nvSpPr>
          <p:cNvPr id="18" name="Shape 14"/>
          <p:cNvSpPr/>
          <p:nvPr/>
        </p:nvSpPr>
        <p:spPr>
          <a:xfrm>
            <a:off x="6484468" y="1490472"/>
            <a:ext cx="1857619" cy="3913632"/>
          </a:xfrm>
          <a:prstGeom prst="roundRect">
            <a:avLst>
              <a:gd name="adj" fmla="val 1969"/>
            </a:avLst>
          </a:prstGeom>
          <a:solidFill>
            <a:srgbClr val="FFFFFF"/>
          </a:solidFill>
          <a:ln w="12700">
            <a:solidFill>
              <a:srgbClr val="D9E2EC"/>
            </a:solidFill>
            <a:prstDash val="solid"/>
          </a:ln>
        </p:spPr>
      </p:sp>
      <p:pic>
        <p:nvPicPr>
          <p:cNvPr id="19" name="Image 2" descr="docs/presentacion/recursos/rec-movil-03-catalogo-valentina.png">    </p:cNvPr>
          <p:cNvPicPr>
            <a:picLocks noChangeAspect="1"/>
          </p:cNvPicPr>
          <p:nvPr/>
        </p:nvPicPr>
        <p:blipFill>
          <a:blip r:embed="rId3"/>
          <a:stretch>
            <a:fillRect/>
          </a:stretch>
        </p:blipFill>
        <p:spPr>
          <a:xfrm>
            <a:off x="6530188" y="1536192"/>
            <a:ext cx="1766179" cy="3822192"/>
          </a:xfrm>
          <a:prstGeom prst="rect">
            <a:avLst/>
          </a:prstGeom>
        </p:spPr>
      </p:pic>
      <p:sp>
        <p:nvSpPr>
          <p:cNvPr id="20" name="Shape 15"/>
          <p:cNvSpPr/>
          <p:nvPr/>
        </p:nvSpPr>
        <p:spPr>
          <a:xfrm>
            <a:off x="7257829" y="5559552"/>
            <a:ext cx="310896" cy="310896"/>
          </a:xfrm>
          <a:prstGeom prst="ellipse">
            <a:avLst/>
          </a:prstGeom>
          <a:solidFill>
            <a:srgbClr val="0167D5"/>
          </a:solidFill>
          <a:ln/>
        </p:spPr>
      </p:sp>
      <p:sp>
        <p:nvSpPr>
          <p:cNvPr id="21" name="Text 16"/>
          <p:cNvSpPr/>
          <p:nvPr/>
        </p:nvSpPr>
        <p:spPr>
          <a:xfrm>
            <a:off x="7257829"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17"/>
          <p:cNvSpPr/>
          <p:nvPr/>
        </p:nvSpPr>
        <p:spPr>
          <a:xfrm>
            <a:off x="6041677"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Catálogo</a:t>
            </a:r>
            <a:endParaRPr lang="en-US" sz="1200" dirty="0"/>
          </a:p>
        </p:txBody>
      </p:sp>
      <p:sp>
        <p:nvSpPr>
          <p:cNvPr id="23" name="Shape 18"/>
          <p:cNvSpPr/>
          <p:nvPr/>
        </p:nvSpPr>
        <p:spPr>
          <a:xfrm>
            <a:off x="9119326" y="1490472"/>
            <a:ext cx="1857619" cy="3913632"/>
          </a:xfrm>
          <a:prstGeom prst="roundRect">
            <a:avLst>
              <a:gd name="adj" fmla="val 1969"/>
            </a:avLst>
          </a:prstGeom>
          <a:solidFill>
            <a:srgbClr val="FFFFFF"/>
          </a:solidFill>
          <a:ln w="12700">
            <a:solidFill>
              <a:srgbClr val="D9E2EC"/>
            </a:solidFill>
            <a:prstDash val="solid"/>
          </a:ln>
        </p:spPr>
      </p:sp>
      <p:pic>
        <p:nvPicPr>
          <p:cNvPr id="24" name="Image 3" descr="docs/presentacion/recursos/rec-movil-04-comprobante.png">    </p:cNvPr>
          <p:cNvPicPr>
            <a:picLocks noChangeAspect="1"/>
          </p:cNvPicPr>
          <p:nvPr/>
        </p:nvPicPr>
        <p:blipFill>
          <a:blip r:embed="rId4"/>
          <a:stretch>
            <a:fillRect/>
          </a:stretch>
        </p:blipFill>
        <p:spPr>
          <a:xfrm>
            <a:off x="9165046" y="1536192"/>
            <a:ext cx="1766179" cy="3822192"/>
          </a:xfrm>
          <a:prstGeom prst="rect">
            <a:avLst/>
          </a:prstGeom>
        </p:spPr>
      </p:pic>
      <p:sp>
        <p:nvSpPr>
          <p:cNvPr id="25" name="Shape 19"/>
          <p:cNvSpPr/>
          <p:nvPr/>
        </p:nvSpPr>
        <p:spPr>
          <a:xfrm>
            <a:off x="9892688" y="5559552"/>
            <a:ext cx="310896" cy="310896"/>
          </a:xfrm>
          <a:prstGeom prst="ellipse">
            <a:avLst/>
          </a:prstGeom>
          <a:solidFill>
            <a:srgbClr val="0167D5"/>
          </a:solidFill>
          <a:ln/>
        </p:spPr>
      </p:sp>
      <p:sp>
        <p:nvSpPr>
          <p:cNvPr id="26" name="Text 20"/>
          <p:cNvSpPr/>
          <p:nvPr/>
        </p:nvSpPr>
        <p:spPr>
          <a:xfrm>
            <a:off x="9892688"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7" name="Text 21"/>
          <p:cNvSpPr/>
          <p:nvPr/>
        </p:nvSpPr>
        <p:spPr>
          <a:xfrm>
            <a:off x="8676536"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Comprobante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El panel de ustedes</a:t>
            </a:r>
            <a:endParaRPr lang="en-US" sz="3000" dirty="0"/>
          </a:p>
        </p:txBody>
      </p:sp>
      <p:sp>
        <p:nvSpPr>
          <p:cNvPr id="3" name="Shape 1"/>
          <p:cNvSpPr/>
          <p:nvPr/>
        </p:nvSpPr>
        <p:spPr>
          <a:xfrm>
            <a:off x="0" y="6711696"/>
            <a:ext cx="3066212" cy="146304"/>
          </a:xfrm>
          <a:prstGeom prst="rect">
            <a:avLst/>
          </a:prstGeom>
          <a:solidFill>
            <a:srgbClr val="10B7CD"/>
          </a:solidFill>
          <a:ln/>
        </p:spPr>
      </p:sp>
      <p:sp>
        <p:nvSpPr>
          <p:cNvPr id="4" name="Shape 2"/>
          <p:cNvSpPr/>
          <p:nvPr/>
        </p:nvSpPr>
        <p:spPr>
          <a:xfrm>
            <a:off x="3047924" y="6711696"/>
            <a:ext cx="3066212" cy="146304"/>
          </a:xfrm>
          <a:prstGeom prst="rect">
            <a:avLst/>
          </a:prstGeom>
          <a:solidFill>
            <a:srgbClr val="E84141"/>
          </a:solidFill>
          <a:ln/>
        </p:spPr>
      </p:sp>
      <p:sp>
        <p:nvSpPr>
          <p:cNvPr id="5" name="Shape 3"/>
          <p:cNvSpPr/>
          <p:nvPr/>
        </p:nvSpPr>
        <p:spPr>
          <a:xfrm>
            <a:off x="6095848" y="6711696"/>
            <a:ext cx="3066212" cy="146304"/>
          </a:xfrm>
          <a:prstGeom prst="rect">
            <a:avLst/>
          </a:prstGeom>
          <a:solidFill>
            <a:srgbClr val="F8AB11"/>
          </a:solidFill>
          <a:ln/>
        </p:spPr>
      </p:sp>
      <p:sp>
        <p:nvSpPr>
          <p:cNvPr id="6" name="Shape 4"/>
          <p:cNvSpPr/>
          <p:nvPr/>
        </p:nvSpPr>
        <p:spPr>
          <a:xfrm>
            <a:off x="9143771" y="6711696"/>
            <a:ext cx="3047924" cy="146304"/>
          </a:xfrm>
          <a:prstGeom prst="rect">
            <a:avLst/>
          </a:prstGeom>
          <a:solidFill>
            <a:srgbClr val="8974B3"/>
          </a:solidFill>
          <a:ln/>
        </p:spPr>
      </p:sp>
      <p:sp>
        <p:nvSpPr>
          <p:cNvPr id="7" name="Shape 5"/>
          <p:cNvSpPr/>
          <p:nvPr/>
        </p:nvSpPr>
        <p:spPr>
          <a:xfrm>
            <a:off x="640080" y="2468880"/>
            <a:ext cx="137160" cy="137160"/>
          </a:xfrm>
          <a:prstGeom prst="ellipse">
            <a:avLst/>
          </a:prstGeom>
          <a:solidFill>
            <a:srgbClr val="10B7CD"/>
          </a:solidFill>
          <a:ln/>
        </p:spPr>
      </p:sp>
      <p:sp>
        <p:nvSpPr>
          <p:cNvPr id="8" name="Text 6"/>
          <p:cNvSpPr/>
          <p:nvPr/>
        </p:nvSpPr>
        <p:spPr>
          <a:xfrm>
            <a:off x="932688" y="2386584"/>
            <a:ext cx="3395167"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Avance de la campaña en tiempo real</a:t>
            </a:r>
            <a:endParaRPr lang="en-US" sz="1500" dirty="0"/>
          </a:p>
        </p:txBody>
      </p:sp>
      <p:sp>
        <p:nvSpPr>
          <p:cNvPr id="9" name="Shape 7"/>
          <p:cNvSpPr/>
          <p:nvPr/>
        </p:nvSpPr>
        <p:spPr>
          <a:xfrm>
            <a:off x="640080" y="3328416"/>
            <a:ext cx="137160" cy="137160"/>
          </a:xfrm>
          <a:prstGeom prst="ellipse">
            <a:avLst/>
          </a:prstGeom>
          <a:solidFill>
            <a:srgbClr val="10B7CD"/>
          </a:solidFill>
          <a:ln/>
        </p:spPr>
      </p:sp>
      <p:sp>
        <p:nvSpPr>
          <p:cNvPr id="10" name="Text 8"/>
          <p:cNvSpPr/>
          <p:nvPr/>
        </p:nvSpPr>
        <p:spPr>
          <a:xfrm>
            <a:off x="932688" y="3246120"/>
            <a:ext cx="3395167"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Selecciones a medida que entran</a:t>
            </a:r>
            <a:endParaRPr lang="en-US" sz="1500" dirty="0"/>
          </a:p>
        </p:txBody>
      </p:sp>
      <p:sp>
        <p:nvSpPr>
          <p:cNvPr id="11" name="Shape 9"/>
          <p:cNvSpPr/>
          <p:nvPr/>
        </p:nvSpPr>
        <p:spPr>
          <a:xfrm>
            <a:off x="640080" y="3913632"/>
            <a:ext cx="137160" cy="137160"/>
          </a:xfrm>
          <a:prstGeom prst="ellipse">
            <a:avLst/>
          </a:prstGeom>
          <a:solidFill>
            <a:srgbClr val="10B7CD"/>
          </a:solidFill>
          <a:ln/>
        </p:spPr>
      </p:sp>
      <p:sp>
        <p:nvSpPr>
          <p:cNvPr id="12" name="Text 10"/>
          <p:cNvSpPr/>
          <p:nvPr/>
        </p:nvSpPr>
        <p:spPr>
          <a:xfrm>
            <a:off x="932688" y="3831336"/>
            <a:ext cx="3395167"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Inventario editable por referencia</a:t>
            </a:r>
            <a:endParaRPr lang="en-US" sz="1500" dirty="0"/>
          </a:p>
        </p:txBody>
      </p:sp>
      <p:sp>
        <p:nvSpPr>
          <p:cNvPr id="13" name="Shape 11"/>
          <p:cNvSpPr/>
          <p:nvPr/>
        </p:nvSpPr>
        <p:spPr>
          <a:xfrm>
            <a:off x="640080" y="4498848"/>
            <a:ext cx="137160" cy="137160"/>
          </a:xfrm>
          <a:prstGeom prst="ellipse">
            <a:avLst/>
          </a:prstGeom>
          <a:solidFill>
            <a:srgbClr val="10B7CD"/>
          </a:solidFill>
          <a:ln/>
        </p:spPr>
      </p:sp>
      <p:sp>
        <p:nvSpPr>
          <p:cNvPr id="14" name="Text 12"/>
          <p:cNvSpPr/>
          <p:nvPr/>
        </p:nvSpPr>
        <p:spPr>
          <a:xfrm>
            <a:off x="932688" y="4416552"/>
            <a:ext cx="3395167"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Liberar una selección, con motivo y registro</a:t>
            </a:r>
            <a:endParaRPr lang="en-US" sz="1500" dirty="0"/>
          </a:p>
        </p:txBody>
      </p:sp>
      <p:sp>
        <p:nvSpPr>
          <p:cNvPr id="15" name="Shape 13"/>
          <p:cNvSpPr/>
          <p:nvPr/>
        </p:nvSpPr>
        <p:spPr>
          <a:xfrm>
            <a:off x="4913071" y="1152144"/>
            <a:ext cx="6693408" cy="5047488"/>
          </a:xfrm>
          <a:prstGeom prst="roundRect">
            <a:avLst>
              <a:gd name="adj" fmla="val 725"/>
            </a:avLst>
          </a:prstGeom>
          <a:solidFill>
            <a:srgbClr val="FFFFFF"/>
          </a:solidFill>
          <a:ln w="12700">
            <a:solidFill>
              <a:srgbClr val="D9E2EC"/>
            </a:solidFill>
            <a:prstDash val="solid"/>
          </a:ln>
        </p:spPr>
      </p:sp>
      <p:pic>
        <p:nvPicPr>
          <p:cNvPr id="16" name="Image 0" descr="docs/presentacion/recursos/panel-escritorio-06-kidotoy-resumen.png">    </p:cNvPr>
          <p:cNvPicPr>
            <a:picLocks noChangeAspect="1"/>
          </p:cNvPicPr>
          <p:nvPr/>
        </p:nvPicPr>
        <p:blipFill>
          <a:blip r:embed="rId1"/>
          <a:stretch>
            <a:fillRect/>
          </a:stretch>
        </p:blipFill>
        <p:spPr>
          <a:xfrm>
            <a:off x="4967935" y="1207008"/>
            <a:ext cx="658368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Saber si el inventario alcanza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Cruza el stock disponible con los niños que todavía no han elegido, grupo por grupo</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1753936" y="1481328"/>
            <a:ext cx="8683823" cy="4718304"/>
          </a:xfrm>
          <a:prstGeom prst="roundRect">
            <a:avLst>
              <a:gd name="adj" fmla="val 775"/>
            </a:avLst>
          </a:prstGeom>
          <a:solidFill>
            <a:srgbClr val="FFFFFF"/>
          </a:solidFill>
          <a:ln w="12700">
            <a:solidFill>
              <a:srgbClr val="D9E2EC"/>
            </a:solidFill>
            <a:prstDash val="solid"/>
          </a:ln>
        </p:spPr>
      </p:sp>
      <p:pic>
        <p:nvPicPr>
          <p:cNvPr id="9" name="Image 0" descr="docs/presentacion/recursos/panel-escritorio-07-kidotoy-inventario.png">    </p:cNvPr>
          <p:cNvPicPr>
            <a:picLocks noChangeAspect="1"/>
          </p:cNvPicPr>
          <p:nvPr/>
        </p:nvPicPr>
        <p:blipFill>
          <a:blip r:embed="rId1"/>
          <a:stretch>
            <a:fillRect/>
          </a:stretch>
        </p:blipFill>
        <p:spPr>
          <a:xfrm>
            <a:off x="1808800" y="1536192"/>
            <a:ext cx="8574095" cy="46085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La jornada del 12 de diciembre</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El panel de control y lo que usa el operario en la carpa</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890974" y="1490472"/>
            <a:ext cx="5140030" cy="3877882"/>
          </a:xfrm>
          <a:prstGeom prst="roundRect">
            <a:avLst>
              <a:gd name="adj" fmla="val 943"/>
            </a:avLst>
          </a:prstGeom>
          <a:solidFill>
            <a:srgbClr val="FFFFFF"/>
          </a:solidFill>
          <a:ln w="12700">
            <a:solidFill>
              <a:srgbClr val="D9E2EC"/>
            </a:solidFill>
            <a:prstDash val="solid"/>
          </a:ln>
        </p:spPr>
      </p:sp>
      <p:pic>
        <p:nvPicPr>
          <p:cNvPr id="9" name="Image 0" descr="docs/presentacion/recursos/panel-escritorio-09-kidotoy-entregas.png">    </p:cNvPr>
          <p:cNvPicPr>
            <a:picLocks noChangeAspect="1"/>
          </p:cNvPicPr>
          <p:nvPr/>
        </p:nvPicPr>
        <p:blipFill>
          <a:blip r:embed="rId1"/>
          <a:stretch>
            <a:fillRect/>
          </a:stretch>
        </p:blipFill>
        <p:spPr>
          <a:xfrm>
            <a:off x="936694" y="1536192"/>
            <a:ext cx="5048590" cy="3786442"/>
          </a:xfrm>
          <a:prstGeom prst="rect">
            <a:avLst/>
          </a:prstGeom>
        </p:spPr>
      </p:pic>
      <p:sp>
        <p:nvSpPr>
          <p:cNvPr id="10" name="Shape 7"/>
          <p:cNvSpPr/>
          <p:nvPr/>
        </p:nvSpPr>
        <p:spPr>
          <a:xfrm>
            <a:off x="3305541" y="5559552"/>
            <a:ext cx="310896" cy="310896"/>
          </a:xfrm>
          <a:prstGeom prst="ellipse">
            <a:avLst/>
          </a:prstGeom>
          <a:solidFill>
            <a:srgbClr val="0167D5"/>
          </a:solidFill>
          <a:ln/>
        </p:spPr>
      </p:sp>
      <p:sp>
        <p:nvSpPr>
          <p:cNvPr id="11" name="Text 8"/>
          <p:cNvSpPr/>
          <p:nvPr/>
        </p:nvSpPr>
        <p:spPr>
          <a:xfrm>
            <a:off x="3305541"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2" name="Text 9"/>
          <p:cNvSpPr/>
          <p:nvPr/>
        </p:nvSpPr>
        <p:spPr>
          <a:xfrm>
            <a:off x="2089389"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Avance por carpa, desde el panel</a:t>
            </a:r>
            <a:endParaRPr lang="en-US" sz="1200" dirty="0"/>
          </a:p>
        </p:txBody>
      </p:sp>
      <p:sp>
        <p:nvSpPr>
          <p:cNvPr id="13" name="Shape 10"/>
          <p:cNvSpPr/>
          <p:nvPr/>
        </p:nvSpPr>
        <p:spPr>
          <a:xfrm>
            <a:off x="6808244" y="1490472"/>
            <a:ext cx="1857619" cy="3913632"/>
          </a:xfrm>
          <a:prstGeom prst="roundRect">
            <a:avLst>
              <a:gd name="adj" fmla="val 1969"/>
            </a:avLst>
          </a:prstGeom>
          <a:solidFill>
            <a:srgbClr val="FFFFFF"/>
          </a:solidFill>
          <a:ln w="12700">
            <a:solidFill>
              <a:srgbClr val="D9E2EC"/>
            </a:solidFill>
            <a:prstDash val="solid"/>
          </a:ln>
        </p:spPr>
      </p:sp>
      <p:pic>
        <p:nvPicPr>
          <p:cNvPr id="14" name="Image 1" descr="docs/presentacion/recursos/rec-movil-06-entrega-ficha.png">    </p:cNvPr>
          <p:cNvPicPr>
            <a:picLocks noChangeAspect="1"/>
          </p:cNvPicPr>
          <p:nvPr/>
        </p:nvPicPr>
        <p:blipFill>
          <a:blip r:embed="rId2"/>
          <a:stretch>
            <a:fillRect/>
          </a:stretch>
        </p:blipFill>
        <p:spPr>
          <a:xfrm>
            <a:off x="6853964" y="1536192"/>
            <a:ext cx="1766179" cy="3822192"/>
          </a:xfrm>
          <a:prstGeom prst="rect">
            <a:avLst/>
          </a:prstGeom>
        </p:spPr>
      </p:pic>
      <p:sp>
        <p:nvSpPr>
          <p:cNvPr id="15" name="Shape 11"/>
          <p:cNvSpPr/>
          <p:nvPr/>
        </p:nvSpPr>
        <p:spPr>
          <a:xfrm>
            <a:off x="7581605" y="5559552"/>
            <a:ext cx="310896" cy="310896"/>
          </a:xfrm>
          <a:prstGeom prst="ellipse">
            <a:avLst/>
          </a:prstGeom>
          <a:solidFill>
            <a:srgbClr val="0167D5"/>
          </a:solidFill>
          <a:ln/>
        </p:spPr>
      </p:sp>
      <p:sp>
        <p:nvSpPr>
          <p:cNvPr id="16" name="Text 12"/>
          <p:cNvSpPr/>
          <p:nvPr/>
        </p:nvSpPr>
        <p:spPr>
          <a:xfrm>
            <a:off x="7581605"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7" name="Text 13"/>
          <p:cNvSpPr/>
          <p:nvPr/>
        </p:nvSpPr>
        <p:spPr>
          <a:xfrm>
            <a:off x="6365453" y="5925312"/>
            <a:ext cx="2743200"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El operario verifica</a:t>
            </a:r>
            <a:endParaRPr lang="en-US" sz="1200" dirty="0"/>
          </a:p>
        </p:txBody>
      </p:sp>
      <p:sp>
        <p:nvSpPr>
          <p:cNvPr id="18" name="Shape 14"/>
          <p:cNvSpPr/>
          <p:nvPr/>
        </p:nvSpPr>
        <p:spPr>
          <a:xfrm>
            <a:off x="9443103" y="1490472"/>
            <a:ext cx="1857619" cy="3913632"/>
          </a:xfrm>
          <a:prstGeom prst="roundRect">
            <a:avLst>
              <a:gd name="adj" fmla="val 1969"/>
            </a:avLst>
          </a:prstGeom>
          <a:solidFill>
            <a:srgbClr val="FFFFFF"/>
          </a:solidFill>
          <a:ln w="12700">
            <a:solidFill>
              <a:srgbClr val="D9E2EC"/>
            </a:solidFill>
            <a:prstDash val="solid"/>
          </a:ln>
        </p:spPr>
      </p:sp>
      <p:pic>
        <p:nvPicPr>
          <p:cNvPr id="19" name="Image 2" descr="docs/presentacion/capturas/movil-07-entrega-entregado.png">    </p:cNvPr>
          <p:cNvPicPr>
            <a:picLocks noChangeAspect="1"/>
          </p:cNvPicPr>
          <p:nvPr/>
        </p:nvPicPr>
        <p:blipFill>
          <a:blip r:embed="rId3"/>
          <a:stretch>
            <a:fillRect/>
          </a:stretch>
        </p:blipFill>
        <p:spPr>
          <a:xfrm>
            <a:off x="9488823" y="1536192"/>
            <a:ext cx="1766179" cy="3822192"/>
          </a:xfrm>
          <a:prstGeom prst="rect">
            <a:avLst/>
          </a:prstGeom>
        </p:spPr>
      </p:pic>
      <p:sp>
        <p:nvSpPr>
          <p:cNvPr id="20" name="Shape 15"/>
          <p:cNvSpPr/>
          <p:nvPr/>
        </p:nvSpPr>
        <p:spPr>
          <a:xfrm>
            <a:off x="10216464" y="5559552"/>
            <a:ext cx="310896" cy="310896"/>
          </a:xfrm>
          <a:prstGeom prst="ellipse">
            <a:avLst/>
          </a:prstGeom>
          <a:solidFill>
            <a:srgbClr val="0167D5"/>
          </a:solidFill>
          <a:ln/>
        </p:spPr>
      </p:sp>
      <p:sp>
        <p:nvSpPr>
          <p:cNvPr id="21" name="Text 16"/>
          <p:cNvSpPr/>
          <p:nvPr/>
        </p:nvSpPr>
        <p:spPr>
          <a:xfrm>
            <a:off x="10216464" y="5559552"/>
            <a:ext cx="310896" cy="310896"/>
          </a:xfrm>
          <a:prstGeom prst="rect">
            <a:avLst/>
          </a:prstGeom>
          <a:noFill/>
          <a:ln/>
        </p:spPr>
        <p:txBody>
          <a:bodyPr wrap="square"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2" name="Text 17"/>
          <p:cNvSpPr/>
          <p:nvPr/>
        </p:nvSpPr>
        <p:spPr>
          <a:xfrm>
            <a:off x="9192209" y="5925312"/>
            <a:ext cx="2359406" cy="329184"/>
          </a:xfrm>
          <a:prstGeom prst="rect">
            <a:avLst/>
          </a:prstGeom>
          <a:noFill/>
          <a:ln/>
        </p:spPr>
        <p:txBody>
          <a:bodyPr wrap="square" lIns="0" tIns="0" rIns="0" bIns="0" rtlCol="0" anchor="t"/>
          <a:lstStyle/>
          <a:p>
            <a:pPr algn="ctr" indent="0" marL="0">
              <a:buNone/>
            </a:pPr>
            <a:r>
              <a:rPr lang="en-US" sz="1200" dirty="0">
                <a:solidFill>
                  <a:srgbClr val="333333"/>
                </a:solidFill>
                <a:latin typeface="Inter" pitchFamily="34" charset="0"/>
                <a:ea typeface="Inter" pitchFamily="34" charset="-122"/>
                <a:cs typeface="Inter" pitchFamily="34" charset="-120"/>
              </a:rPr>
              <a:t>Marca entregado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Lo que el Acueducto vería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Portal de solo consulta</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2340864"/>
            <a:ext cx="137160" cy="137160"/>
          </a:xfrm>
          <a:prstGeom prst="ellipse">
            <a:avLst/>
          </a:prstGeom>
          <a:solidFill>
            <a:srgbClr val="10B7CD"/>
          </a:solidFill>
          <a:ln/>
        </p:spPr>
      </p:sp>
      <p:sp>
        <p:nvSpPr>
          <p:cNvPr id="9" name="Text 7"/>
          <p:cNvSpPr/>
          <p:nvPr/>
        </p:nvSpPr>
        <p:spPr>
          <a:xfrm>
            <a:off x="932688" y="2258568"/>
            <a:ext cx="3139336"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Avance de la campaña</a:t>
            </a:r>
            <a:endParaRPr lang="en-US" sz="1500" dirty="0"/>
          </a:p>
        </p:txBody>
      </p:sp>
      <p:sp>
        <p:nvSpPr>
          <p:cNvPr id="10" name="Shape 8"/>
          <p:cNvSpPr/>
          <p:nvPr/>
        </p:nvSpPr>
        <p:spPr>
          <a:xfrm>
            <a:off x="640080" y="2926080"/>
            <a:ext cx="137160" cy="137160"/>
          </a:xfrm>
          <a:prstGeom prst="ellipse">
            <a:avLst/>
          </a:prstGeom>
          <a:solidFill>
            <a:srgbClr val="10B7CD"/>
          </a:solidFill>
          <a:ln/>
        </p:spPr>
      </p:sp>
      <p:sp>
        <p:nvSpPr>
          <p:cNvPr id="11" name="Text 9"/>
          <p:cNvSpPr/>
          <p:nvPr/>
        </p:nvSpPr>
        <p:spPr>
          <a:xfrm>
            <a:off x="932688" y="2843784"/>
            <a:ext cx="3139336"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Quiénes faltan por elegir</a:t>
            </a:r>
            <a:endParaRPr lang="en-US" sz="1500" dirty="0"/>
          </a:p>
        </p:txBody>
      </p:sp>
      <p:sp>
        <p:nvSpPr>
          <p:cNvPr id="12" name="Shape 10"/>
          <p:cNvSpPr/>
          <p:nvPr/>
        </p:nvSpPr>
        <p:spPr>
          <a:xfrm>
            <a:off x="640080" y="3511296"/>
            <a:ext cx="137160" cy="137160"/>
          </a:xfrm>
          <a:prstGeom prst="ellipse">
            <a:avLst/>
          </a:prstGeom>
          <a:solidFill>
            <a:srgbClr val="10B7CD"/>
          </a:solidFill>
          <a:ln/>
        </p:spPr>
      </p:sp>
      <p:sp>
        <p:nvSpPr>
          <p:cNvPr id="13" name="Text 11"/>
          <p:cNvSpPr/>
          <p:nvPr/>
        </p:nvSpPr>
        <p:spPr>
          <a:xfrm>
            <a:off x="932688" y="3429000"/>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Alertas de referencias por agotarse</a:t>
            </a:r>
            <a:endParaRPr lang="en-US" sz="1500" dirty="0"/>
          </a:p>
        </p:txBody>
      </p:sp>
      <p:sp>
        <p:nvSpPr>
          <p:cNvPr id="14" name="Shape 12"/>
          <p:cNvSpPr/>
          <p:nvPr/>
        </p:nvSpPr>
        <p:spPr>
          <a:xfrm>
            <a:off x="640080" y="4370832"/>
            <a:ext cx="137160" cy="137160"/>
          </a:xfrm>
          <a:prstGeom prst="ellipse">
            <a:avLst/>
          </a:prstGeom>
          <a:solidFill>
            <a:srgbClr val="10B7CD"/>
          </a:solidFill>
          <a:ln/>
        </p:spPr>
      </p:sp>
      <p:sp>
        <p:nvSpPr>
          <p:cNvPr id="15" name="Text 13"/>
          <p:cNvSpPr/>
          <p:nvPr/>
        </p:nvSpPr>
        <p:spPr>
          <a:xfrm>
            <a:off x="932688" y="4288536"/>
            <a:ext cx="3139336" cy="27432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Exportación a CSV</a:t>
            </a:r>
            <a:endParaRPr lang="en-US" sz="1500" dirty="0"/>
          </a:p>
        </p:txBody>
      </p:sp>
      <p:sp>
        <p:nvSpPr>
          <p:cNvPr id="16" name="Shape 14"/>
          <p:cNvSpPr/>
          <p:nvPr/>
        </p:nvSpPr>
        <p:spPr>
          <a:xfrm>
            <a:off x="640080" y="4956048"/>
            <a:ext cx="137160" cy="137160"/>
          </a:xfrm>
          <a:prstGeom prst="ellipse">
            <a:avLst/>
          </a:prstGeom>
          <a:solidFill>
            <a:srgbClr val="10B7CD"/>
          </a:solidFill>
          <a:ln/>
        </p:spPr>
      </p:sp>
      <p:sp>
        <p:nvSpPr>
          <p:cNvPr id="17" name="Text 15"/>
          <p:cNvSpPr/>
          <p:nvPr/>
        </p:nvSpPr>
        <p:spPr>
          <a:xfrm>
            <a:off x="932688" y="4873752"/>
            <a:ext cx="3139336" cy="548640"/>
          </a:xfrm>
          <a:prstGeom prst="rect">
            <a:avLst/>
          </a:prstGeom>
          <a:noFill/>
          <a:ln/>
        </p:spPr>
        <p:txBody>
          <a:bodyPr wrap="square" lIns="0" tIns="0" rIns="0" bIns="0" rtlCol="0" anchor="t"/>
          <a:lstStyle/>
          <a:p>
            <a:pPr indent="0" marL="0">
              <a:lnSpc>
                <a:spcPts val="2200"/>
              </a:lnSpc>
              <a:buNone/>
            </a:pPr>
            <a:r>
              <a:rPr lang="en-US" sz="1500" dirty="0">
                <a:solidFill>
                  <a:srgbClr val="333333"/>
                </a:solidFill>
                <a:latin typeface="Inter" pitchFamily="34" charset="0"/>
                <a:ea typeface="Inter" pitchFamily="34" charset="-122"/>
                <a:cs typeface="Inter" pitchFamily="34" charset="-120"/>
              </a:rPr>
              <a:t>NO puede editar inventario ni liberar selecciones</a:t>
            </a:r>
            <a:endParaRPr lang="en-US" sz="1500" dirty="0"/>
          </a:p>
        </p:txBody>
      </p:sp>
      <p:sp>
        <p:nvSpPr>
          <p:cNvPr id="18" name="Shape 16"/>
          <p:cNvSpPr/>
          <p:nvPr/>
        </p:nvSpPr>
        <p:spPr>
          <a:xfrm>
            <a:off x="4657240" y="1529527"/>
            <a:ext cx="6949239" cy="4621905"/>
          </a:xfrm>
          <a:prstGeom prst="roundRect">
            <a:avLst>
              <a:gd name="adj" fmla="val 791"/>
            </a:avLst>
          </a:prstGeom>
          <a:solidFill>
            <a:srgbClr val="FFFFFF"/>
          </a:solidFill>
          <a:ln w="12700">
            <a:solidFill>
              <a:srgbClr val="D9E2EC"/>
            </a:solidFill>
            <a:prstDash val="solid"/>
          </a:ln>
        </p:spPr>
      </p:sp>
      <p:pic>
        <p:nvPicPr>
          <p:cNvPr id="19" name="Image 0" descr="docs/presentacion/recursos/rec-escritorio-11-acueducto-resumen-y-pendientes.png">    </p:cNvPr>
          <p:cNvPicPr>
            <a:picLocks noChangeAspect="1"/>
          </p:cNvPicPr>
          <p:nvPr/>
        </p:nvPicPr>
        <p:blipFill>
          <a:blip r:embed="rId1"/>
          <a:stretch>
            <a:fillRect/>
          </a:stretch>
        </p:blipFill>
        <p:spPr>
          <a:xfrm>
            <a:off x="4712104" y="1584391"/>
            <a:ext cx="6839511" cy="45121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1005840"/>
            <a:ext cx="7436815" cy="1005840"/>
          </a:xfrm>
          <a:prstGeom prst="rect">
            <a:avLst/>
          </a:prstGeom>
          <a:noFill/>
          <a:ln/>
        </p:spPr>
        <p:txBody>
          <a:bodyPr wrap="square" lIns="0" tIns="0" rIns="0" bIns="0" rtlCol="0" anchor="t"/>
          <a:lstStyle/>
          <a:p>
            <a:pPr indent="0" marL="0">
              <a:lnSpc>
                <a:spcPts val="3800"/>
              </a:lnSpc>
              <a:buNone/>
            </a:pPr>
            <a:r>
              <a:rPr lang="en-US" sz="3000" b="1" dirty="0">
                <a:solidFill>
                  <a:srgbClr val="0B3A78"/>
                </a:solidFill>
                <a:latin typeface="Montserrat" pitchFamily="34" charset="0"/>
                <a:ea typeface="Montserrat" pitchFamily="34" charset="-122"/>
                <a:cs typeface="Montserrat" pitchFamily="34" charset="-120"/>
              </a:rPr>
              <a:t>«Dos papás, un juguete, el mismo segundo»</a:t>
            </a:r>
            <a:endParaRPr lang="en-US" sz="3000" dirty="0"/>
          </a:p>
        </p:txBody>
      </p:sp>
      <p:sp>
        <p:nvSpPr>
          <p:cNvPr id="3" name="Text 1"/>
          <p:cNvSpPr/>
          <p:nvPr/>
        </p:nvSpPr>
        <p:spPr>
          <a:xfrm>
            <a:off x="640080" y="2468880"/>
            <a:ext cx="7436815" cy="2670048"/>
          </a:xfrm>
          <a:prstGeom prst="rect">
            <a:avLst/>
          </a:prstGeom>
          <a:noFill/>
          <a:ln/>
        </p:spPr>
        <p:txBody>
          <a:bodyPr wrap="square" lIns="0" tIns="0" rIns="0" bIns="0" rtlCol="0" anchor="t"/>
          <a:lstStyle/>
          <a:p>
            <a:pPr indent="0" marL="0">
              <a:lnSpc>
                <a:spcPts val="2800"/>
              </a:lnSpc>
              <a:buNone/>
            </a:pPr>
            <a:r>
              <a:rPr lang="en-US" sz="1700" dirty="0">
                <a:solidFill>
                  <a:srgbClr val="333333"/>
                </a:solidFill>
                <a:latin typeface="Inter" pitchFamily="34" charset="0"/>
                <a:ea typeface="Inter" pitchFamily="34" charset="-122"/>
                <a:cs typeface="Inter" pitchFamily="34" charset="-120"/>
              </a:rPr>
              <a:t>El descuento de inventario ocurre dentro de una sola transacción de base de datos. El primero se lleva la unidad; el segundo recibe un mensaje claro y la pantalla se le corrige sola.</a:t>
            </a:r>
            <a:endParaRPr lang="en-US" sz="1700" dirty="0"/>
          </a:p>
          <a:p>
            <a:pPr indent="0" marL="0">
              <a:lnSpc>
                <a:spcPts val="2800"/>
              </a:lnSpc>
              <a:buNone/>
            </a:pPr>
            <a:endParaRPr lang="en-US" sz="1700" dirty="0"/>
          </a:p>
          <a:p>
            <a:pPr indent="0" marL="0">
              <a:lnSpc>
                <a:spcPts val="2800"/>
              </a:lnSpc>
              <a:buNone/>
            </a:pPr>
            <a:r>
              <a:rPr lang="en-US" sz="1700" dirty="0">
                <a:solidFill>
                  <a:srgbClr val="333333"/>
                </a:solidFill>
                <a:latin typeface="Inter" pitchFamily="34" charset="0"/>
                <a:ea typeface="Inter" pitchFamily="34" charset="-122"/>
                <a:cs typeface="Inter" pitchFamily="34" charset="-120"/>
              </a:rPr>
              <a:t>Lo probamos sobre el sitio en vivo, con red real y dos usuarios distintos.</a:t>
            </a:r>
            <a:endParaRPr lang="en-US" sz="1700" dirty="0"/>
          </a:p>
        </p:txBody>
      </p:sp>
      <p:sp>
        <p:nvSpPr>
          <p:cNvPr id="4" name="Shape 2"/>
          <p:cNvSpPr/>
          <p:nvPr/>
        </p:nvSpPr>
        <p:spPr>
          <a:xfrm>
            <a:off x="8534095" y="1371600"/>
            <a:ext cx="3017520" cy="2377440"/>
          </a:xfrm>
          <a:prstGeom prst="roundRect">
            <a:avLst>
              <a:gd name="adj" fmla="val 2308"/>
            </a:avLst>
          </a:prstGeom>
          <a:solidFill>
            <a:srgbClr val="0B3A78"/>
          </a:solidFill>
          <a:ln/>
        </p:spPr>
      </p:sp>
      <p:sp>
        <p:nvSpPr>
          <p:cNvPr id="5" name="Text 3"/>
          <p:cNvSpPr/>
          <p:nvPr/>
        </p:nvSpPr>
        <p:spPr>
          <a:xfrm>
            <a:off x="8534095" y="1645920"/>
            <a:ext cx="3017520" cy="1097280"/>
          </a:xfrm>
          <a:prstGeom prst="rect">
            <a:avLst/>
          </a:prstGeom>
          <a:noFill/>
          <a:ln/>
        </p:spPr>
        <p:txBody>
          <a:bodyPr wrap="square" rtlCol="0" anchor="ctr"/>
          <a:lstStyle/>
          <a:p>
            <a:pPr algn="ctr" indent="0" marL="0">
              <a:buNone/>
            </a:pPr>
            <a:r>
              <a:rPr lang="en-US" sz="4600" b="1" dirty="0">
                <a:solidFill>
                  <a:srgbClr val="10B7CD"/>
                </a:solidFill>
                <a:latin typeface="Montserrat" pitchFamily="34" charset="0"/>
                <a:ea typeface="Montserrat" pitchFamily="34" charset="-122"/>
                <a:cs typeface="Montserrat" pitchFamily="34" charset="-120"/>
              </a:rPr>
              <a:t>0,5 s</a:t>
            </a:r>
            <a:endParaRPr lang="en-US" sz="4600" dirty="0"/>
          </a:p>
        </p:txBody>
      </p:sp>
      <p:sp>
        <p:nvSpPr>
          <p:cNvPr id="6" name="Text 4"/>
          <p:cNvSpPr/>
          <p:nvPr/>
        </p:nvSpPr>
        <p:spPr>
          <a:xfrm>
            <a:off x="8716975" y="2743200"/>
            <a:ext cx="2651760" cy="822960"/>
          </a:xfrm>
          <a:prstGeom prst="rect">
            <a:avLst/>
          </a:prstGeom>
          <a:noFill/>
          <a:ln/>
        </p:spPr>
        <p:txBody>
          <a:bodyPr wrap="square" rtlCol="0" anchor="t"/>
          <a:lstStyle/>
          <a:p>
            <a:pPr algn="ctr" indent="0" marL="0">
              <a:lnSpc>
                <a:spcPts val="1800"/>
              </a:lnSpc>
              <a:buNone/>
            </a:pPr>
            <a:r>
              <a:rPr lang="en-US" sz="1300" dirty="0">
                <a:solidFill>
                  <a:srgbClr val="C8D8F0"/>
                </a:solidFill>
                <a:latin typeface="Inter" pitchFamily="34" charset="0"/>
                <a:ea typeface="Inter" pitchFamily="34" charset="-122"/>
                <a:cs typeface="Inter" pitchFamily="34" charset="-120"/>
              </a:rPr>
              <a:t>en actualizarse la pantalla del segundo, sin recargar</a:t>
            </a:r>
            <a:endParaRPr lang="en-US" sz="1300" dirty="0"/>
          </a:p>
        </p:txBody>
      </p:sp>
      <p:sp>
        <p:nvSpPr>
          <p:cNvPr id="7" name="Shape 5"/>
          <p:cNvSpPr/>
          <p:nvPr/>
        </p:nvSpPr>
        <p:spPr>
          <a:xfrm>
            <a:off x="0" y="6711696"/>
            <a:ext cx="3066212" cy="146304"/>
          </a:xfrm>
          <a:prstGeom prst="rect">
            <a:avLst/>
          </a:prstGeom>
          <a:solidFill>
            <a:srgbClr val="10B7CD"/>
          </a:solidFill>
          <a:ln/>
        </p:spPr>
      </p:sp>
      <p:sp>
        <p:nvSpPr>
          <p:cNvPr id="8" name="Shape 6"/>
          <p:cNvSpPr/>
          <p:nvPr/>
        </p:nvSpPr>
        <p:spPr>
          <a:xfrm>
            <a:off x="3047924" y="6711696"/>
            <a:ext cx="3066212" cy="146304"/>
          </a:xfrm>
          <a:prstGeom prst="rect">
            <a:avLst/>
          </a:prstGeom>
          <a:solidFill>
            <a:srgbClr val="E84141"/>
          </a:solidFill>
          <a:ln/>
        </p:spPr>
      </p:sp>
      <p:sp>
        <p:nvSpPr>
          <p:cNvPr id="9" name="Shape 7"/>
          <p:cNvSpPr/>
          <p:nvPr/>
        </p:nvSpPr>
        <p:spPr>
          <a:xfrm>
            <a:off x="6095848" y="6711696"/>
            <a:ext cx="3066212" cy="146304"/>
          </a:xfrm>
          <a:prstGeom prst="rect">
            <a:avLst/>
          </a:prstGeom>
          <a:solidFill>
            <a:srgbClr val="F8AB11"/>
          </a:solidFill>
          <a:ln/>
        </p:spPr>
      </p:sp>
      <p:sp>
        <p:nvSpPr>
          <p:cNvPr id="10" name="Shape 8"/>
          <p:cNvSpPr/>
          <p:nvPr/>
        </p:nvSpPr>
        <p:spPr>
          <a:xfrm>
            <a:off x="9143771" y="6711696"/>
            <a:ext cx="3047924" cy="146304"/>
          </a:xfrm>
          <a:prstGeom prst="rect">
            <a:avLst/>
          </a:prstGeom>
          <a:solidFill>
            <a:srgbClr val="8974B3"/>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Qué NO está construido todavía</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Alcance de producción. Lo digo ahora para que nadie lo prometa por error</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1568196"/>
            <a:ext cx="5227168" cy="1356360"/>
          </a:xfrm>
          <a:prstGeom prst="roundRect">
            <a:avLst>
              <a:gd name="adj" fmla="val 4045"/>
            </a:avLst>
          </a:prstGeom>
          <a:solidFill>
            <a:srgbClr val="FFFFFF"/>
          </a:solidFill>
          <a:ln w="12700">
            <a:solidFill>
              <a:srgbClr val="D9E2EC"/>
            </a:solidFill>
            <a:prstDash val="solid"/>
          </a:ln>
        </p:spPr>
      </p:sp>
      <p:sp>
        <p:nvSpPr>
          <p:cNvPr id="9" name="Shape 7"/>
          <p:cNvSpPr/>
          <p:nvPr/>
        </p:nvSpPr>
        <p:spPr>
          <a:xfrm>
            <a:off x="640080" y="1568196"/>
            <a:ext cx="64008" cy="1356360"/>
          </a:xfrm>
          <a:prstGeom prst="rect">
            <a:avLst/>
          </a:prstGeom>
          <a:solidFill>
            <a:srgbClr val="E84141"/>
          </a:solidFill>
          <a:ln/>
        </p:spPr>
      </p:sp>
      <p:sp>
        <p:nvSpPr>
          <p:cNvPr id="10" name="Text 8"/>
          <p:cNvSpPr/>
          <p:nvPr/>
        </p:nvSpPr>
        <p:spPr>
          <a:xfrm>
            <a:off x="914400" y="1769364"/>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Modo sin conexión</a:t>
            </a:r>
            <a:endParaRPr lang="en-US" sz="1600" dirty="0"/>
          </a:p>
        </p:txBody>
      </p:sp>
      <p:sp>
        <p:nvSpPr>
          <p:cNvPr id="11" name="Text 9"/>
          <p:cNvSpPr/>
          <p:nvPr/>
        </p:nvSpPr>
        <p:spPr>
          <a:xfrm>
            <a:off x="914400" y="2137156"/>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Si se cae la red en la carpa, hoy no hay registro local. Alcance de producción.</a:t>
            </a:r>
            <a:endParaRPr lang="en-US" sz="1300" dirty="0"/>
          </a:p>
        </p:txBody>
      </p:sp>
      <p:sp>
        <p:nvSpPr>
          <p:cNvPr id="12" name="Shape 10"/>
          <p:cNvSpPr/>
          <p:nvPr/>
        </p:nvSpPr>
        <p:spPr>
          <a:xfrm>
            <a:off x="6324448" y="1568196"/>
            <a:ext cx="5227168" cy="1356360"/>
          </a:xfrm>
          <a:prstGeom prst="roundRect">
            <a:avLst>
              <a:gd name="adj" fmla="val 4045"/>
            </a:avLst>
          </a:prstGeom>
          <a:solidFill>
            <a:srgbClr val="FFFFFF"/>
          </a:solidFill>
          <a:ln w="12700">
            <a:solidFill>
              <a:srgbClr val="D9E2EC"/>
            </a:solidFill>
            <a:prstDash val="solid"/>
          </a:ln>
        </p:spPr>
      </p:sp>
      <p:sp>
        <p:nvSpPr>
          <p:cNvPr id="13" name="Shape 11"/>
          <p:cNvSpPr/>
          <p:nvPr/>
        </p:nvSpPr>
        <p:spPr>
          <a:xfrm>
            <a:off x="6324448" y="1568196"/>
            <a:ext cx="64008" cy="1356360"/>
          </a:xfrm>
          <a:prstGeom prst="rect">
            <a:avLst/>
          </a:prstGeom>
          <a:solidFill>
            <a:srgbClr val="E84141"/>
          </a:solidFill>
          <a:ln/>
        </p:spPr>
      </p:sp>
      <p:sp>
        <p:nvSpPr>
          <p:cNvPr id="14" name="Text 12"/>
          <p:cNvSpPr/>
          <p:nvPr/>
        </p:nvSpPr>
        <p:spPr>
          <a:xfrm>
            <a:off x="6598768" y="1769364"/>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Jornada de rezagados</a:t>
            </a:r>
            <a:endParaRPr lang="en-US" sz="1600" dirty="0"/>
          </a:p>
        </p:txBody>
      </p:sp>
      <p:sp>
        <p:nvSpPr>
          <p:cNvPr id="15" name="Text 13"/>
          <p:cNvSpPr/>
          <p:nvPr/>
        </p:nvSpPr>
        <p:spPr>
          <a:xfrm>
            <a:off x="6598768" y="2137156"/>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La segunda vuelta de entrega no está hecha.</a:t>
            </a:r>
            <a:endParaRPr lang="en-US" sz="1300" dirty="0"/>
          </a:p>
        </p:txBody>
      </p:sp>
      <p:sp>
        <p:nvSpPr>
          <p:cNvPr id="16" name="Shape 14"/>
          <p:cNvSpPr/>
          <p:nvPr/>
        </p:nvSpPr>
        <p:spPr>
          <a:xfrm>
            <a:off x="640080" y="3162300"/>
            <a:ext cx="5227168" cy="1356360"/>
          </a:xfrm>
          <a:prstGeom prst="roundRect">
            <a:avLst>
              <a:gd name="adj" fmla="val 4045"/>
            </a:avLst>
          </a:prstGeom>
          <a:solidFill>
            <a:srgbClr val="FFFFFF"/>
          </a:solidFill>
          <a:ln w="12700">
            <a:solidFill>
              <a:srgbClr val="D9E2EC"/>
            </a:solidFill>
            <a:prstDash val="solid"/>
          </a:ln>
        </p:spPr>
      </p:sp>
      <p:sp>
        <p:nvSpPr>
          <p:cNvPr id="17" name="Shape 15"/>
          <p:cNvSpPr/>
          <p:nvPr/>
        </p:nvSpPr>
        <p:spPr>
          <a:xfrm>
            <a:off x="640080" y="3162300"/>
            <a:ext cx="64008" cy="1356360"/>
          </a:xfrm>
          <a:prstGeom prst="rect">
            <a:avLst/>
          </a:prstGeom>
          <a:solidFill>
            <a:srgbClr val="E84141"/>
          </a:solidFill>
          <a:ln/>
        </p:spPr>
      </p:sp>
      <p:sp>
        <p:nvSpPr>
          <p:cNvPr id="18" name="Text 16"/>
          <p:cNvSpPr/>
          <p:nvPr/>
        </p:nvSpPr>
        <p:spPr>
          <a:xfrm>
            <a:off x="914400" y="3363468"/>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Importadores de Excel</a:t>
            </a:r>
            <a:endParaRPr lang="en-US" sz="1600" dirty="0"/>
          </a:p>
        </p:txBody>
      </p:sp>
      <p:sp>
        <p:nvSpPr>
          <p:cNvPr id="19" name="Text 17"/>
          <p:cNvSpPr/>
          <p:nvPr/>
        </p:nvSpPr>
        <p:spPr>
          <a:xfrm>
            <a:off x="914400" y="3731260"/>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Colaboradores y catálogo entran por carga técnica, no por pantalla.</a:t>
            </a:r>
            <a:endParaRPr lang="en-US" sz="1300" dirty="0"/>
          </a:p>
        </p:txBody>
      </p:sp>
      <p:sp>
        <p:nvSpPr>
          <p:cNvPr id="20" name="Shape 18"/>
          <p:cNvSpPr/>
          <p:nvPr/>
        </p:nvSpPr>
        <p:spPr>
          <a:xfrm>
            <a:off x="6324448" y="3162300"/>
            <a:ext cx="5227168" cy="1356360"/>
          </a:xfrm>
          <a:prstGeom prst="roundRect">
            <a:avLst>
              <a:gd name="adj" fmla="val 4045"/>
            </a:avLst>
          </a:prstGeom>
          <a:solidFill>
            <a:srgbClr val="FFFFFF"/>
          </a:solidFill>
          <a:ln w="12700">
            <a:solidFill>
              <a:srgbClr val="D9E2EC"/>
            </a:solidFill>
            <a:prstDash val="solid"/>
          </a:ln>
        </p:spPr>
      </p:sp>
      <p:sp>
        <p:nvSpPr>
          <p:cNvPr id="21" name="Shape 19"/>
          <p:cNvSpPr/>
          <p:nvPr/>
        </p:nvSpPr>
        <p:spPr>
          <a:xfrm>
            <a:off x="6324448" y="3162300"/>
            <a:ext cx="64008" cy="1356360"/>
          </a:xfrm>
          <a:prstGeom prst="rect">
            <a:avLst/>
          </a:prstGeom>
          <a:solidFill>
            <a:srgbClr val="E84141"/>
          </a:solidFill>
          <a:ln/>
        </p:spPr>
      </p:sp>
      <p:sp>
        <p:nvSpPr>
          <p:cNvPr id="22" name="Text 20"/>
          <p:cNvSpPr/>
          <p:nvPr/>
        </p:nvSpPr>
        <p:spPr>
          <a:xfrm>
            <a:off x="6598768" y="3363468"/>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Subdominios por empresa</a:t>
            </a:r>
            <a:endParaRPr lang="en-US" sz="1600" dirty="0"/>
          </a:p>
        </p:txBody>
      </p:sp>
      <p:sp>
        <p:nvSpPr>
          <p:cNvPr id="23" name="Text 21"/>
          <p:cNvSpPr/>
          <p:nvPr/>
        </p:nvSpPr>
        <p:spPr>
          <a:xfrm>
            <a:off x="6598768" y="3731260"/>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Hoy es una sola empresa. El modelo lo soporta; las pantallas no.</a:t>
            </a:r>
            <a:endParaRPr lang="en-US" sz="1300" dirty="0"/>
          </a:p>
        </p:txBody>
      </p:sp>
      <p:sp>
        <p:nvSpPr>
          <p:cNvPr id="24" name="Shape 22"/>
          <p:cNvSpPr/>
          <p:nvPr/>
        </p:nvSpPr>
        <p:spPr>
          <a:xfrm>
            <a:off x="640080" y="4756404"/>
            <a:ext cx="5227168" cy="1356360"/>
          </a:xfrm>
          <a:prstGeom prst="roundRect">
            <a:avLst>
              <a:gd name="adj" fmla="val 4045"/>
            </a:avLst>
          </a:prstGeom>
          <a:solidFill>
            <a:srgbClr val="FFFFFF"/>
          </a:solidFill>
          <a:ln w="12700">
            <a:solidFill>
              <a:srgbClr val="D9E2EC"/>
            </a:solidFill>
            <a:prstDash val="solid"/>
          </a:ln>
        </p:spPr>
      </p:sp>
      <p:sp>
        <p:nvSpPr>
          <p:cNvPr id="25" name="Shape 23"/>
          <p:cNvSpPr/>
          <p:nvPr/>
        </p:nvSpPr>
        <p:spPr>
          <a:xfrm>
            <a:off x="640080" y="4756404"/>
            <a:ext cx="64008" cy="1356360"/>
          </a:xfrm>
          <a:prstGeom prst="rect">
            <a:avLst/>
          </a:prstGeom>
          <a:solidFill>
            <a:srgbClr val="E84141"/>
          </a:solidFill>
          <a:ln/>
        </p:spPr>
      </p:sp>
      <p:sp>
        <p:nvSpPr>
          <p:cNvPr id="26" name="Text 24"/>
          <p:cNvSpPr/>
          <p:nvPr/>
        </p:nvSpPr>
        <p:spPr>
          <a:xfrm>
            <a:off x="914400" y="4957572"/>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Reportes avanzados</a:t>
            </a:r>
            <a:endParaRPr lang="en-US" sz="1600" dirty="0"/>
          </a:p>
        </p:txBody>
      </p:sp>
      <p:sp>
        <p:nvSpPr>
          <p:cNvPr id="27" name="Text 25"/>
          <p:cNvSpPr/>
          <p:nvPr/>
        </p:nvSpPr>
        <p:spPr>
          <a:xfrm>
            <a:off x="914400" y="5325364"/>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Solo exportación a CSV de cuatro listados.</a:t>
            </a:r>
            <a:endParaRPr lang="en-US" sz="1300" dirty="0"/>
          </a:p>
        </p:txBody>
      </p:sp>
      <p:sp>
        <p:nvSpPr>
          <p:cNvPr id="28" name="Shape 26"/>
          <p:cNvSpPr/>
          <p:nvPr/>
        </p:nvSpPr>
        <p:spPr>
          <a:xfrm>
            <a:off x="6324448" y="4756404"/>
            <a:ext cx="5227168" cy="1356360"/>
          </a:xfrm>
          <a:prstGeom prst="roundRect">
            <a:avLst>
              <a:gd name="adj" fmla="val 4045"/>
            </a:avLst>
          </a:prstGeom>
          <a:solidFill>
            <a:srgbClr val="FFFFFF"/>
          </a:solidFill>
          <a:ln w="12700">
            <a:solidFill>
              <a:srgbClr val="D9E2EC"/>
            </a:solidFill>
            <a:prstDash val="solid"/>
          </a:ln>
        </p:spPr>
      </p:sp>
      <p:sp>
        <p:nvSpPr>
          <p:cNvPr id="29" name="Shape 27"/>
          <p:cNvSpPr/>
          <p:nvPr/>
        </p:nvSpPr>
        <p:spPr>
          <a:xfrm>
            <a:off x="6324448" y="4756404"/>
            <a:ext cx="64008" cy="1356360"/>
          </a:xfrm>
          <a:prstGeom prst="rect">
            <a:avLst/>
          </a:prstGeom>
          <a:solidFill>
            <a:srgbClr val="E84141"/>
          </a:solidFill>
          <a:ln/>
        </p:spPr>
      </p:sp>
      <p:sp>
        <p:nvSpPr>
          <p:cNvPr id="30" name="Text 28"/>
          <p:cNvSpPr/>
          <p:nvPr/>
        </p:nvSpPr>
        <p:spPr>
          <a:xfrm>
            <a:off x="6598768" y="4957572"/>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Recuperar contraseña</a:t>
            </a:r>
            <a:endParaRPr lang="en-US" sz="1600" dirty="0"/>
          </a:p>
        </p:txBody>
      </p:sp>
      <p:sp>
        <p:nvSpPr>
          <p:cNvPr id="31" name="Text 29"/>
          <p:cNvSpPr/>
          <p:nvPr/>
        </p:nvSpPr>
        <p:spPr>
          <a:xfrm>
            <a:off x="6598768" y="5325364"/>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Si un papá pierde su código SAP, lo resuelve Recursos Humanos.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BFB"/>
        </a:solidFill>
      </p:bgPr>
    </p:bg>
    <p:spTree>
      <p:nvGrpSpPr>
        <p:cNvPr id="1" name=""/>
        <p:cNvGrpSpPr/>
        <p:nvPr/>
      </p:nvGrpSpPr>
      <p:grpSpPr>
        <a:xfrm>
          <a:off x="0" y="0"/>
          <a:ext cx="0" cy="0"/>
          <a:chOff x="0" y="0"/>
          <a:chExt cx="0" cy="0"/>
        </a:xfrm>
      </p:grpSpPr>
      <p:sp>
        <p:nvSpPr>
          <p:cNvPr id="2" name="Text 0"/>
          <p:cNvSpPr/>
          <p:nvPr/>
        </p:nvSpPr>
        <p:spPr>
          <a:xfrm>
            <a:off x="640080" y="384048"/>
            <a:ext cx="10911535" cy="658368"/>
          </a:xfrm>
          <a:prstGeom prst="rect">
            <a:avLst/>
          </a:prstGeom>
          <a:noFill/>
          <a:ln/>
        </p:spPr>
        <p:txBody>
          <a:bodyPr wrap="square" lIns="0" tIns="0" rIns="0" bIns="0" rtlCol="0" anchor="t"/>
          <a:lstStyle/>
          <a:p>
            <a:pPr indent="0" marL="0">
              <a:buNone/>
            </a:pPr>
            <a:r>
              <a:rPr lang="en-US" sz="3000" b="1" dirty="0">
                <a:solidFill>
                  <a:srgbClr val="0B3A78"/>
                </a:solidFill>
                <a:latin typeface="Montserrat" pitchFamily="34" charset="0"/>
                <a:ea typeface="Montserrat" pitchFamily="34" charset="-122"/>
                <a:cs typeface="Montserrat" pitchFamily="34" charset="-120"/>
              </a:rPr>
              <a:t>Qué necesito de ustedes</a:t>
            </a:r>
            <a:endParaRPr lang="en-US" sz="3000" dirty="0"/>
          </a:p>
        </p:txBody>
      </p:sp>
      <p:sp>
        <p:nvSpPr>
          <p:cNvPr id="3" name="Text 1"/>
          <p:cNvSpPr/>
          <p:nvPr/>
        </p:nvSpPr>
        <p:spPr>
          <a:xfrm>
            <a:off x="640080" y="1024128"/>
            <a:ext cx="10911535" cy="384048"/>
          </a:xfrm>
          <a:prstGeom prst="rect">
            <a:avLst/>
          </a:prstGeom>
          <a:noFill/>
          <a:ln/>
        </p:spPr>
        <p:txBody>
          <a:bodyPr wrap="square" lIns="0" tIns="0" rIns="0" bIns="0" rtlCol="0" anchor="t"/>
          <a:lstStyle/>
          <a:p>
            <a:pPr indent="0" marL="0">
              <a:buNone/>
            </a:pPr>
            <a:r>
              <a:rPr lang="en-US" sz="1500" dirty="0">
                <a:solidFill>
                  <a:srgbClr val="5A6472"/>
                </a:solidFill>
                <a:latin typeface="Inter" pitchFamily="34" charset="0"/>
                <a:ea typeface="Inter" pitchFamily="34" charset="-122"/>
                <a:cs typeface="Inter" pitchFamily="34" charset="-120"/>
              </a:rPr>
              <a:t>Para pasar del piloto a producción</a:t>
            </a:r>
            <a:endParaRPr lang="en-US" sz="1500" dirty="0"/>
          </a:p>
        </p:txBody>
      </p:sp>
      <p:sp>
        <p:nvSpPr>
          <p:cNvPr id="4" name="Shape 2"/>
          <p:cNvSpPr/>
          <p:nvPr/>
        </p:nvSpPr>
        <p:spPr>
          <a:xfrm>
            <a:off x="0" y="6711696"/>
            <a:ext cx="3066212" cy="146304"/>
          </a:xfrm>
          <a:prstGeom prst="rect">
            <a:avLst/>
          </a:prstGeom>
          <a:solidFill>
            <a:srgbClr val="10B7CD"/>
          </a:solidFill>
          <a:ln/>
        </p:spPr>
      </p:sp>
      <p:sp>
        <p:nvSpPr>
          <p:cNvPr id="5" name="Shape 3"/>
          <p:cNvSpPr/>
          <p:nvPr/>
        </p:nvSpPr>
        <p:spPr>
          <a:xfrm>
            <a:off x="3047924" y="6711696"/>
            <a:ext cx="3066212" cy="146304"/>
          </a:xfrm>
          <a:prstGeom prst="rect">
            <a:avLst/>
          </a:prstGeom>
          <a:solidFill>
            <a:srgbClr val="E84141"/>
          </a:solidFill>
          <a:ln/>
        </p:spPr>
      </p:sp>
      <p:sp>
        <p:nvSpPr>
          <p:cNvPr id="6" name="Shape 4"/>
          <p:cNvSpPr/>
          <p:nvPr/>
        </p:nvSpPr>
        <p:spPr>
          <a:xfrm>
            <a:off x="6095848" y="6711696"/>
            <a:ext cx="3066212" cy="146304"/>
          </a:xfrm>
          <a:prstGeom prst="rect">
            <a:avLst/>
          </a:prstGeom>
          <a:solidFill>
            <a:srgbClr val="F8AB11"/>
          </a:solidFill>
          <a:ln/>
        </p:spPr>
      </p:sp>
      <p:sp>
        <p:nvSpPr>
          <p:cNvPr id="7" name="Shape 5"/>
          <p:cNvSpPr/>
          <p:nvPr/>
        </p:nvSpPr>
        <p:spPr>
          <a:xfrm>
            <a:off x="9143771" y="6711696"/>
            <a:ext cx="3047924" cy="146304"/>
          </a:xfrm>
          <a:prstGeom prst="rect">
            <a:avLst/>
          </a:prstGeom>
          <a:solidFill>
            <a:srgbClr val="8974B3"/>
          </a:solidFill>
          <a:ln/>
        </p:spPr>
      </p:sp>
      <p:sp>
        <p:nvSpPr>
          <p:cNvPr id="8" name="Shape 6"/>
          <p:cNvSpPr/>
          <p:nvPr/>
        </p:nvSpPr>
        <p:spPr>
          <a:xfrm>
            <a:off x="640080" y="1568196"/>
            <a:ext cx="5227168" cy="1356360"/>
          </a:xfrm>
          <a:prstGeom prst="roundRect">
            <a:avLst>
              <a:gd name="adj" fmla="val 4045"/>
            </a:avLst>
          </a:prstGeom>
          <a:solidFill>
            <a:srgbClr val="FFFFFF"/>
          </a:solidFill>
          <a:ln w="12700">
            <a:solidFill>
              <a:srgbClr val="D9E2EC"/>
            </a:solidFill>
            <a:prstDash val="solid"/>
          </a:ln>
        </p:spPr>
      </p:sp>
      <p:sp>
        <p:nvSpPr>
          <p:cNvPr id="9" name="Shape 7"/>
          <p:cNvSpPr/>
          <p:nvPr/>
        </p:nvSpPr>
        <p:spPr>
          <a:xfrm>
            <a:off x="640080" y="1568196"/>
            <a:ext cx="64008" cy="1356360"/>
          </a:xfrm>
          <a:prstGeom prst="rect">
            <a:avLst/>
          </a:prstGeom>
          <a:solidFill>
            <a:srgbClr val="0167D5"/>
          </a:solidFill>
          <a:ln/>
        </p:spPr>
      </p:sp>
      <p:sp>
        <p:nvSpPr>
          <p:cNvPr id="10" name="Text 8"/>
          <p:cNvSpPr/>
          <p:nvPr/>
        </p:nvSpPr>
        <p:spPr>
          <a:xfrm>
            <a:off x="914400" y="1769364"/>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Catálogo completo</a:t>
            </a:r>
            <a:endParaRPr lang="en-US" sz="1600" dirty="0"/>
          </a:p>
        </p:txBody>
      </p:sp>
      <p:sp>
        <p:nvSpPr>
          <p:cNvPr id="11" name="Text 9"/>
          <p:cNvSpPr/>
          <p:nvPr/>
        </p:nvSpPr>
        <p:spPr>
          <a:xfrm>
            <a:off x="914400" y="2137156"/>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Las 168 referencias con edad, género y stock. Hoy hay 24.</a:t>
            </a:r>
            <a:endParaRPr lang="en-US" sz="1300" dirty="0"/>
          </a:p>
        </p:txBody>
      </p:sp>
      <p:sp>
        <p:nvSpPr>
          <p:cNvPr id="12" name="Shape 10"/>
          <p:cNvSpPr/>
          <p:nvPr/>
        </p:nvSpPr>
        <p:spPr>
          <a:xfrm>
            <a:off x="6324448" y="1568196"/>
            <a:ext cx="5227168" cy="1356360"/>
          </a:xfrm>
          <a:prstGeom prst="roundRect">
            <a:avLst>
              <a:gd name="adj" fmla="val 4045"/>
            </a:avLst>
          </a:prstGeom>
          <a:solidFill>
            <a:srgbClr val="FFFFFF"/>
          </a:solidFill>
          <a:ln w="12700">
            <a:solidFill>
              <a:srgbClr val="D9E2EC"/>
            </a:solidFill>
            <a:prstDash val="solid"/>
          </a:ln>
        </p:spPr>
      </p:sp>
      <p:sp>
        <p:nvSpPr>
          <p:cNvPr id="13" name="Shape 11"/>
          <p:cNvSpPr/>
          <p:nvPr/>
        </p:nvSpPr>
        <p:spPr>
          <a:xfrm>
            <a:off x="6324448" y="1568196"/>
            <a:ext cx="64008" cy="1356360"/>
          </a:xfrm>
          <a:prstGeom prst="rect">
            <a:avLst/>
          </a:prstGeom>
          <a:solidFill>
            <a:srgbClr val="0167D5"/>
          </a:solidFill>
          <a:ln/>
        </p:spPr>
      </p:sp>
      <p:sp>
        <p:nvSpPr>
          <p:cNvPr id="14" name="Text 12"/>
          <p:cNvSpPr/>
          <p:nvPr/>
        </p:nvSpPr>
        <p:spPr>
          <a:xfrm>
            <a:off x="6598768" y="1769364"/>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Fotos que faltan</a:t>
            </a:r>
            <a:endParaRPr lang="en-US" sz="1600" dirty="0"/>
          </a:p>
        </p:txBody>
      </p:sp>
      <p:sp>
        <p:nvSpPr>
          <p:cNvPr id="15" name="Text 13"/>
          <p:cNvSpPr/>
          <p:nvPr/>
        </p:nvSpPr>
        <p:spPr>
          <a:xfrm>
            <a:off x="6598768" y="2137156"/>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23 de 24 tienen foto. Falta la ficha de la Cancha Elefante.</a:t>
            </a:r>
            <a:endParaRPr lang="en-US" sz="1300" dirty="0"/>
          </a:p>
        </p:txBody>
      </p:sp>
      <p:sp>
        <p:nvSpPr>
          <p:cNvPr id="16" name="Shape 14"/>
          <p:cNvSpPr/>
          <p:nvPr/>
        </p:nvSpPr>
        <p:spPr>
          <a:xfrm>
            <a:off x="640080" y="3162300"/>
            <a:ext cx="5227168" cy="1356360"/>
          </a:xfrm>
          <a:prstGeom prst="roundRect">
            <a:avLst>
              <a:gd name="adj" fmla="val 4045"/>
            </a:avLst>
          </a:prstGeom>
          <a:solidFill>
            <a:srgbClr val="FFFFFF"/>
          </a:solidFill>
          <a:ln w="12700">
            <a:solidFill>
              <a:srgbClr val="D9E2EC"/>
            </a:solidFill>
            <a:prstDash val="solid"/>
          </a:ln>
        </p:spPr>
      </p:sp>
      <p:sp>
        <p:nvSpPr>
          <p:cNvPr id="17" name="Shape 15"/>
          <p:cNvSpPr/>
          <p:nvPr/>
        </p:nvSpPr>
        <p:spPr>
          <a:xfrm>
            <a:off x="640080" y="3162300"/>
            <a:ext cx="64008" cy="1356360"/>
          </a:xfrm>
          <a:prstGeom prst="rect">
            <a:avLst/>
          </a:prstGeom>
          <a:solidFill>
            <a:srgbClr val="0167D5"/>
          </a:solidFill>
          <a:ln/>
        </p:spPr>
      </p:sp>
      <p:sp>
        <p:nvSpPr>
          <p:cNvPr id="18" name="Text 16"/>
          <p:cNvSpPr/>
          <p:nvPr/>
        </p:nvSpPr>
        <p:spPr>
          <a:xfrm>
            <a:off x="914400" y="3363468"/>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Horario del evento</a:t>
            </a:r>
            <a:endParaRPr lang="en-US" sz="1600" dirty="0"/>
          </a:p>
        </p:txBody>
      </p:sp>
      <p:sp>
        <p:nvSpPr>
          <p:cNvPr id="19" name="Text 17"/>
          <p:cNvSpPr/>
          <p:nvPr/>
        </p:nvSpPr>
        <p:spPr>
          <a:xfrm>
            <a:off x="914400" y="3731260"/>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Tenemos fecha y lugar. La hora sigue vacía a propósito.</a:t>
            </a:r>
            <a:endParaRPr lang="en-US" sz="1300" dirty="0"/>
          </a:p>
        </p:txBody>
      </p:sp>
      <p:sp>
        <p:nvSpPr>
          <p:cNvPr id="20" name="Shape 18"/>
          <p:cNvSpPr/>
          <p:nvPr/>
        </p:nvSpPr>
        <p:spPr>
          <a:xfrm>
            <a:off x="6324448" y="3162300"/>
            <a:ext cx="5227168" cy="1356360"/>
          </a:xfrm>
          <a:prstGeom prst="roundRect">
            <a:avLst>
              <a:gd name="adj" fmla="val 4045"/>
            </a:avLst>
          </a:prstGeom>
          <a:solidFill>
            <a:srgbClr val="FFFFFF"/>
          </a:solidFill>
          <a:ln w="12700">
            <a:solidFill>
              <a:srgbClr val="D9E2EC"/>
            </a:solidFill>
            <a:prstDash val="solid"/>
          </a:ln>
        </p:spPr>
      </p:sp>
      <p:sp>
        <p:nvSpPr>
          <p:cNvPr id="21" name="Shape 19"/>
          <p:cNvSpPr/>
          <p:nvPr/>
        </p:nvSpPr>
        <p:spPr>
          <a:xfrm>
            <a:off x="6324448" y="3162300"/>
            <a:ext cx="64008" cy="1356360"/>
          </a:xfrm>
          <a:prstGeom prst="rect">
            <a:avLst/>
          </a:prstGeom>
          <a:solidFill>
            <a:srgbClr val="0167D5"/>
          </a:solidFill>
          <a:ln/>
        </p:spPr>
      </p:sp>
      <p:sp>
        <p:nvSpPr>
          <p:cNvPr id="22" name="Text 20"/>
          <p:cNvSpPr/>
          <p:nvPr/>
        </p:nvSpPr>
        <p:spPr>
          <a:xfrm>
            <a:off x="6598768" y="3363468"/>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Contacto de Recursos Humanos</a:t>
            </a:r>
            <a:endParaRPr lang="en-US" sz="1600" dirty="0"/>
          </a:p>
        </p:txBody>
      </p:sp>
      <p:sp>
        <p:nvSpPr>
          <p:cNvPr id="23" name="Text 21"/>
          <p:cNvSpPr/>
          <p:nvPr/>
        </p:nvSpPr>
        <p:spPr>
          <a:xfrm>
            <a:off x="6598768" y="3731260"/>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Para el «¿problemas para entrar?» del login.</a:t>
            </a:r>
            <a:endParaRPr lang="en-US" sz="1300" dirty="0"/>
          </a:p>
        </p:txBody>
      </p:sp>
      <p:sp>
        <p:nvSpPr>
          <p:cNvPr id="24" name="Shape 22"/>
          <p:cNvSpPr/>
          <p:nvPr/>
        </p:nvSpPr>
        <p:spPr>
          <a:xfrm>
            <a:off x="640080" y="4756404"/>
            <a:ext cx="5227168" cy="1356360"/>
          </a:xfrm>
          <a:prstGeom prst="roundRect">
            <a:avLst>
              <a:gd name="adj" fmla="val 4045"/>
            </a:avLst>
          </a:prstGeom>
          <a:solidFill>
            <a:srgbClr val="FFFFFF"/>
          </a:solidFill>
          <a:ln w="12700">
            <a:solidFill>
              <a:srgbClr val="D9E2EC"/>
            </a:solidFill>
            <a:prstDash val="solid"/>
          </a:ln>
        </p:spPr>
      </p:sp>
      <p:sp>
        <p:nvSpPr>
          <p:cNvPr id="25" name="Shape 23"/>
          <p:cNvSpPr/>
          <p:nvPr/>
        </p:nvSpPr>
        <p:spPr>
          <a:xfrm>
            <a:off x="640080" y="4756404"/>
            <a:ext cx="64008" cy="1356360"/>
          </a:xfrm>
          <a:prstGeom prst="rect">
            <a:avLst/>
          </a:prstGeom>
          <a:solidFill>
            <a:srgbClr val="0167D5"/>
          </a:solidFill>
          <a:ln/>
        </p:spPr>
      </p:sp>
      <p:sp>
        <p:nvSpPr>
          <p:cNvPr id="26" name="Text 24"/>
          <p:cNvSpPr/>
          <p:nvPr/>
        </p:nvSpPr>
        <p:spPr>
          <a:xfrm>
            <a:off x="914400" y="4957572"/>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Mapa real de carpas</a:t>
            </a:r>
            <a:endParaRPr lang="en-US" sz="1600" dirty="0"/>
          </a:p>
        </p:txBody>
      </p:sp>
      <p:sp>
        <p:nvSpPr>
          <p:cNvPr id="27" name="Text 25"/>
          <p:cNvSpPr/>
          <p:nvPr/>
        </p:nvSpPr>
        <p:spPr>
          <a:xfrm>
            <a:off x="914400" y="5325364"/>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Cuántos puntos y qué referencias despacha cada uno.</a:t>
            </a:r>
            <a:endParaRPr lang="en-US" sz="1300" dirty="0"/>
          </a:p>
        </p:txBody>
      </p:sp>
      <p:sp>
        <p:nvSpPr>
          <p:cNvPr id="28" name="Shape 26"/>
          <p:cNvSpPr/>
          <p:nvPr/>
        </p:nvSpPr>
        <p:spPr>
          <a:xfrm>
            <a:off x="6324448" y="4756404"/>
            <a:ext cx="5227168" cy="1356360"/>
          </a:xfrm>
          <a:prstGeom prst="roundRect">
            <a:avLst>
              <a:gd name="adj" fmla="val 4045"/>
            </a:avLst>
          </a:prstGeom>
          <a:solidFill>
            <a:srgbClr val="FFFFFF"/>
          </a:solidFill>
          <a:ln w="12700">
            <a:solidFill>
              <a:srgbClr val="D9E2EC"/>
            </a:solidFill>
            <a:prstDash val="solid"/>
          </a:ln>
        </p:spPr>
      </p:sp>
      <p:sp>
        <p:nvSpPr>
          <p:cNvPr id="29" name="Shape 27"/>
          <p:cNvSpPr/>
          <p:nvPr/>
        </p:nvSpPr>
        <p:spPr>
          <a:xfrm>
            <a:off x="6324448" y="4756404"/>
            <a:ext cx="64008" cy="1356360"/>
          </a:xfrm>
          <a:prstGeom prst="rect">
            <a:avLst/>
          </a:prstGeom>
          <a:solidFill>
            <a:srgbClr val="0167D5"/>
          </a:solidFill>
          <a:ln/>
        </p:spPr>
      </p:sp>
      <p:sp>
        <p:nvSpPr>
          <p:cNvPr id="30" name="Text 28"/>
          <p:cNvSpPr/>
          <p:nvPr/>
        </p:nvSpPr>
        <p:spPr>
          <a:xfrm>
            <a:off x="6598768" y="4957572"/>
            <a:ext cx="4678528" cy="294640"/>
          </a:xfrm>
          <a:prstGeom prst="rect">
            <a:avLst/>
          </a:prstGeom>
          <a:noFill/>
          <a:ln/>
        </p:spPr>
        <p:txBody>
          <a:bodyPr wrap="square" lIns="0" tIns="0" rIns="0" bIns="0" rtlCol="0" anchor="t"/>
          <a:lstStyle/>
          <a:p>
            <a:pPr indent="0" marL="0">
              <a:buNone/>
            </a:pPr>
            <a:r>
              <a:rPr lang="en-US" sz="1600" b="1" dirty="0">
                <a:solidFill>
                  <a:srgbClr val="0B3A78"/>
                </a:solidFill>
                <a:latin typeface="Montserrat" pitchFamily="34" charset="0"/>
                <a:ea typeface="Montserrat" pitchFamily="34" charset="-122"/>
                <a:cs typeface="Montserrat" pitchFamily="34" charset="-120"/>
              </a:rPr>
              <a:t>Cuentas de operario</a:t>
            </a:r>
            <a:endParaRPr lang="en-US" sz="1600" dirty="0"/>
          </a:p>
        </p:txBody>
      </p:sp>
      <p:sp>
        <p:nvSpPr>
          <p:cNvPr id="31" name="Text 29"/>
          <p:cNvSpPr/>
          <p:nvPr/>
        </p:nvSpPr>
        <p:spPr>
          <a:xfrm>
            <a:off x="6598768" y="5325364"/>
            <a:ext cx="4678528" cy="677672"/>
          </a:xfrm>
          <a:prstGeom prst="rect">
            <a:avLst/>
          </a:prstGeom>
          <a:noFill/>
          <a:ln/>
        </p:spPr>
        <p:txBody>
          <a:bodyPr wrap="square" lIns="0" tIns="0" rIns="0" bIns="0" rtlCol="0" anchor="t"/>
          <a:lstStyle/>
          <a:p>
            <a:pPr indent="0" marL="0">
              <a:lnSpc>
                <a:spcPts val="1800"/>
              </a:lnSpc>
              <a:buNone/>
            </a:pPr>
            <a:r>
              <a:rPr lang="en-US" sz="1300" dirty="0">
                <a:solidFill>
                  <a:srgbClr val="5A6472"/>
                </a:solidFill>
                <a:latin typeface="Inter" pitchFamily="34" charset="0"/>
                <a:ea typeface="Inter" pitchFamily="34" charset="-122"/>
                <a:cs typeface="Inter" pitchFamily="34" charset="-120"/>
              </a:rPr>
              <a:t>Una por puesto de entrega.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A78"/>
        </a:solidFill>
      </p:bgPr>
    </p:bg>
    <p:spTree>
      <p:nvGrpSpPr>
        <p:cNvPr id="1" name=""/>
        <p:cNvGrpSpPr/>
        <p:nvPr/>
      </p:nvGrpSpPr>
      <p:grpSpPr>
        <a:xfrm>
          <a:off x="0" y="0"/>
          <a:ext cx="0" cy="0"/>
          <a:chOff x="0" y="0"/>
          <a:chExt cx="0" cy="0"/>
        </a:xfrm>
      </p:grpSpPr>
      <p:sp>
        <p:nvSpPr>
          <p:cNvPr id="2" name="Text 0"/>
          <p:cNvSpPr/>
          <p:nvPr/>
        </p:nvSpPr>
        <p:spPr>
          <a:xfrm>
            <a:off x="640080" y="1554480"/>
            <a:ext cx="10911535" cy="365760"/>
          </a:xfrm>
          <a:prstGeom prst="rect">
            <a:avLst/>
          </a:prstGeom>
          <a:noFill/>
          <a:ln/>
        </p:spPr>
        <p:txBody>
          <a:bodyPr wrap="square" lIns="0" tIns="0" rIns="0" bIns="0" rtlCol="0" anchor="t"/>
          <a:lstStyle/>
          <a:p>
            <a:pPr indent="0" marL="0">
              <a:buNone/>
            </a:pPr>
            <a:r>
              <a:rPr lang="en-US" sz="1500" b="1" spc="200" kern="0" dirty="0">
                <a:solidFill>
                  <a:srgbClr val="10B7CD"/>
                </a:solidFill>
                <a:latin typeface="Inter" pitchFamily="34" charset="0"/>
                <a:ea typeface="Inter" pitchFamily="34" charset="-122"/>
                <a:cs typeface="Inter" pitchFamily="34" charset="-120"/>
              </a:rPr>
              <a:t>SIGUIENTES PASOS</a:t>
            </a:r>
            <a:endParaRPr lang="en-US" sz="1500" dirty="0"/>
          </a:p>
        </p:txBody>
      </p:sp>
      <p:sp>
        <p:nvSpPr>
          <p:cNvPr id="3" name="Text 1"/>
          <p:cNvSpPr/>
          <p:nvPr/>
        </p:nvSpPr>
        <p:spPr>
          <a:xfrm>
            <a:off x="640080" y="2011680"/>
            <a:ext cx="8716975" cy="17373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El piloto queda abierto</a:t>
            </a:r>
            <a:endParaRPr lang="en-US" sz="4400" dirty="0"/>
          </a:p>
          <a:p>
            <a:pPr indent="0" marL="0">
              <a:lnSpc>
                <a:spcPts val="5000"/>
              </a:lnSpc>
              <a:buNone/>
            </a:pPr>
            <a:r>
              <a:rPr lang="en-US" sz="4400" b="1" dirty="0">
                <a:solidFill>
                  <a:srgbClr val="FFFFFF"/>
                </a:solidFill>
                <a:latin typeface="Montserrat" pitchFamily="34" charset="0"/>
                <a:ea typeface="Montserrat" pitchFamily="34" charset="-122"/>
                <a:cs typeface="Montserrat" pitchFamily="34" charset="-120"/>
              </a:rPr>
              <a:t>para que lo prueben</a:t>
            </a:r>
            <a:endParaRPr lang="en-US" sz="4400" dirty="0"/>
          </a:p>
        </p:txBody>
      </p:sp>
      <p:sp>
        <p:nvSpPr>
          <p:cNvPr id="4" name="Text 2"/>
          <p:cNvSpPr/>
          <p:nvPr/>
        </p:nvSpPr>
        <p:spPr>
          <a:xfrm>
            <a:off x="640080" y="3886200"/>
            <a:ext cx="8716975" cy="1005840"/>
          </a:xfrm>
          <a:prstGeom prst="rect">
            <a:avLst/>
          </a:prstGeom>
          <a:noFill/>
          <a:ln/>
        </p:spPr>
        <p:txBody>
          <a:bodyPr wrap="square" lIns="0" tIns="0" rIns="0" bIns="0" rtlCol="0" anchor="t"/>
          <a:lstStyle/>
          <a:p>
            <a:pPr indent="0" marL="0">
              <a:lnSpc>
                <a:spcPts val="3000"/>
              </a:lnSpc>
              <a:buNone/>
            </a:pPr>
            <a:r>
              <a:rPr lang="en-US" sz="1800" dirty="0">
                <a:solidFill>
                  <a:srgbClr val="C8D8F0"/>
                </a:solidFill>
                <a:latin typeface="Inter" pitchFamily="34" charset="0"/>
                <a:ea typeface="Inter" pitchFamily="34" charset="-122"/>
                <a:cs typeface="Inter" pitchFamily="34" charset="-120"/>
              </a:rPr>
              <a:t>Ustedes lo revisan y lo muestran al Acueducto. Cuando tenga el catálogo completo y el mapa de carpas, montamos producción en la infraestructura de Kidotoy.</a:t>
            </a:r>
            <a:endParaRPr lang="en-US" sz="1800" dirty="0"/>
          </a:p>
        </p:txBody>
      </p:sp>
      <p:sp>
        <p:nvSpPr>
          <p:cNvPr id="5" name="Text 3"/>
          <p:cNvSpPr/>
          <p:nvPr/>
        </p:nvSpPr>
        <p:spPr>
          <a:xfrm>
            <a:off x="640080" y="5715000"/>
            <a:ext cx="10911535" cy="365760"/>
          </a:xfrm>
          <a:prstGeom prst="rect">
            <a:avLst/>
          </a:prstGeom>
          <a:noFill/>
          <a:ln/>
        </p:spPr>
        <p:txBody>
          <a:bodyPr wrap="square" lIns="0" tIns="0" rIns="0" bIns="0" rtlCol="0" anchor="t"/>
          <a:lstStyle/>
          <a:p>
            <a:pPr indent="0" marL="0">
              <a:buNone/>
            </a:pPr>
            <a:r>
              <a:rPr lang="en-US" sz="1300" dirty="0">
                <a:solidFill>
                  <a:srgbClr val="AFC4E0"/>
                </a:solidFill>
                <a:latin typeface="Inter" pitchFamily="34" charset="0"/>
                <a:ea typeface="Inter" pitchFamily="34" charset="-122"/>
                <a:cs typeface="Inter" pitchFamily="34" charset="-120"/>
              </a:rPr>
              <a:t>acueducto-kidotoy.vaisy.app · Sebastián Grajales</a:t>
            </a:r>
            <a:endParaRPr lang="en-US" sz="1300" dirty="0"/>
          </a:p>
        </p:txBody>
      </p:sp>
      <p:sp>
        <p:nvSpPr>
          <p:cNvPr id="6" name="Shape 4"/>
          <p:cNvSpPr/>
          <p:nvPr/>
        </p:nvSpPr>
        <p:spPr>
          <a:xfrm>
            <a:off x="0" y="6711696"/>
            <a:ext cx="3066212" cy="146304"/>
          </a:xfrm>
          <a:prstGeom prst="rect">
            <a:avLst/>
          </a:prstGeom>
          <a:solidFill>
            <a:srgbClr val="10B7CD"/>
          </a:solidFill>
          <a:ln/>
        </p:spPr>
      </p:sp>
      <p:sp>
        <p:nvSpPr>
          <p:cNvPr id="7" name="Shape 5"/>
          <p:cNvSpPr/>
          <p:nvPr/>
        </p:nvSpPr>
        <p:spPr>
          <a:xfrm>
            <a:off x="3047924" y="6711696"/>
            <a:ext cx="3066212" cy="146304"/>
          </a:xfrm>
          <a:prstGeom prst="rect">
            <a:avLst/>
          </a:prstGeom>
          <a:solidFill>
            <a:srgbClr val="E84141"/>
          </a:solidFill>
          <a:ln/>
        </p:spPr>
      </p:sp>
      <p:sp>
        <p:nvSpPr>
          <p:cNvPr id="8" name="Shape 6"/>
          <p:cNvSpPr/>
          <p:nvPr/>
        </p:nvSpPr>
        <p:spPr>
          <a:xfrm>
            <a:off x="6095848" y="6711696"/>
            <a:ext cx="3066212" cy="146304"/>
          </a:xfrm>
          <a:prstGeom prst="rect">
            <a:avLst/>
          </a:prstGeom>
          <a:solidFill>
            <a:srgbClr val="F8AB11"/>
          </a:solidFill>
          <a:ln/>
        </p:spPr>
      </p:sp>
      <p:sp>
        <p:nvSpPr>
          <p:cNvPr id="9" name="Shape 7"/>
          <p:cNvSpPr/>
          <p:nvPr/>
        </p:nvSpPr>
        <p:spPr>
          <a:xfrm>
            <a:off x="9143771" y="6711696"/>
            <a:ext cx="3047924" cy="146304"/>
          </a:xfrm>
          <a:prstGeom prst="rect">
            <a:avLst/>
          </a:prstGeom>
          <a:solidFill>
            <a:srgbClr val="8974B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Kidotoy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Plataforma de selección de regalos · Piloto entregado</dc:title>
  <dc:subject>Entrega del piloto a Kidotoy</dc:subject>
  <dc:creator>Sebastián Grajales</dc:creator>
  <cp:lastModifiedBy>Sebastián Grajales</cp:lastModifiedBy>
  <cp:revision>1</cp:revision>
  <dcterms:created xsi:type="dcterms:W3CDTF">2026-09-06T08:26:46Z</dcterms:created>
  <dcterms:modified xsi:type="dcterms:W3CDTF">2026-09-06T08:26:46Z</dcterms:modified>
</cp:coreProperties>
</file>