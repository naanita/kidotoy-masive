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Kidotoy trae la experiencia en juguetes, la logística y la entrega. Yo acompaño con la plataforma que hace que mil familias puedan elegir sin que nadie tenga que llevar una hoja de cálculo. Hoy queremos mostrarles cómo lo vive un colaborador de ustedes.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cifras que definen el problema. La difícil no es la primera, es la combinación: quinientas personas eligiendo casi al tiempo sobre un inventario que se agota, y un solo día para entregar. Eso por correo o por planilla no se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 todo. Un colaborador entra con su cédula y el código que ustedes le entregan, ve a sus hijos, elige y guarda su comprobante. Sin instructivos largos, sin llamar a nadie. Cada niño ve solo los juguetes de su edad y su género.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Pensado para el celular desde el primer trazo, porque es donde va a ocurrir. Un operario de red en campo lo abre en el bus y en tres minutos resolvió el regalo de sus hijos.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carpa, el papá muestra su comprobante, el operario escanea y aparece el niño con su juguete. Marca entregado y queda registrado. Si alguien intenta reclamar dos veces, la pantalla se pone roja y avisa que ya fue entregado.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Ustedes tienen su propio acceso, permanente, sin pedirle nada a nadie. Ven el avance, quiénes faltan —con nombre y área, para hacer el recordatorio dirigido— y exportan lo que necesiten para sus informes internos.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invito a abrirlo ahora mismo, mientras estamos acá. Es el sistema real, con datos ficticios. Hay tres cuentas para que cada quien pruebe una: Diana tiene tres hijos de edades distintas y ve cómo cambia el catálogo; Valeria empieza de cero; Antonia ya terminó y consulta sus comprobantes. Les doy un minuto y seguimos con las preguntas que siempre surgen.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primera pregunta que hace un área de tecnología, y con razón. La respuesta corta: la garantía está en la base de datos, no en el navegador. Si estuviera en el navegador, un doble clic la rompe. Y no es teoría: lo probamos sobre el sistema publicado, con dos usuarios reales y red de por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suele entrar jurídico. Tres ideas: el aislamiento es del motor de base de datos, no del código, que es el estándar más alto. Guardamos el mínimo: nombre, edad y género del niño, nada más. Y todo queda auditado. Para el piloto trabajamos con datos ficticios a propósito: no movimos un solo dato real de un menor sin contrato y política de tratamiento firmados.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les voy a decir que nada puede fallar. Les digo qué hay preparado si falla. Y quiero ser explícito en lo último: el modo sin conexión NO está construido hoy, es alcance de producción. Si la red del parque se cae, se entrega con los listados impresos y se registra después. Prefiero decirlo acá que el 12 de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una entidad pública esto suele ser lo más importante después de la protección de datos. Nada se puede corregir en silencio: liberar una selección o revertir una entrega exige escribir el motivo y queda con nombre y hora. Es exportable para su auditoría interna.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alianza con roles claros. Kidotoy responde por el juguete y por la operación en el parque, que es lo que ustedes van a ver el 12 de diciembre. Yo respondo por la plataforma y estoy en la jornada por si algo se necesita.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El acceso queda abierto para que lo prueben con su equipo, sin límite de tiempo. Cualquier duda de tecnología la resuelvo yo directamente; lo comercial y logístico, con Kidotoy.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1554480"/>
            <a:ext cx="10911535" cy="365760"/>
          </a:xfrm>
          <a:prstGeom prst="rect">
            <a:avLst/>
          </a:prstGeom>
          <a:noFill/>
          <a:ln/>
        </p:spPr>
        <p:txBody>
          <a:bodyPr wrap="square" lIns="0" tIns="0" rIns="0" bIns="0" rtlCol="0" anchor="t"/>
          <a:lstStyle/>
          <a:p>
            <a:pPr indent="0" marL="0">
              <a:buNone/>
            </a:pPr>
            <a:r>
              <a:rPr lang="en-US" sz="1500" b="1" spc="200" kern="0" dirty="0">
                <a:solidFill>
                  <a:srgbClr val="10B7CD"/>
                </a:solidFill>
                <a:latin typeface="Inter" pitchFamily="34" charset="0"/>
                <a:ea typeface="Inter" pitchFamily="34" charset="-122"/>
                <a:cs typeface="Inter" pitchFamily="34" charset="-120"/>
              </a:rPr>
              <a:t>PROPUESTA · EMPRESA DE ACUEDUCTO Y ALCANTARILLADO DE BOGOTÁ</a:t>
            </a:r>
            <a:endParaRPr lang="en-US" sz="1500" dirty="0"/>
          </a:p>
        </p:txBody>
      </p:sp>
      <p:sp>
        <p:nvSpPr>
          <p:cNvPr id="3" name="Text 1"/>
          <p:cNvSpPr/>
          <p:nvPr/>
        </p:nvSpPr>
        <p:spPr>
          <a:xfrm>
            <a:off x="640080" y="2011680"/>
            <a:ext cx="8716975"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Programa de regalos</a:t>
            </a:r>
            <a:endParaRPr lang="en-US" sz="4400" dirty="0"/>
          </a:p>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de fin de año</a:t>
            </a:r>
            <a:endParaRPr lang="en-US" sz="4400" dirty="0"/>
          </a:p>
        </p:txBody>
      </p:sp>
      <p:sp>
        <p:nvSpPr>
          <p:cNvPr id="4" name="Text 2"/>
          <p:cNvSpPr/>
          <p:nvPr/>
        </p:nvSpPr>
        <p:spPr>
          <a:xfrm>
            <a:off x="640080" y="3886200"/>
            <a:ext cx="8716975" cy="1005840"/>
          </a:xfrm>
          <a:prstGeom prst="rect">
            <a:avLst/>
          </a:prstGeom>
          <a:noFill/>
          <a:ln/>
        </p:spPr>
        <p:txBody>
          <a:bodyPr wrap="square" lIns="0" tIns="0" rIns="0" bIns="0" rtlCol="0" anchor="t"/>
          <a:lstStyle/>
          <a:p>
            <a:pPr indent="0" marL="0">
              <a:lnSpc>
                <a:spcPts val="3000"/>
              </a:lnSpc>
              <a:buNone/>
            </a:pPr>
            <a:r>
              <a:rPr lang="en-US" sz="1800" dirty="0">
                <a:solidFill>
                  <a:srgbClr val="C8D8F0"/>
                </a:solidFill>
                <a:latin typeface="Inter" pitchFamily="34" charset="0"/>
                <a:ea typeface="Inter" pitchFamily="34" charset="-122"/>
                <a:cs typeface="Inter" pitchFamily="34" charset="-120"/>
              </a:rPr>
              <a:t>Kidotoy · juguetes, logística y entrega</a:t>
            </a:r>
            <a:endParaRPr lang="en-US" sz="1800" dirty="0"/>
          </a:p>
          <a:p>
            <a:pPr indent="0" marL="0">
              <a:lnSpc>
                <a:spcPts val="3000"/>
              </a:lnSpc>
              <a:buNone/>
            </a:pPr>
            <a:r>
              <a:rPr lang="en-US" sz="1800" dirty="0">
                <a:solidFill>
                  <a:srgbClr val="C8D8F0"/>
                </a:solidFill>
                <a:latin typeface="Inter" pitchFamily="34" charset="0"/>
                <a:ea typeface="Inter" pitchFamily="34" charset="-122"/>
                <a:cs typeface="Inter" pitchFamily="34" charset="-120"/>
              </a:rPr>
              <a:t>Plataforma de selección en línea</a:t>
            </a:r>
            <a:endParaRPr lang="en-US" sz="1800" dirty="0"/>
          </a:p>
        </p:txBody>
      </p:sp>
      <p:sp>
        <p:nvSpPr>
          <p:cNvPr id="5" name="Text 3"/>
          <p:cNvSpPr/>
          <p:nvPr/>
        </p:nvSpPr>
        <p:spPr>
          <a:xfrm>
            <a:off x="640080" y="5715000"/>
            <a:ext cx="10911535" cy="365760"/>
          </a:xfrm>
          <a:prstGeom prst="rect">
            <a:avLst/>
          </a:prstGeom>
          <a:noFill/>
          <a:ln/>
        </p:spPr>
        <p:txBody>
          <a:bodyPr wrap="square" lIns="0" tIns="0" rIns="0" bIns="0" rtlCol="0" anchor="t"/>
          <a:lstStyle/>
          <a:p>
            <a:pPr indent="0" marL="0">
              <a:buNone/>
            </a:pPr>
            <a:r>
              <a:rPr lang="en-US" sz="1300" dirty="0">
                <a:solidFill>
                  <a:srgbClr val="AFC4E0"/>
                </a:solidFill>
                <a:latin typeface="Inter" pitchFamily="34" charset="0"/>
                <a:ea typeface="Inter" pitchFamily="34" charset="-122"/>
                <a:cs typeface="Inter" pitchFamily="34" charset="-120"/>
              </a:rPr>
              <a:t>Presentación conjunta · 2026</a:t>
            </a:r>
            <a:endParaRPr lang="en-US" sz="1300" dirty="0"/>
          </a:p>
        </p:txBody>
      </p:sp>
      <p:sp>
        <p:nvSpPr>
          <p:cNvPr id="6" name="Shape 4"/>
          <p:cNvSpPr/>
          <p:nvPr/>
        </p:nvSpPr>
        <p:spPr>
          <a:xfrm>
            <a:off x="0" y="6711696"/>
            <a:ext cx="3066212" cy="146304"/>
          </a:xfrm>
          <a:prstGeom prst="rect">
            <a:avLst/>
          </a:prstGeom>
          <a:solidFill>
            <a:srgbClr val="10B7CD"/>
          </a:solidFill>
          <a:ln/>
        </p:spPr>
      </p:sp>
      <p:sp>
        <p:nvSpPr>
          <p:cNvPr id="7" name="Shape 5"/>
          <p:cNvSpPr/>
          <p:nvPr/>
        </p:nvSpPr>
        <p:spPr>
          <a:xfrm>
            <a:off x="3047924" y="6711696"/>
            <a:ext cx="3066212" cy="146304"/>
          </a:xfrm>
          <a:prstGeom prst="rect">
            <a:avLst/>
          </a:prstGeom>
          <a:solidFill>
            <a:srgbClr val="E84141"/>
          </a:solidFill>
          <a:ln/>
        </p:spPr>
      </p:sp>
      <p:sp>
        <p:nvSpPr>
          <p:cNvPr id="8" name="Shape 6"/>
          <p:cNvSpPr/>
          <p:nvPr/>
        </p:nvSpPr>
        <p:spPr>
          <a:xfrm>
            <a:off x="6095848" y="6711696"/>
            <a:ext cx="3066212" cy="146304"/>
          </a:xfrm>
          <a:prstGeom prst="rect">
            <a:avLst/>
          </a:prstGeom>
          <a:solidFill>
            <a:srgbClr val="F8AB11"/>
          </a:solidFill>
          <a:ln/>
        </p:spPr>
      </p:sp>
      <p:sp>
        <p:nvSpPr>
          <p:cNvPr id="9" name="Shape 7"/>
          <p:cNvSpPr/>
          <p:nvPr/>
        </p:nvSpPr>
        <p:spPr>
          <a:xfrm>
            <a:off x="9143771" y="6711696"/>
            <a:ext cx="3047924" cy="146304"/>
          </a:xfrm>
          <a:prstGeom prst="rect">
            <a:avLst/>
          </a:prstGeom>
          <a:solidFill>
            <a:srgbClr val="8974B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El reto</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Lo que hay que resolver en una sola temporada</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365248"/>
            <a:ext cx="5227168" cy="1356360"/>
          </a:xfrm>
          <a:prstGeom prst="roundRect">
            <a:avLst>
              <a:gd name="adj" fmla="val 4045"/>
            </a:avLst>
          </a:prstGeom>
          <a:solidFill>
            <a:srgbClr val="FFFFFF"/>
          </a:solidFill>
          <a:ln w="12700">
            <a:solidFill>
              <a:srgbClr val="D9E2EC"/>
            </a:solidFill>
            <a:prstDash val="solid"/>
          </a:ln>
        </p:spPr>
      </p:sp>
      <p:sp>
        <p:nvSpPr>
          <p:cNvPr id="9" name="Shape 7"/>
          <p:cNvSpPr/>
          <p:nvPr/>
        </p:nvSpPr>
        <p:spPr>
          <a:xfrm>
            <a:off x="640080" y="2365248"/>
            <a:ext cx="64008" cy="1356360"/>
          </a:xfrm>
          <a:prstGeom prst="rect">
            <a:avLst/>
          </a:prstGeom>
          <a:solidFill>
            <a:srgbClr val="0167D5"/>
          </a:solidFill>
          <a:ln/>
        </p:spPr>
      </p:sp>
      <p:sp>
        <p:nvSpPr>
          <p:cNvPr id="10" name="Text 8"/>
          <p:cNvSpPr/>
          <p:nvPr/>
        </p:nvSpPr>
        <p:spPr>
          <a:xfrm>
            <a:off x="914400" y="2566416"/>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Cerca de 1.000 niños</a:t>
            </a:r>
            <a:endParaRPr lang="en-US" sz="1600" dirty="0"/>
          </a:p>
        </p:txBody>
      </p:sp>
      <p:sp>
        <p:nvSpPr>
          <p:cNvPr id="11" name="Text 9"/>
          <p:cNvSpPr/>
          <p:nvPr/>
        </p:nvSpPr>
        <p:spPr>
          <a:xfrm>
            <a:off x="914400" y="2934208"/>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Cada uno con su edad, su género y su juguete asignado.</a:t>
            </a:r>
            <a:endParaRPr lang="en-US" sz="1300" dirty="0"/>
          </a:p>
        </p:txBody>
      </p:sp>
      <p:sp>
        <p:nvSpPr>
          <p:cNvPr id="12" name="Shape 10"/>
          <p:cNvSpPr/>
          <p:nvPr/>
        </p:nvSpPr>
        <p:spPr>
          <a:xfrm>
            <a:off x="6324448" y="2365248"/>
            <a:ext cx="5227168" cy="1356360"/>
          </a:xfrm>
          <a:prstGeom prst="roundRect">
            <a:avLst>
              <a:gd name="adj" fmla="val 4045"/>
            </a:avLst>
          </a:prstGeom>
          <a:solidFill>
            <a:srgbClr val="FFFFFF"/>
          </a:solidFill>
          <a:ln w="12700">
            <a:solidFill>
              <a:srgbClr val="D9E2EC"/>
            </a:solidFill>
            <a:prstDash val="solid"/>
          </a:ln>
        </p:spPr>
      </p:sp>
      <p:sp>
        <p:nvSpPr>
          <p:cNvPr id="13" name="Shape 11"/>
          <p:cNvSpPr/>
          <p:nvPr/>
        </p:nvSpPr>
        <p:spPr>
          <a:xfrm>
            <a:off x="6324448" y="2365248"/>
            <a:ext cx="64008" cy="1356360"/>
          </a:xfrm>
          <a:prstGeom prst="rect">
            <a:avLst/>
          </a:prstGeom>
          <a:solidFill>
            <a:srgbClr val="0167D5"/>
          </a:solidFill>
          <a:ln/>
        </p:spPr>
      </p:sp>
      <p:sp>
        <p:nvSpPr>
          <p:cNvPr id="14" name="Text 12"/>
          <p:cNvSpPr/>
          <p:nvPr/>
        </p:nvSpPr>
        <p:spPr>
          <a:xfrm>
            <a:off x="6598768" y="2566416"/>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Unos 500 colaboradores</a:t>
            </a:r>
            <a:endParaRPr lang="en-US" sz="1600" dirty="0"/>
          </a:p>
        </p:txBody>
      </p:sp>
      <p:sp>
        <p:nvSpPr>
          <p:cNvPr id="15" name="Text 13"/>
          <p:cNvSpPr/>
          <p:nvPr/>
        </p:nvSpPr>
        <p:spPr>
          <a:xfrm>
            <a:off x="6598768" y="2934208"/>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Muchos entrando el mismo día, apenas sale el comunicado.</a:t>
            </a:r>
            <a:endParaRPr lang="en-US" sz="1300" dirty="0"/>
          </a:p>
        </p:txBody>
      </p:sp>
      <p:sp>
        <p:nvSpPr>
          <p:cNvPr id="16" name="Shape 14"/>
          <p:cNvSpPr/>
          <p:nvPr/>
        </p:nvSpPr>
        <p:spPr>
          <a:xfrm>
            <a:off x="640080" y="3959352"/>
            <a:ext cx="5227168" cy="1356360"/>
          </a:xfrm>
          <a:prstGeom prst="roundRect">
            <a:avLst>
              <a:gd name="adj" fmla="val 4045"/>
            </a:avLst>
          </a:prstGeom>
          <a:solidFill>
            <a:srgbClr val="FFFFFF"/>
          </a:solidFill>
          <a:ln w="12700">
            <a:solidFill>
              <a:srgbClr val="D9E2EC"/>
            </a:solidFill>
            <a:prstDash val="solid"/>
          </a:ln>
        </p:spPr>
      </p:sp>
      <p:sp>
        <p:nvSpPr>
          <p:cNvPr id="17" name="Shape 15"/>
          <p:cNvSpPr/>
          <p:nvPr/>
        </p:nvSpPr>
        <p:spPr>
          <a:xfrm>
            <a:off x="640080" y="3959352"/>
            <a:ext cx="64008" cy="1356360"/>
          </a:xfrm>
          <a:prstGeom prst="rect">
            <a:avLst/>
          </a:prstGeom>
          <a:solidFill>
            <a:srgbClr val="0167D5"/>
          </a:solidFill>
          <a:ln/>
        </p:spPr>
      </p:sp>
      <p:sp>
        <p:nvSpPr>
          <p:cNvPr id="18" name="Text 16"/>
          <p:cNvSpPr/>
          <p:nvPr/>
        </p:nvSpPr>
        <p:spPr>
          <a:xfrm>
            <a:off x="914400" y="416052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168 referencias</a:t>
            </a:r>
            <a:endParaRPr lang="en-US" sz="1600" dirty="0"/>
          </a:p>
        </p:txBody>
      </p:sp>
      <p:sp>
        <p:nvSpPr>
          <p:cNvPr id="19" name="Text 17"/>
          <p:cNvSpPr/>
          <p:nvPr/>
        </p:nvSpPr>
        <p:spPr>
          <a:xfrm>
            <a:off x="914400" y="4528312"/>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Con inventario limitado. Lo que se acaba, se acabó.</a:t>
            </a:r>
            <a:endParaRPr lang="en-US" sz="1300" dirty="0"/>
          </a:p>
        </p:txBody>
      </p:sp>
      <p:sp>
        <p:nvSpPr>
          <p:cNvPr id="20" name="Shape 18"/>
          <p:cNvSpPr/>
          <p:nvPr/>
        </p:nvSpPr>
        <p:spPr>
          <a:xfrm>
            <a:off x="6324448" y="3959352"/>
            <a:ext cx="5227168" cy="1356360"/>
          </a:xfrm>
          <a:prstGeom prst="roundRect">
            <a:avLst>
              <a:gd name="adj" fmla="val 4045"/>
            </a:avLst>
          </a:prstGeom>
          <a:solidFill>
            <a:srgbClr val="FFFFFF"/>
          </a:solidFill>
          <a:ln w="12700">
            <a:solidFill>
              <a:srgbClr val="D9E2EC"/>
            </a:solidFill>
            <a:prstDash val="solid"/>
          </a:ln>
        </p:spPr>
      </p:sp>
      <p:sp>
        <p:nvSpPr>
          <p:cNvPr id="21" name="Shape 19"/>
          <p:cNvSpPr/>
          <p:nvPr/>
        </p:nvSpPr>
        <p:spPr>
          <a:xfrm>
            <a:off x="6324448" y="3959352"/>
            <a:ext cx="64008" cy="1356360"/>
          </a:xfrm>
          <a:prstGeom prst="rect">
            <a:avLst/>
          </a:prstGeom>
          <a:solidFill>
            <a:srgbClr val="0167D5"/>
          </a:solidFill>
          <a:ln/>
        </p:spPr>
      </p:sp>
      <p:sp>
        <p:nvSpPr>
          <p:cNvPr id="22" name="Text 20"/>
          <p:cNvSpPr/>
          <p:nvPr/>
        </p:nvSpPr>
        <p:spPr>
          <a:xfrm>
            <a:off x="6598768" y="4160520"/>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Un solo día de entrega</a:t>
            </a:r>
            <a:endParaRPr lang="en-US" sz="1600" dirty="0"/>
          </a:p>
        </p:txBody>
      </p:sp>
      <p:sp>
        <p:nvSpPr>
          <p:cNvPr id="23" name="Text 21"/>
          <p:cNvSpPr/>
          <p:nvPr/>
        </p:nvSpPr>
        <p:spPr>
          <a:xfrm>
            <a:off x="6598768" y="4528312"/>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Cientos de familias, varias carpas, sin filas eternas.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Cómo lo vive el colaborador</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Cuatro pasos, sin capacitación</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594360" y="1490472"/>
            <a:ext cx="2613584" cy="1667780"/>
          </a:xfrm>
          <a:prstGeom prst="roundRect">
            <a:avLst>
              <a:gd name="adj" fmla="val 2193"/>
            </a:avLst>
          </a:prstGeom>
          <a:solidFill>
            <a:srgbClr val="FFFFFF"/>
          </a:solidFill>
          <a:ln w="12700">
            <a:solidFill>
              <a:srgbClr val="D9E2EC"/>
            </a:solidFill>
            <a:prstDash val="solid"/>
          </a:ln>
        </p:spPr>
      </p:sp>
      <p:pic>
        <p:nvPicPr>
          <p:cNvPr id="9" name="Image 0" descr="docs/presentacion/capturas/escritorio-01-login-colaborador.png">    </p:cNvPr>
          <p:cNvPicPr>
            <a:picLocks noChangeAspect="1"/>
          </p:cNvPicPr>
          <p:nvPr/>
        </p:nvPicPr>
        <p:blipFill>
          <a:blip r:embed="rId1"/>
          <a:stretch>
            <a:fillRect/>
          </a:stretch>
        </p:blipFill>
        <p:spPr>
          <a:xfrm>
            <a:off x="640080" y="1536192"/>
            <a:ext cx="2522144" cy="1576340"/>
          </a:xfrm>
          <a:prstGeom prst="rect">
            <a:avLst/>
          </a:prstGeom>
        </p:spPr>
      </p:pic>
      <p:sp>
        <p:nvSpPr>
          <p:cNvPr id="10" name="Shape 7"/>
          <p:cNvSpPr/>
          <p:nvPr/>
        </p:nvSpPr>
        <p:spPr>
          <a:xfrm>
            <a:off x="1745704" y="3313700"/>
            <a:ext cx="310896" cy="310896"/>
          </a:xfrm>
          <a:prstGeom prst="ellipse">
            <a:avLst/>
          </a:prstGeom>
          <a:solidFill>
            <a:srgbClr val="0167D5"/>
          </a:solidFill>
          <a:ln/>
        </p:spPr>
      </p:sp>
      <p:sp>
        <p:nvSpPr>
          <p:cNvPr id="11" name="Text 8"/>
          <p:cNvSpPr/>
          <p:nvPr/>
        </p:nvSpPr>
        <p:spPr>
          <a:xfrm>
            <a:off x="1745704"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640080" y="3679460"/>
            <a:ext cx="2522144"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Entra con su cédula</a:t>
            </a:r>
            <a:endParaRPr lang="en-US" sz="1200" dirty="0"/>
          </a:p>
        </p:txBody>
      </p:sp>
      <p:sp>
        <p:nvSpPr>
          <p:cNvPr id="13" name="Shape 10"/>
          <p:cNvSpPr/>
          <p:nvPr/>
        </p:nvSpPr>
        <p:spPr>
          <a:xfrm>
            <a:off x="3572555" y="1490472"/>
            <a:ext cx="2561439" cy="1667780"/>
          </a:xfrm>
          <a:prstGeom prst="roundRect">
            <a:avLst>
              <a:gd name="adj" fmla="val 2193"/>
            </a:avLst>
          </a:prstGeom>
          <a:solidFill>
            <a:srgbClr val="FFFFFF"/>
          </a:solidFill>
          <a:ln w="12700">
            <a:solidFill>
              <a:srgbClr val="D9E2EC"/>
            </a:solidFill>
            <a:prstDash val="solid"/>
          </a:ln>
        </p:spPr>
      </p:sp>
      <p:pic>
        <p:nvPicPr>
          <p:cNvPr id="14" name="Image 1" descr="docs/presentacion/capturas/escritorio-02-mis-beneficiarios.png">    </p:cNvPr>
          <p:cNvPicPr>
            <a:picLocks noChangeAspect="1"/>
          </p:cNvPicPr>
          <p:nvPr/>
        </p:nvPicPr>
        <p:blipFill>
          <a:blip r:embed="rId2"/>
          <a:stretch>
            <a:fillRect/>
          </a:stretch>
        </p:blipFill>
        <p:spPr>
          <a:xfrm>
            <a:off x="3618275" y="1536192"/>
            <a:ext cx="2469999" cy="1576340"/>
          </a:xfrm>
          <a:prstGeom prst="rect">
            <a:avLst/>
          </a:prstGeom>
        </p:spPr>
      </p:pic>
      <p:sp>
        <p:nvSpPr>
          <p:cNvPr id="15" name="Shape 11"/>
          <p:cNvSpPr/>
          <p:nvPr/>
        </p:nvSpPr>
        <p:spPr>
          <a:xfrm>
            <a:off x="4697827" y="3313700"/>
            <a:ext cx="310896" cy="310896"/>
          </a:xfrm>
          <a:prstGeom prst="ellipse">
            <a:avLst/>
          </a:prstGeom>
          <a:solidFill>
            <a:srgbClr val="0167D5"/>
          </a:solidFill>
          <a:ln/>
        </p:spPr>
      </p:sp>
      <p:sp>
        <p:nvSpPr>
          <p:cNvPr id="16" name="Text 12"/>
          <p:cNvSpPr/>
          <p:nvPr/>
        </p:nvSpPr>
        <p:spPr>
          <a:xfrm>
            <a:off x="4697827"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3481675" y="3679460"/>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Ve a sus hijos</a:t>
            </a:r>
            <a:endParaRPr lang="en-US" sz="1200" dirty="0"/>
          </a:p>
        </p:txBody>
      </p:sp>
      <p:sp>
        <p:nvSpPr>
          <p:cNvPr id="18" name="Shape 14"/>
          <p:cNvSpPr/>
          <p:nvPr/>
        </p:nvSpPr>
        <p:spPr>
          <a:xfrm>
            <a:off x="6498607" y="1490472"/>
            <a:ext cx="2480839" cy="1667780"/>
          </a:xfrm>
          <a:prstGeom prst="roundRect">
            <a:avLst>
              <a:gd name="adj" fmla="val 2193"/>
            </a:avLst>
          </a:prstGeom>
          <a:solidFill>
            <a:srgbClr val="FFFFFF"/>
          </a:solidFill>
          <a:ln w="12700">
            <a:solidFill>
              <a:srgbClr val="D9E2EC"/>
            </a:solidFill>
            <a:prstDash val="solid"/>
          </a:ln>
        </p:spPr>
      </p:sp>
      <p:pic>
        <p:nvPicPr>
          <p:cNvPr id="19" name="Image 2" descr="docs/presentacion/recursos/rec-escritorio-03-catalogo-valentina.png">    </p:cNvPr>
          <p:cNvPicPr>
            <a:picLocks noChangeAspect="1"/>
          </p:cNvPicPr>
          <p:nvPr/>
        </p:nvPicPr>
        <p:blipFill>
          <a:blip r:embed="rId3"/>
          <a:stretch>
            <a:fillRect/>
          </a:stretch>
        </p:blipFill>
        <p:spPr>
          <a:xfrm>
            <a:off x="6544327" y="1536192"/>
            <a:ext cx="2389399" cy="1576340"/>
          </a:xfrm>
          <a:prstGeom prst="rect">
            <a:avLst/>
          </a:prstGeom>
        </p:spPr>
      </p:pic>
      <p:sp>
        <p:nvSpPr>
          <p:cNvPr id="20" name="Shape 15"/>
          <p:cNvSpPr/>
          <p:nvPr/>
        </p:nvSpPr>
        <p:spPr>
          <a:xfrm>
            <a:off x="7583578" y="3313700"/>
            <a:ext cx="310896" cy="310896"/>
          </a:xfrm>
          <a:prstGeom prst="ellipse">
            <a:avLst/>
          </a:prstGeom>
          <a:solidFill>
            <a:srgbClr val="0167D5"/>
          </a:solidFill>
          <a:ln/>
        </p:spPr>
      </p:sp>
      <p:sp>
        <p:nvSpPr>
          <p:cNvPr id="21" name="Text 16"/>
          <p:cNvSpPr/>
          <p:nvPr/>
        </p:nvSpPr>
        <p:spPr>
          <a:xfrm>
            <a:off x="7583578"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6367426" y="3679460"/>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Elige el regalo de cada uno</a:t>
            </a:r>
            <a:endParaRPr lang="en-US" sz="1200" dirty="0"/>
          </a:p>
        </p:txBody>
      </p:sp>
      <p:sp>
        <p:nvSpPr>
          <p:cNvPr id="23" name="Shape 18"/>
          <p:cNvSpPr/>
          <p:nvPr/>
        </p:nvSpPr>
        <p:spPr>
          <a:xfrm>
            <a:off x="9344058" y="1490472"/>
            <a:ext cx="2253278" cy="1667780"/>
          </a:xfrm>
          <a:prstGeom prst="roundRect">
            <a:avLst>
              <a:gd name="adj" fmla="val 2193"/>
            </a:avLst>
          </a:prstGeom>
          <a:solidFill>
            <a:srgbClr val="FFFFFF"/>
          </a:solidFill>
          <a:ln w="12700">
            <a:solidFill>
              <a:srgbClr val="D9E2EC"/>
            </a:solidFill>
            <a:prstDash val="solid"/>
          </a:ln>
        </p:spPr>
      </p:sp>
      <p:pic>
        <p:nvPicPr>
          <p:cNvPr id="24" name="Image 3" descr="docs/presentacion/recursos/rec-escritorio-05-comprobante.png">    </p:cNvPr>
          <p:cNvPicPr>
            <a:picLocks noChangeAspect="1"/>
          </p:cNvPicPr>
          <p:nvPr/>
        </p:nvPicPr>
        <p:blipFill>
          <a:blip r:embed="rId4"/>
          <a:stretch>
            <a:fillRect/>
          </a:stretch>
        </p:blipFill>
        <p:spPr>
          <a:xfrm>
            <a:off x="9389778" y="1536192"/>
            <a:ext cx="2161838" cy="1576340"/>
          </a:xfrm>
          <a:prstGeom prst="rect">
            <a:avLst/>
          </a:prstGeom>
        </p:spPr>
      </p:pic>
      <p:sp>
        <p:nvSpPr>
          <p:cNvPr id="25" name="Shape 19"/>
          <p:cNvSpPr/>
          <p:nvPr/>
        </p:nvSpPr>
        <p:spPr>
          <a:xfrm>
            <a:off x="10315248" y="3313700"/>
            <a:ext cx="310896" cy="310896"/>
          </a:xfrm>
          <a:prstGeom prst="ellipse">
            <a:avLst/>
          </a:prstGeom>
          <a:solidFill>
            <a:srgbClr val="0167D5"/>
          </a:solidFill>
          <a:ln/>
        </p:spPr>
      </p:sp>
      <p:sp>
        <p:nvSpPr>
          <p:cNvPr id="26" name="Text 20"/>
          <p:cNvSpPr/>
          <p:nvPr/>
        </p:nvSpPr>
        <p:spPr>
          <a:xfrm>
            <a:off x="10315248"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7" name="Text 21"/>
          <p:cNvSpPr/>
          <p:nvPr/>
        </p:nvSpPr>
        <p:spPr>
          <a:xfrm>
            <a:off x="9389778" y="3679460"/>
            <a:ext cx="2161838"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Guarda su comprobante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Desde el celular, en tres minutos</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La mayoría de sus colaboradores va a entrar así</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1214750" y="1490472"/>
            <a:ext cx="1857619" cy="3913632"/>
          </a:xfrm>
          <a:prstGeom prst="roundRect">
            <a:avLst>
              <a:gd name="adj" fmla="val 1969"/>
            </a:avLst>
          </a:prstGeom>
          <a:solidFill>
            <a:srgbClr val="FFFFFF"/>
          </a:solidFill>
          <a:ln w="12700">
            <a:solidFill>
              <a:srgbClr val="D9E2EC"/>
            </a:solidFill>
            <a:prstDash val="solid"/>
          </a:ln>
        </p:spPr>
      </p:sp>
      <p:pic>
        <p:nvPicPr>
          <p:cNvPr id="9" name="Image 0" descr="docs/presentacion/recursos/rec-movil-01-login-colaborador.png">    </p:cNvPr>
          <p:cNvPicPr>
            <a:picLocks noChangeAspect="1"/>
          </p:cNvPicPr>
          <p:nvPr/>
        </p:nvPicPr>
        <p:blipFill>
          <a:blip r:embed="rId1"/>
          <a:stretch>
            <a:fillRect/>
          </a:stretch>
        </p:blipFill>
        <p:spPr>
          <a:xfrm>
            <a:off x="1260470" y="1536192"/>
            <a:ext cx="1766179" cy="3822192"/>
          </a:xfrm>
          <a:prstGeom prst="rect">
            <a:avLst/>
          </a:prstGeom>
        </p:spPr>
      </p:pic>
      <p:sp>
        <p:nvSpPr>
          <p:cNvPr id="10" name="Shape 7"/>
          <p:cNvSpPr/>
          <p:nvPr/>
        </p:nvSpPr>
        <p:spPr>
          <a:xfrm>
            <a:off x="1988111" y="5559552"/>
            <a:ext cx="310896" cy="310896"/>
          </a:xfrm>
          <a:prstGeom prst="ellipse">
            <a:avLst/>
          </a:prstGeom>
          <a:solidFill>
            <a:srgbClr val="0167D5"/>
          </a:solidFill>
          <a:ln/>
        </p:spPr>
      </p:sp>
      <p:sp>
        <p:nvSpPr>
          <p:cNvPr id="11" name="Text 8"/>
          <p:cNvSpPr/>
          <p:nvPr/>
        </p:nvSpPr>
        <p:spPr>
          <a:xfrm>
            <a:off x="1988111"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771959"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Ingreso</a:t>
            </a:r>
            <a:endParaRPr lang="en-US" sz="1200" dirty="0"/>
          </a:p>
        </p:txBody>
      </p:sp>
      <p:sp>
        <p:nvSpPr>
          <p:cNvPr id="13" name="Shape 10"/>
          <p:cNvSpPr/>
          <p:nvPr/>
        </p:nvSpPr>
        <p:spPr>
          <a:xfrm>
            <a:off x="3849609" y="1490472"/>
            <a:ext cx="1857619" cy="3913632"/>
          </a:xfrm>
          <a:prstGeom prst="roundRect">
            <a:avLst>
              <a:gd name="adj" fmla="val 1969"/>
            </a:avLst>
          </a:prstGeom>
          <a:solidFill>
            <a:srgbClr val="FFFFFF"/>
          </a:solidFill>
          <a:ln w="12700">
            <a:solidFill>
              <a:srgbClr val="D9E2EC"/>
            </a:solidFill>
            <a:prstDash val="solid"/>
          </a:ln>
        </p:spPr>
      </p:sp>
      <p:pic>
        <p:nvPicPr>
          <p:cNvPr id="14" name="Image 1" descr="docs/presentacion/recursos/rec-movil-02-mis-beneficiarios.png">    </p:cNvPr>
          <p:cNvPicPr>
            <a:picLocks noChangeAspect="1"/>
          </p:cNvPicPr>
          <p:nvPr/>
        </p:nvPicPr>
        <p:blipFill>
          <a:blip r:embed="rId2"/>
          <a:stretch>
            <a:fillRect/>
          </a:stretch>
        </p:blipFill>
        <p:spPr>
          <a:xfrm>
            <a:off x="3895329" y="1536192"/>
            <a:ext cx="1766179" cy="3822192"/>
          </a:xfrm>
          <a:prstGeom prst="rect">
            <a:avLst/>
          </a:prstGeom>
        </p:spPr>
      </p:pic>
      <p:sp>
        <p:nvSpPr>
          <p:cNvPr id="15" name="Shape 11"/>
          <p:cNvSpPr/>
          <p:nvPr/>
        </p:nvSpPr>
        <p:spPr>
          <a:xfrm>
            <a:off x="4622970" y="5559552"/>
            <a:ext cx="310896" cy="310896"/>
          </a:xfrm>
          <a:prstGeom prst="ellipse">
            <a:avLst/>
          </a:prstGeom>
          <a:solidFill>
            <a:srgbClr val="0167D5"/>
          </a:solidFill>
          <a:ln/>
        </p:spPr>
      </p:sp>
      <p:sp>
        <p:nvSpPr>
          <p:cNvPr id="16" name="Text 12"/>
          <p:cNvSpPr/>
          <p:nvPr/>
        </p:nvSpPr>
        <p:spPr>
          <a:xfrm>
            <a:off x="4622970"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3406818"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Sus hijos</a:t>
            </a:r>
            <a:endParaRPr lang="en-US" sz="1200" dirty="0"/>
          </a:p>
        </p:txBody>
      </p:sp>
      <p:sp>
        <p:nvSpPr>
          <p:cNvPr id="18" name="Shape 14"/>
          <p:cNvSpPr/>
          <p:nvPr/>
        </p:nvSpPr>
        <p:spPr>
          <a:xfrm>
            <a:off x="6484468" y="1490472"/>
            <a:ext cx="1857619" cy="3913632"/>
          </a:xfrm>
          <a:prstGeom prst="roundRect">
            <a:avLst>
              <a:gd name="adj" fmla="val 1969"/>
            </a:avLst>
          </a:prstGeom>
          <a:solidFill>
            <a:srgbClr val="FFFFFF"/>
          </a:solidFill>
          <a:ln w="12700">
            <a:solidFill>
              <a:srgbClr val="D9E2EC"/>
            </a:solidFill>
            <a:prstDash val="solid"/>
          </a:ln>
        </p:spPr>
      </p:sp>
      <p:pic>
        <p:nvPicPr>
          <p:cNvPr id="19" name="Image 2" descr="docs/presentacion/recursos/rec-movil-03-catalogo-valentina.png">    </p:cNvPr>
          <p:cNvPicPr>
            <a:picLocks noChangeAspect="1"/>
          </p:cNvPicPr>
          <p:nvPr/>
        </p:nvPicPr>
        <p:blipFill>
          <a:blip r:embed="rId3"/>
          <a:stretch>
            <a:fillRect/>
          </a:stretch>
        </p:blipFill>
        <p:spPr>
          <a:xfrm>
            <a:off x="6530188" y="1536192"/>
            <a:ext cx="1766179" cy="3822192"/>
          </a:xfrm>
          <a:prstGeom prst="rect">
            <a:avLst/>
          </a:prstGeom>
        </p:spPr>
      </p:pic>
      <p:sp>
        <p:nvSpPr>
          <p:cNvPr id="20" name="Shape 15"/>
          <p:cNvSpPr/>
          <p:nvPr/>
        </p:nvSpPr>
        <p:spPr>
          <a:xfrm>
            <a:off x="7257829" y="5559552"/>
            <a:ext cx="310896" cy="310896"/>
          </a:xfrm>
          <a:prstGeom prst="ellipse">
            <a:avLst/>
          </a:prstGeom>
          <a:solidFill>
            <a:srgbClr val="0167D5"/>
          </a:solidFill>
          <a:ln/>
        </p:spPr>
      </p:sp>
      <p:sp>
        <p:nvSpPr>
          <p:cNvPr id="21" name="Text 16"/>
          <p:cNvSpPr/>
          <p:nvPr/>
        </p:nvSpPr>
        <p:spPr>
          <a:xfrm>
            <a:off x="7257829"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6041677"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Elección</a:t>
            </a:r>
            <a:endParaRPr lang="en-US" sz="1200" dirty="0"/>
          </a:p>
        </p:txBody>
      </p:sp>
      <p:sp>
        <p:nvSpPr>
          <p:cNvPr id="23" name="Shape 18"/>
          <p:cNvSpPr/>
          <p:nvPr/>
        </p:nvSpPr>
        <p:spPr>
          <a:xfrm>
            <a:off x="9119326" y="1490472"/>
            <a:ext cx="1857619" cy="3913632"/>
          </a:xfrm>
          <a:prstGeom prst="roundRect">
            <a:avLst>
              <a:gd name="adj" fmla="val 1969"/>
            </a:avLst>
          </a:prstGeom>
          <a:solidFill>
            <a:srgbClr val="FFFFFF"/>
          </a:solidFill>
          <a:ln w="12700">
            <a:solidFill>
              <a:srgbClr val="D9E2EC"/>
            </a:solidFill>
            <a:prstDash val="solid"/>
          </a:ln>
        </p:spPr>
      </p:sp>
      <p:pic>
        <p:nvPicPr>
          <p:cNvPr id="24" name="Image 3" descr="docs/presentacion/recursos/rec-movil-04-comprobante.png">    </p:cNvPr>
          <p:cNvPicPr>
            <a:picLocks noChangeAspect="1"/>
          </p:cNvPicPr>
          <p:nvPr/>
        </p:nvPicPr>
        <p:blipFill>
          <a:blip r:embed="rId4"/>
          <a:stretch>
            <a:fillRect/>
          </a:stretch>
        </p:blipFill>
        <p:spPr>
          <a:xfrm>
            <a:off x="9165046" y="1536192"/>
            <a:ext cx="1766179" cy="3822192"/>
          </a:xfrm>
          <a:prstGeom prst="rect">
            <a:avLst/>
          </a:prstGeom>
        </p:spPr>
      </p:pic>
      <p:sp>
        <p:nvSpPr>
          <p:cNvPr id="25" name="Shape 19"/>
          <p:cNvSpPr/>
          <p:nvPr/>
        </p:nvSpPr>
        <p:spPr>
          <a:xfrm>
            <a:off x="9892688" y="5559552"/>
            <a:ext cx="310896" cy="310896"/>
          </a:xfrm>
          <a:prstGeom prst="ellipse">
            <a:avLst/>
          </a:prstGeom>
          <a:solidFill>
            <a:srgbClr val="0167D5"/>
          </a:solidFill>
          <a:ln/>
        </p:spPr>
      </p:sp>
      <p:sp>
        <p:nvSpPr>
          <p:cNvPr id="26" name="Text 20"/>
          <p:cNvSpPr/>
          <p:nvPr/>
        </p:nvSpPr>
        <p:spPr>
          <a:xfrm>
            <a:off x="9892688"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7" name="Text 21"/>
          <p:cNvSpPr/>
          <p:nvPr/>
        </p:nvSpPr>
        <p:spPr>
          <a:xfrm>
            <a:off x="8676536"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Comprobante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El día del evento</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Cada obsequio queda trazado: quién lo recibió, cuándo y cuál</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2532179" y="1490472"/>
            <a:ext cx="1857619" cy="3913632"/>
          </a:xfrm>
          <a:prstGeom prst="roundRect">
            <a:avLst>
              <a:gd name="adj" fmla="val 1969"/>
            </a:avLst>
          </a:prstGeom>
          <a:solidFill>
            <a:srgbClr val="FFFFFF"/>
          </a:solidFill>
          <a:ln w="12700">
            <a:solidFill>
              <a:srgbClr val="D9E2EC"/>
            </a:solidFill>
            <a:prstDash val="solid"/>
          </a:ln>
        </p:spPr>
      </p:sp>
      <p:pic>
        <p:nvPicPr>
          <p:cNvPr id="9" name="Image 0" descr="docs/presentacion/capturas/movil-05-entrega-buscar.png">    </p:cNvPr>
          <p:cNvPicPr>
            <a:picLocks noChangeAspect="1"/>
          </p:cNvPicPr>
          <p:nvPr/>
        </p:nvPicPr>
        <p:blipFill>
          <a:blip r:embed="rId1"/>
          <a:stretch>
            <a:fillRect/>
          </a:stretch>
        </p:blipFill>
        <p:spPr>
          <a:xfrm>
            <a:off x="2577899" y="1536192"/>
            <a:ext cx="1766179" cy="3822192"/>
          </a:xfrm>
          <a:prstGeom prst="rect">
            <a:avLst/>
          </a:prstGeom>
        </p:spPr>
      </p:pic>
      <p:sp>
        <p:nvSpPr>
          <p:cNvPr id="10" name="Shape 7"/>
          <p:cNvSpPr/>
          <p:nvPr/>
        </p:nvSpPr>
        <p:spPr>
          <a:xfrm>
            <a:off x="3305541" y="5559552"/>
            <a:ext cx="310896" cy="310896"/>
          </a:xfrm>
          <a:prstGeom prst="ellipse">
            <a:avLst/>
          </a:prstGeom>
          <a:solidFill>
            <a:srgbClr val="0167D5"/>
          </a:solidFill>
          <a:ln/>
        </p:spPr>
      </p:sp>
      <p:sp>
        <p:nvSpPr>
          <p:cNvPr id="11" name="Text 8"/>
          <p:cNvSpPr/>
          <p:nvPr/>
        </p:nvSpPr>
        <p:spPr>
          <a:xfrm>
            <a:off x="3305541"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2089389"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El operario escanea el QR</a:t>
            </a:r>
            <a:endParaRPr lang="en-US" sz="1200" dirty="0"/>
          </a:p>
        </p:txBody>
      </p:sp>
      <p:sp>
        <p:nvSpPr>
          <p:cNvPr id="13" name="Shape 10"/>
          <p:cNvSpPr/>
          <p:nvPr/>
        </p:nvSpPr>
        <p:spPr>
          <a:xfrm>
            <a:off x="5167038" y="1490472"/>
            <a:ext cx="1857619" cy="3913632"/>
          </a:xfrm>
          <a:prstGeom prst="roundRect">
            <a:avLst>
              <a:gd name="adj" fmla="val 1969"/>
            </a:avLst>
          </a:prstGeom>
          <a:solidFill>
            <a:srgbClr val="FFFFFF"/>
          </a:solidFill>
          <a:ln w="12700">
            <a:solidFill>
              <a:srgbClr val="D9E2EC"/>
            </a:solidFill>
            <a:prstDash val="solid"/>
          </a:ln>
        </p:spPr>
      </p:sp>
      <p:pic>
        <p:nvPicPr>
          <p:cNvPr id="14" name="Image 1" descr="docs/presentacion/recursos/rec-movil-06-entrega-ficha.png">    </p:cNvPr>
          <p:cNvPicPr>
            <a:picLocks noChangeAspect="1"/>
          </p:cNvPicPr>
          <p:nvPr/>
        </p:nvPicPr>
        <p:blipFill>
          <a:blip r:embed="rId2"/>
          <a:stretch>
            <a:fillRect/>
          </a:stretch>
        </p:blipFill>
        <p:spPr>
          <a:xfrm>
            <a:off x="5212758" y="1536192"/>
            <a:ext cx="1766179" cy="3822192"/>
          </a:xfrm>
          <a:prstGeom prst="rect">
            <a:avLst/>
          </a:prstGeom>
        </p:spPr>
      </p:pic>
      <p:sp>
        <p:nvSpPr>
          <p:cNvPr id="15" name="Shape 11"/>
          <p:cNvSpPr/>
          <p:nvPr/>
        </p:nvSpPr>
        <p:spPr>
          <a:xfrm>
            <a:off x="5940400" y="5559552"/>
            <a:ext cx="310896" cy="310896"/>
          </a:xfrm>
          <a:prstGeom prst="ellipse">
            <a:avLst/>
          </a:prstGeom>
          <a:solidFill>
            <a:srgbClr val="0167D5"/>
          </a:solidFill>
          <a:ln/>
        </p:spPr>
      </p:sp>
      <p:sp>
        <p:nvSpPr>
          <p:cNvPr id="16" name="Text 12"/>
          <p:cNvSpPr/>
          <p:nvPr/>
        </p:nvSpPr>
        <p:spPr>
          <a:xfrm>
            <a:off x="5940400"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4724248"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Verifica niño y juguete</a:t>
            </a:r>
            <a:endParaRPr lang="en-US" sz="1200" dirty="0"/>
          </a:p>
        </p:txBody>
      </p:sp>
      <p:sp>
        <p:nvSpPr>
          <p:cNvPr id="18" name="Shape 14"/>
          <p:cNvSpPr/>
          <p:nvPr/>
        </p:nvSpPr>
        <p:spPr>
          <a:xfrm>
            <a:off x="7801897" y="1490472"/>
            <a:ext cx="1857619" cy="3913632"/>
          </a:xfrm>
          <a:prstGeom prst="roundRect">
            <a:avLst>
              <a:gd name="adj" fmla="val 1969"/>
            </a:avLst>
          </a:prstGeom>
          <a:solidFill>
            <a:srgbClr val="FFFFFF"/>
          </a:solidFill>
          <a:ln w="12700">
            <a:solidFill>
              <a:srgbClr val="D9E2EC"/>
            </a:solidFill>
            <a:prstDash val="solid"/>
          </a:ln>
        </p:spPr>
      </p:sp>
      <p:pic>
        <p:nvPicPr>
          <p:cNvPr id="19" name="Image 2" descr="docs/presentacion/capturas/movil-07-entrega-entregado.png">    </p:cNvPr>
          <p:cNvPicPr>
            <a:picLocks noChangeAspect="1"/>
          </p:cNvPicPr>
          <p:nvPr/>
        </p:nvPicPr>
        <p:blipFill>
          <a:blip r:embed="rId3"/>
          <a:stretch>
            <a:fillRect/>
          </a:stretch>
        </p:blipFill>
        <p:spPr>
          <a:xfrm>
            <a:off x="7847617" y="1536192"/>
            <a:ext cx="1766179" cy="3822192"/>
          </a:xfrm>
          <a:prstGeom prst="rect">
            <a:avLst/>
          </a:prstGeom>
        </p:spPr>
      </p:pic>
      <p:sp>
        <p:nvSpPr>
          <p:cNvPr id="20" name="Shape 15"/>
          <p:cNvSpPr/>
          <p:nvPr/>
        </p:nvSpPr>
        <p:spPr>
          <a:xfrm>
            <a:off x="8575258" y="5559552"/>
            <a:ext cx="310896" cy="310896"/>
          </a:xfrm>
          <a:prstGeom prst="ellipse">
            <a:avLst/>
          </a:prstGeom>
          <a:solidFill>
            <a:srgbClr val="0167D5"/>
          </a:solidFill>
          <a:ln/>
        </p:spPr>
      </p:sp>
      <p:sp>
        <p:nvSpPr>
          <p:cNvPr id="21" name="Text 16"/>
          <p:cNvSpPr/>
          <p:nvPr/>
        </p:nvSpPr>
        <p:spPr>
          <a:xfrm>
            <a:off x="8575258"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7359106"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Marca la entrega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Lo que ve Talento Humano</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Portal de consulta permanente</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359152"/>
            <a:ext cx="137160" cy="137160"/>
          </a:xfrm>
          <a:prstGeom prst="ellipse">
            <a:avLst/>
          </a:prstGeom>
          <a:solidFill>
            <a:srgbClr val="10B7CD"/>
          </a:solidFill>
          <a:ln/>
        </p:spPr>
      </p:sp>
      <p:sp>
        <p:nvSpPr>
          <p:cNvPr id="9" name="Text 7"/>
          <p:cNvSpPr/>
          <p:nvPr/>
        </p:nvSpPr>
        <p:spPr>
          <a:xfrm>
            <a:off x="932688" y="2276856"/>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Avance de la campaña, actualizado solo</a:t>
            </a:r>
            <a:endParaRPr lang="en-US" sz="1500" dirty="0"/>
          </a:p>
        </p:txBody>
      </p:sp>
      <p:sp>
        <p:nvSpPr>
          <p:cNvPr id="10" name="Shape 8"/>
          <p:cNvSpPr/>
          <p:nvPr/>
        </p:nvSpPr>
        <p:spPr>
          <a:xfrm>
            <a:off x="640080" y="3218688"/>
            <a:ext cx="137160" cy="137160"/>
          </a:xfrm>
          <a:prstGeom prst="ellipse">
            <a:avLst/>
          </a:prstGeom>
          <a:solidFill>
            <a:srgbClr val="10B7CD"/>
          </a:solidFill>
          <a:ln/>
        </p:spPr>
      </p:sp>
      <p:sp>
        <p:nvSpPr>
          <p:cNvPr id="11" name="Text 9"/>
          <p:cNvSpPr/>
          <p:nvPr/>
        </p:nvSpPr>
        <p:spPr>
          <a:xfrm>
            <a:off x="932688" y="3136392"/>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Quiénes faltan por elegir, con nombre y área</a:t>
            </a:r>
            <a:endParaRPr lang="en-US" sz="1500" dirty="0"/>
          </a:p>
        </p:txBody>
      </p:sp>
      <p:sp>
        <p:nvSpPr>
          <p:cNvPr id="12" name="Shape 10"/>
          <p:cNvSpPr/>
          <p:nvPr/>
        </p:nvSpPr>
        <p:spPr>
          <a:xfrm>
            <a:off x="640080" y="4078224"/>
            <a:ext cx="137160" cy="137160"/>
          </a:xfrm>
          <a:prstGeom prst="ellipse">
            <a:avLst/>
          </a:prstGeom>
          <a:solidFill>
            <a:srgbClr val="10B7CD"/>
          </a:solidFill>
          <a:ln/>
        </p:spPr>
      </p:sp>
      <p:sp>
        <p:nvSpPr>
          <p:cNvPr id="13" name="Text 11"/>
          <p:cNvSpPr/>
          <p:nvPr/>
        </p:nvSpPr>
        <p:spPr>
          <a:xfrm>
            <a:off x="932688" y="3995928"/>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Alertas de referencias por agotarse</a:t>
            </a:r>
            <a:endParaRPr lang="en-US" sz="1500" dirty="0"/>
          </a:p>
        </p:txBody>
      </p:sp>
      <p:sp>
        <p:nvSpPr>
          <p:cNvPr id="14" name="Shape 12"/>
          <p:cNvSpPr/>
          <p:nvPr/>
        </p:nvSpPr>
        <p:spPr>
          <a:xfrm>
            <a:off x="640080" y="4937760"/>
            <a:ext cx="137160" cy="137160"/>
          </a:xfrm>
          <a:prstGeom prst="ellipse">
            <a:avLst/>
          </a:prstGeom>
          <a:solidFill>
            <a:srgbClr val="10B7CD"/>
          </a:solidFill>
          <a:ln/>
        </p:spPr>
      </p:sp>
      <p:sp>
        <p:nvSpPr>
          <p:cNvPr id="15" name="Text 13"/>
          <p:cNvSpPr/>
          <p:nvPr/>
        </p:nvSpPr>
        <p:spPr>
          <a:xfrm>
            <a:off x="932688" y="4855464"/>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Exportación a CSV para sus informes</a:t>
            </a:r>
            <a:endParaRPr lang="en-US" sz="1500" dirty="0"/>
          </a:p>
        </p:txBody>
      </p:sp>
      <p:sp>
        <p:nvSpPr>
          <p:cNvPr id="16" name="Shape 14"/>
          <p:cNvSpPr/>
          <p:nvPr/>
        </p:nvSpPr>
        <p:spPr>
          <a:xfrm>
            <a:off x="4657240" y="1529527"/>
            <a:ext cx="6949239" cy="4621905"/>
          </a:xfrm>
          <a:prstGeom prst="roundRect">
            <a:avLst>
              <a:gd name="adj" fmla="val 791"/>
            </a:avLst>
          </a:prstGeom>
          <a:solidFill>
            <a:srgbClr val="FFFFFF"/>
          </a:solidFill>
          <a:ln w="12700">
            <a:solidFill>
              <a:srgbClr val="D9E2EC"/>
            </a:solidFill>
            <a:prstDash val="solid"/>
          </a:ln>
        </p:spPr>
      </p:sp>
      <p:pic>
        <p:nvPicPr>
          <p:cNvPr id="17" name="Image 0" descr="docs/presentacion/recursos/rec-escritorio-11-acueducto-resumen-y-pendientes.png">    </p:cNvPr>
          <p:cNvPicPr>
            <a:picLocks noChangeAspect="1"/>
          </p:cNvPicPr>
          <p:nvPr/>
        </p:nvPicPr>
        <p:blipFill>
          <a:blip r:embed="rId1"/>
          <a:stretch>
            <a:fillRect/>
          </a:stretch>
        </p:blipFill>
        <p:spPr>
          <a:xfrm>
            <a:off x="4712104" y="1584391"/>
            <a:ext cx="6839511" cy="45121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754380"/>
            <a:ext cx="5854903" cy="475488"/>
          </a:xfrm>
          <a:prstGeom prst="rect">
            <a:avLst/>
          </a:prstGeom>
          <a:noFill/>
          <a:ln/>
        </p:spPr>
        <p:txBody>
          <a:bodyPr wrap="square" lIns="0" tIns="0" rIns="0" bIns="0" rtlCol="0" anchor="t"/>
          <a:lstStyle/>
          <a:p>
            <a:pPr indent="0" marL="0">
              <a:buNone/>
            </a:pPr>
            <a:r>
              <a:rPr lang="en-US" sz="3200" b="1" dirty="0">
                <a:solidFill>
                  <a:srgbClr val="FFFFFF"/>
                </a:solidFill>
                <a:latin typeface="Montserrat" pitchFamily="34" charset="0"/>
                <a:ea typeface="Montserrat" pitchFamily="34" charset="-122"/>
                <a:cs typeface="Montserrat" pitchFamily="34" charset="-120"/>
              </a:rPr>
              <a:t>Pruébenlo ustedes mismos</a:t>
            </a:r>
            <a:endParaRPr lang="en-US" sz="3200" dirty="0"/>
          </a:p>
        </p:txBody>
      </p:sp>
      <p:sp>
        <p:nvSpPr>
          <p:cNvPr id="3" name="Text 1"/>
          <p:cNvSpPr/>
          <p:nvPr/>
        </p:nvSpPr>
        <p:spPr>
          <a:xfrm>
            <a:off x="640080" y="1504188"/>
            <a:ext cx="5854903" cy="640080"/>
          </a:xfrm>
          <a:prstGeom prst="rect">
            <a:avLst/>
          </a:prstGeom>
          <a:noFill/>
          <a:ln/>
        </p:spPr>
        <p:txBody>
          <a:bodyPr wrap="square" lIns="0" tIns="0" rIns="0" bIns="0" rtlCol="0" anchor="t"/>
          <a:lstStyle/>
          <a:p>
            <a:pPr indent="0" marL="0">
              <a:lnSpc>
                <a:spcPts val="2200"/>
              </a:lnSpc>
              <a:buNone/>
            </a:pPr>
            <a:r>
              <a:rPr lang="en-US" sz="1500" dirty="0">
                <a:solidFill>
                  <a:srgbClr val="C8D8F0"/>
                </a:solidFill>
                <a:latin typeface="Inter" pitchFamily="34" charset="0"/>
                <a:ea typeface="Inter" pitchFamily="34" charset="-122"/>
                <a:cs typeface="Inter" pitchFamily="34" charset="-120"/>
              </a:rPr>
              <a:t>Saquen el celular y ábranlo ahora. Es el sistema real funcionando; elijan cualquiera de las tres cuentas de prueba.</a:t>
            </a:r>
            <a:endParaRPr lang="en-US" sz="1500" dirty="0"/>
          </a:p>
        </p:txBody>
      </p:sp>
      <p:sp>
        <p:nvSpPr>
          <p:cNvPr id="4" name="Shape 2"/>
          <p:cNvSpPr/>
          <p:nvPr/>
        </p:nvSpPr>
        <p:spPr>
          <a:xfrm>
            <a:off x="640080" y="2464308"/>
            <a:ext cx="5854903" cy="731520"/>
          </a:xfrm>
          <a:prstGeom prst="roundRect">
            <a:avLst>
              <a:gd name="adj" fmla="val 7500"/>
            </a:avLst>
          </a:prstGeom>
          <a:solidFill>
            <a:srgbClr val="12306B"/>
          </a:solidFill>
          <a:ln w="25400">
            <a:solidFill>
              <a:srgbClr val="10B7CD"/>
            </a:solidFill>
            <a:prstDash val="solid"/>
          </a:ln>
        </p:spPr>
      </p:sp>
      <p:sp>
        <p:nvSpPr>
          <p:cNvPr id="5" name="Text 3"/>
          <p:cNvSpPr/>
          <p:nvPr/>
        </p:nvSpPr>
        <p:spPr>
          <a:xfrm>
            <a:off x="841248" y="2464308"/>
            <a:ext cx="5452567" cy="731520"/>
          </a:xfrm>
          <a:prstGeom prst="rect">
            <a:avLst/>
          </a:prstGeom>
          <a:noFill/>
          <a:ln/>
        </p:spPr>
        <p:txBody>
          <a:bodyPr wrap="square" lIns="0" tIns="0" rIns="0" bIns="0" rtlCol="0" anchor="ctr"/>
          <a:lstStyle/>
          <a:p>
            <a:pPr indent="0" marL="0">
              <a:buNone/>
            </a:pPr>
            <a:r>
              <a:rPr lang="en-US" sz="1900" b="1" dirty="0">
                <a:solidFill>
                  <a:srgbClr val="10B7CD"/>
                </a:solidFill>
                <a:latin typeface="Montserrat" pitchFamily="34" charset="0"/>
                <a:ea typeface="Montserrat" pitchFamily="34" charset="-122"/>
                <a:cs typeface="Montserrat" pitchFamily="34" charset="-120"/>
              </a:rPr>
              <a:t>acueducto-kidotoy.vaisy.app</a:t>
            </a:r>
            <a:endParaRPr lang="en-US" sz="1900" dirty="0"/>
          </a:p>
        </p:txBody>
      </p:sp>
      <p:sp>
        <p:nvSpPr>
          <p:cNvPr id="6" name="Text 4"/>
          <p:cNvSpPr/>
          <p:nvPr/>
        </p:nvSpPr>
        <p:spPr>
          <a:xfrm>
            <a:off x="640080" y="3515868"/>
            <a:ext cx="2654503"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CUENTA DE PRUEBA</a:t>
            </a:r>
            <a:endParaRPr lang="en-US" sz="1050" dirty="0"/>
          </a:p>
        </p:txBody>
      </p:sp>
      <p:sp>
        <p:nvSpPr>
          <p:cNvPr id="7" name="Text 5"/>
          <p:cNvSpPr/>
          <p:nvPr/>
        </p:nvSpPr>
        <p:spPr>
          <a:xfrm>
            <a:off x="3294583" y="3515868"/>
            <a:ext cx="1463040"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CÉDULA</a:t>
            </a:r>
            <a:endParaRPr lang="en-US" sz="1050" dirty="0"/>
          </a:p>
        </p:txBody>
      </p:sp>
      <p:sp>
        <p:nvSpPr>
          <p:cNvPr id="8" name="Text 6"/>
          <p:cNvSpPr/>
          <p:nvPr/>
        </p:nvSpPr>
        <p:spPr>
          <a:xfrm>
            <a:off x="4757623" y="3515868"/>
            <a:ext cx="1737360"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CÓDIGO SAP</a:t>
            </a:r>
            <a:endParaRPr lang="en-US" sz="1050" dirty="0"/>
          </a:p>
        </p:txBody>
      </p:sp>
      <p:sp>
        <p:nvSpPr>
          <p:cNvPr id="9" name="Text 7"/>
          <p:cNvSpPr/>
          <p:nvPr/>
        </p:nvSpPr>
        <p:spPr>
          <a:xfrm>
            <a:off x="640080" y="3918204"/>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Diana · tres hijos, dos por elegir</a:t>
            </a:r>
            <a:endParaRPr lang="en-US" sz="1250" dirty="0"/>
          </a:p>
        </p:txBody>
      </p:sp>
      <p:sp>
        <p:nvSpPr>
          <p:cNvPr id="10" name="Text 8"/>
          <p:cNvSpPr/>
          <p:nvPr/>
        </p:nvSpPr>
        <p:spPr>
          <a:xfrm>
            <a:off x="3294583" y="3890772"/>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52318904</a:t>
            </a:r>
            <a:endParaRPr lang="en-US" sz="1500" dirty="0"/>
          </a:p>
        </p:txBody>
      </p:sp>
      <p:sp>
        <p:nvSpPr>
          <p:cNvPr id="11" name="Text 9"/>
          <p:cNvSpPr/>
          <p:nvPr/>
        </p:nvSpPr>
        <p:spPr>
          <a:xfrm>
            <a:off x="4757623" y="3890772"/>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SAP-007340</a:t>
            </a:r>
            <a:endParaRPr lang="en-US" sz="1500" dirty="0"/>
          </a:p>
        </p:txBody>
      </p:sp>
      <p:sp>
        <p:nvSpPr>
          <p:cNvPr id="12" name="Shape 10"/>
          <p:cNvSpPr/>
          <p:nvPr/>
        </p:nvSpPr>
        <p:spPr>
          <a:xfrm>
            <a:off x="640080" y="4357116"/>
            <a:ext cx="5854903" cy="10973"/>
          </a:xfrm>
          <a:prstGeom prst="rect">
            <a:avLst/>
          </a:prstGeom>
          <a:solidFill>
            <a:srgbClr val="1B4A8E"/>
          </a:solidFill>
          <a:ln/>
        </p:spPr>
      </p:sp>
      <p:sp>
        <p:nvSpPr>
          <p:cNvPr id="13" name="Text 11"/>
          <p:cNvSpPr/>
          <p:nvPr/>
        </p:nvSpPr>
        <p:spPr>
          <a:xfrm>
            <a:off x="640080" y="4430268"/>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Valeria · empieza de cero</a:t>
            </a:r>
            <a:endParaRPr lang="en-US" sz="1250" dirty="0"/>
          </a:p>
        </p:txBody>
      </p:sp>
      <p:sp>
        <p:nvSpPr>
          <p:cNvPr id="14" name="Text 12"/>
          <p:cNvSpPr/>
          <p:nvPr/>
        </p:nvSpPr>
        <p:spPr>
          <a:xfrm>
            <a:off x="3294583" y="4402836"/>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52350129</a:t>
            </a:r>
            <a:endParaRPr lang="en-US" sz="1500" dirty="0"/>
          </a:p>
        </p:txBody>
      </p:sp>
      <p:sp>
        <p:nvSpPr>
          <p:cNvPr id="15" name="Text 13"/>
          <p:cNvSpPr/>
          <p:nvPr/>
        </p:nvSpPr>
        <p:spPr>
          <a:xfrm>
            <a:off x="4757623" y="4402836"/>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SAP-095044</a:t>
            </a:r>
            <a:endParaRPr lang="en-US" sz="1500" dirty="0"/>
          </a:p>
        </p:txBody>
      </p:sp>
      <p:sp>
        <p:nvSpPr>
          <p:cNvPr id="16" name="Shape 14"/>
          <p:cNvSpPr/>
          <p:nvPr/>
        </p:nvSpPr>
        <p:spPr>
          <a:xfrm>
            <a:off x="640080" y="4869180"/>
            <a:ext cx="5854903" cy="10973"/>
          </a:xfrm>
          <a:prstGeom prst="rect">
            <a:avLst/>
          </a:prstGeom>
          <a:solidFill>
            <a:srgbClr val="1B4A8E"/>
          </a:solidFill>
          <a:ln/>
        </p:spPr>
      </p:sp>
      <p:sp>
        <p:nvSpPr>
          <p:cNvPr id="17" name="Text 15"/>
          <p:cNvSpPr/>
          <p:nvPr/>
        </p:nvSpPr>
        <p:spPr>
          <a:xfrm>
            <a:off x="640080" y="4942332"/>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Antonia · ya terminó, ve comprobantes</a:t>
            </a:r>
            <a:endParaRPr lang="en-US" sz="1250" dirty="0"/>
          </a:p>
        </p:txBody>
      </p:sp>
      <p:sp>
        <p:nvSpPr>
          <p:cNvPr id="18" name="Text 16"/>
          <p:cNvSpPr/>
          <p:nvPr/>
        </p:nvSpPr>
        <p:spPr>
          <a:xfrm>
            <a:off x="3294583" y="4914900"/>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80298382</a:t>
            </a:r>
            <a:endParaRPr lang="en-US" sz="1500" dirty="0"/>
          </a:p>
        </p:txBody>
      </p:sp>
      <p:sp>
        <p:nvSpPr>
          <p:cNvPr id="19" name="Text 17"/>
          <p:cNvSpPr/>
          <p:nvPr/>
        </p:nvSpPr>
        <p:spPr>
          <a:xfrm>
            <a:off x="4757623" y="4914900"/>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SAP-054153</a:t>
            </a:r>
            <a:endParaRPr lang="en-US" sz="1500" dirty="0"/>
          </a:p>
        </p:txBody>
      </p:sp>
      <p:sp>
        <p:nvSpPr>
          <p:cNvPr id="20" name="Shape 18"/>
          <p:cNvSpPr/>
          <p:nvPr/>
        </p:nvSpPr>
        <p:spPr>
          <a:xfrm>
            <a:off x="6906463" y="612648"/>
            <a:ext cx="4645152" cy="4645152"/>
          </a:xfrm>
          <a:prstGeom prst="roundRect">
            <a:avLst>
              <a:gd name="adj" fmla="val 984"/>
            </a:avLst>
          </a:prstGeom>
          <a:solidFill>
            <a:srgbClr val="FFFFFF"/>
          </a:solidFill>
          <a:ln/>
        </p:spPr>
      </p:sp>
      <p:pic>
        <p:nvPicPr>
          <p:cNvPr id="21" name="Image 0" descr="docs/presentacion/recursos/qr-sitio-negro.png">    </p:cNvPr>
          <p:cNvPicPr>
            <a:picLocks noChangeAspect="1"/>
          </p:cNvPicPr>
          <p:nvPr/>
        </p:nvPicPr>
        <p:blipFill>
          <a:blip r:embed="rId1"/>
          <a:stretch>
            <a:fillRect/>
          </a:stretch>
        </p:blipFill>
        <p:spPr>
          <a:xfrm>
            <a:off x="7217359" y="923544"/>
            <a:ext cx="4023360" cy="4023360"/>
          </a:xfrm>
          <a:prstGeom prst="rect">
            <a:avLst/>
          </a:prstGeom>
        </p:spPr>
      </p:pic>
      <p:sp>
        <p:nvSpPr>
          <p:cNvPr id="22" name="Text 19"/>
          <p:cNvSpPr/>
          <p:nvPr/>
        </p:nvSpPr>
        <p:spPr>
          <a:xfrm>
            <a:off x="6906463" y="5349240"/>
            <a:ext cx="4645152" cy="292608"/>
          </a:xfrm>
          <a:prstGeom prst="rect">
            <a:avLst/>
          </a:prstGeom>
          <a:noFill/>
          <a:ln/>
        </p:spPr>
        <p:txBody>
          <a:bodyPr wrap="square" rtlCol="0" anchor="t"/>
          <a:lstStyle/>
          <a:p>
            <a:pPr algn="ctr" indent="0" marL="0">
              <a:buNone/>
            </a:pPr>
            <a:r>
              <a:rPr lang="en-US" sz="1200" dirty="0">
                <a:solidFill>
                  <a:srgbClr val="AFC4E0"/>
                </a:solidFill>
                <a:latin typeface="Inter" pitchFamily="34" charset="0"/>
                <a:ea typeface="Inter" pitchFamily="34" charset="-122"/>
                <a:cs typeface="Inter" pitchFamily="34" charset="-120"/>
              </a:rPr>
              <a:t>Apunta la cámara del celular</a:t>
            </a:r>
            <a:endParaRPr lang="en-US" sz="1200" dirty="0"/>
          </a:p>
        </p:txBody>
      </p:sp>
      <p:sp>
        <p:nvSpPr>
          <p:cNvPr id="23" name="Shape 20"/>
          <p:cNvSpPr/>
          <p:nvPr/>
        </p:nvSpPr>
        <p:spPr>
          <a:xfrm>
            <a:off x="0" y="6711696"/>
            <a:ext cx="3066212" cy="146304"/>
          </a:xfrm>
          <a:prstGeom prst="rect">
            <a:avLst/>
          </a:prstGeom>
          <a:solidFill>
            <a:srgbClr val="10B7CD"/>
          </a:solidFill>
          <a:ln/>
        </p:spPr>
      </p:sp>
      <p:sp>
        <p:nvSpPr>
          <p:cNvPr id="24" name="Shape 21"/>
          <p:cNvSpPr/>
          <p:nvPr/>
        </p:nvSpPr>
        <p:spPr>
          <a:xfrm>
            <a:off x="3047924" y="6711696"/>
            <a:ext cx="3066212" cy="146304"/>
          </a:xfrm>
          <a:prstGeom prst="rect">
            <a:avLst/>
          </a:prstGeom>
          <a:solidFill>
            <a:srgbClr val="E84141"/>
          </a:solidFill>
          <a:ln/>
        </p:spPr>
      </p:sp>
      <p:sp>
        <p:nvSpPr>
          <p:cNvPr id="25" name="Shape 22"/>
          <p:cNvSpPr/>
          <p:nvPr/>
        </p:nvSpPr>
        <p:spPr>
          <a:xfrm>
            <a:off x="6095848" y="6711696"/>
            <a:ext cx="3066212" cy="146304"/>
          </a:xfrm>
          <a:prstGeom prst="rect">
            <a:avLst/>
          </a:prstGeom>
          <a:solidFill>
            <a:srgbClr val="F8AB11"/>
          </a:solidFill>
          <a:ln/>
        </p:spPr>
      </p:sp>
      <p:sp>
        <p:nvSpPr>
          <p:cNvPr id="26" name="Shape 23"/>
          <p:cNvSpPr/>
          <p:nvPr/>
        </p:nvSpPr>
        <p:spPr>
          <a:xfrm>
            <a:off x="9143771" y="6711696"/>
            <a:ext cx="3047924" cy="146304"/>
          </a:xfrm>
          <a:prstGeom prst="rect">
            <a:avLst/>
          </a:prstGeom>
          <a:solidFill>
            <a:srgbClr val="8974B3"/>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777240"/>
            <a:ext cx="7436815" cy="1005840"/>
          </a:xfrm>
          <a:prstGeom prst="rect">
            <a:avLst/>
          </a:prstGeom>
          <a:noFill/>
          <a:ln/>
        </p:spPr>
        <p:txBody>
          <a:bodyPr wrap="square" lIns="0" tIns="0" rIns="0" bIns="0" rtlCol="0" anchor="t"/>
          <a:lstStyle/>
          <a:p>
            <a:pPr indent="0" marL="0">
              <a:lnSpc>
                <a:spcPts val="3800"/>
              </a:lnSpc>
              <a:buNone/>
            </a:pPr>
            <a:r>
              <a:rPr lang="en-US" sz="3000" b="1" dirty="0">
                <a:solidFill>
                  <a:srgbClr val="0B3A78"/>
                </a:solidFill>
                <a:latin typeface="Montserrat" pitchFamily="34" charset="0"/>
                <a:ea typeface="Montserrat" pitchFamily="34" charset="-122"/>
                <a:cs typeface="Montserrat" pitchFamily="34" charset="-120"/>
              </a:rPr>
              <a:t>«¿Y si entran quinientas personas al mismo tiempo?»</a:t>
            </a:r>
            <a:endParaRPr lang="en-US" sz="3000" dirty="0"/>
          </a:p>
        </p:txBody>
      </p:sp>
      <p:sp>
        <p:nvSpPr>
          <p:cNvPr id="3" name="Text 1"/>
          <p:cNvSpPr/>
          <p:nvPr/>
        </p:nvSpPr>
        <p:spPr>
          <a:xfrm>
            <a:off x="640080" y="2240280"/>
            <a:ext cx="7436815" cy="3438144"/>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El control de inventario no vive en la pantalla: vive en el motor de base de datos, dentro de una transacción. Dos personas no pueden llevarse la misma última unidad, sin importar cuántas entren a la vez.</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El primero se la lleva; al segundo se le actualiza la pantalla sola y elige otro. Probado sobre el sistema en producción, con red real.</a:t>
            </a:r>
            <a:endParaRPr lang="en-US" sz="1700" dirty="0"/>
          </a:p>
        </p:txBody>
      </p:sp>
      <p:sp>
        <p:nvSpPr>
          <p:cNvPr id="4" name="Shape 2"/>
          <p:cNvSpPr/>
          <p:nvPr/>
        </p:nvSpPr>
        <p:spPr>
          <a:xfrm>
            <a:off x="8534095" y="1143000"/>
            <a:ext cx="3017520" cy="2377440"/>
          </a:xfrm>
          <a:prstGeom prst="roundRect">
            <a:avLst>
              <a:gd name="adj" fmla="val 2308"/>
            </a:avLst>
          </a:prstGeom>
          <a:solidFill>
            <a:srgbClr val="0B3A78"/>
          </a:solidFill>
          <a:ln/>
        </p:spPr>
      </p:sp>
      <p:sp>
        <p:nvSpPr>
          <p:cNvPr id="5" name="Text 3"/>
          <p:cNvSpPr/>
          <p:nvPr/>
        </p:nvSpPr>
        <p:spPr>
          <a:xfrm>
            <a:off x="8534095" y="1417320"/>
            <a:ext cx="3017520" cy="1097280"/>
          </a:xfrm>
          <a:prstGeom prst="rect">
            <a:avLst/>
          </a:prstGeom>
          <a:noFill/>
          <a:ln/>
        </p:spPr>
        <p:txBody>
          <a:bodyPr wrap="square" rtlCol="0" anchor="ctr"/>
          <a:lstStyle/>
          <a:p>
            <a:pPr algn="ctr" indent="0" marL="0">
              <a:buNone/>
            </a:pPr>
            <a:r>
              <a:rPr lang="en-US" sz="4600" b="1" dirty="0">
                <a:solidFill>
                  <a:srgbClr val="10B7CD"/>
                </a:solidFill>
                <a:latin typeface="Montserrat" pitchFamily="34" charset="0"/>
                <a:ea typeface="Montserrat" pitchFamily="34" charset="-122"/>
                <a:cs typeface="Montserrat" pitchFamily="34" charset="-120"/>
              </a:rPr>
              <a:t>0,5 s</a:t>
            </a:r>
            <a:endParaRPr lang="en-US" sz="4600" dirty="0"/>
          </a:p>
        </p:txBody>
      </p:sp>
      <p:sp>
        <p:nvSpPr>
          <p:cNvPr id="6" name="Text 4"/>
          <p:cNvSpPr/>
          <p:nvPr/>
        </p:nvSpPr>
        <p:spPr>
          <a:xfrm>
            <a:off x="8716975" y="2514600"/>
            <a:ext cx="2651760" cy="822960"/>
          </a:xfrm>
          <a:prstGeom prst="rect">
            <a:avLst/>
          </a:prstGeom>
          <a:noFill/>
          <a:ln/>
        </p:spPr>
        <p:txBody>
          <a:bodyPr wrap="square" rtlCol="0" anchor="t"/>
          <a:lstStyle/>
          <a:p>
            <a:pPr algn="ctr" indent="0" marL="0">
              <a:lnSpc>
                <a:spcPts val="1800"/>
              </a:lnSpc>
              <a:buNone/>
            </a:pPr>
            <a:r>
              <a:rPr lang="en-US" sz="1300" dirty="0">
                <a:solidFill>
                  <a:srgbClr val="C8D8F0"/>
                </a:solidFill>
                <a:latin typeface="Inter" pitchFamily="34" charset="0"/>
                <a:ea typeface="Inter" pitchFamily="34" charset="-122"/>
                <a:cs typeface="Inter" pitchFamily="34" charset="-120"/>
              </a:rPr>
              <a:t>en corregirse la pantalla del segundo, sin recargar</a:t>
            </a:r>
            <a:endParaRPr lang="en-US" sz="1300" dirty="0"/>
          </a:p>
        </p:txBody>
      </p:sp>
      <p:sp>
        <p:nvSpPr>
          <p:cNvPr id="7" name="Shape 5"/>
          <p:cNvSpPr/>
          <p:nvPr/>
        </p:nvSpPr>
        <p:spPr>
          <a:xfrm>
            <a:off x="0" y="6711696"/>
            <a:ext cx="3066212" cy="146304"/>
          </a:xfrm>
          <a:prstGeom prst="rect">
            <a:avLst/>
          </a:prstGeom>
          <a:solidFill>
            <a:srgbClr val="10B7CD"/>
          </a:solidFill>
          <a:ln/>
        </p:spPr>
      </p:sp>
      <p:sp>
        <p:nvSpPr>
          <p:cNvPr id="8" name="Shape 6"/>
          <p:cNvSpPr/>
          <p:nvPr/>
        </p:nvSpPr>
        <p:spPr>
          <a:xfrm>
            <a:off x="3047924" y="6711696"/>
            <a:ext cx="3066212" cy="146304"/>
          </a:xfrm>
          <a:prstGeom prst="rect">
            <a:avLst/>
          </a:prstGeom>
          <a:solidFill>
            <a:srgbClr val="E84141"/>
          </a:solidFill>
          <a:ln/>
        </p:spPr>
      </p:sp>
      <p:sp>
        <p:nvSpPr>
          <p:cNvPr id="9" name="Shape 7"/>
          <p:cNvSpPr/>
          <p:nvPr/>
        </p:nvSpPr>
        <p:spPr>
          <a:xfrm>
            <a:off x="6095848" y="6711696"/>
            <a:ext cx="3066212" cy="146304"/>
          </a:xfrm>
          <a:prstGeom prst="rect">
            <a:avLst/>
          </a:prstGeom>
          <a:solidFill>
            <a:srgbClr val="F8AB11"/>
          </a:solidFill>
          <a:ln/>
        </p:spPr>
      </p:sp>
      <p:sp>
        <p:nvSpPr>
          <p:cNvPr id="10" name="Shape 8"/>
          <p:cNvSpPr/>
          <p:nvPr/>
        </p:nvSpPr>
        <p:spPr>
          <a:xfrm>
            <a:off x="9143771" y="6711696"/>
            <a:ext cx="3047924" cy="146304"/>
          </a:xfrm>
          <a:prstGeom prst="rect">
            <a:avLst/>
          </a:prstGeom>
          <a:solidFill>
            <a:srgbClr val="8974B3"/>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777240"/>
            <a:ext cx="7436815" cy="1005840"/>
          </a:xfrm>
          <a:prstGeom prst="rect">
            <a:avLst/>
          </a:prstGeom>
          <a:noFill/>
          <a:ln/>
        </p:spPr>
        <p:txBody>
          <a:bodyPr wrap="square" lIns="0" tIns="0" rIns="0" bIns="0" rtlCol="0" anchor="t"/>
          <a:lstStyle/>
          <a:p>
            <a:pPr indent="0" marL="0">
              <a:lnSpc>
                <a:spcPts val="3800"/>
              </a:lnSpc>
              <a:buNone/>
            </a:pPr>
            <a:r>
              <a:rPr lang="en-US" sz="3000" b="1" dirty="0">
                <a:solidFill>
                  <a:srgbClr val="0B3A78"/>
                </a:solidFill>
                <a:latin typeface="Montserrat" pitchFamily="34" charset="0"/>
                <a:ea typeface="Montserrat" pitchFamily="34" charset="-122"/>
                <a:cs typeface="Montserrat" pitchFamily="34" charset="-120"/>
              </a:rPr>
              <a:t>«¿Cómo se protegen los datos de mil menores?»</a:t>
            </a:r>
            <a:endParaRPr lang="en-US" sz="3000" dirty="0"/>
          </a:p>
        </p:txBody>
      </p:sp>
      <p:sp>
        <p:nvSpPr>
          <p:cNvPr id="3" name="Text 1"/>
          <p:cNvSpPr/>
          <p:nvPr/>
        </p:nvSpPr>
        <p:spPr>
          <a:xfrm>
            <a:off x="640080" y="2240280"/>
            <a:ext cx="7436815" cy="4206240"/>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El aislamiento se aplica en el motor de base de datos, no en el código de la aplicación: aunque una consulta estuviera mal escrita, no puede devolver datos de otra empresa.</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Se almacena únicamente lo indispensable para asignar el obsequio: nombre, edad y género. Ni documento del menor, ni fotos, ni datos de salud.</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Toda operación queda en un registro de auditoría: quién, qué y cuándo.</a:t>
            </a:r>
            <a:endParaRPr lang="en-US" sz="1700" dirty="0"/>
          </a:p>
        </p:txBody>
      </p:sp>
      <p:sp>
        <p:nvSpPr>
          <p:cNvPr id="4" name="Shape 2"/>
          <p:cNvSpPr/>
          <p:nvPr/>
        </p:nvSpPr>
        <p:spPr>
          <a:xfrm>
            <a:off x="8534095" y="1143000"/>
            <a:ext cx="3017520" cy="2377440"/>
          </a:xfrm>
          <a:prstGeom prst="roundRect">
            <a:avLst>
              <a:gd name="adj" fmla="val 2308"/>
            </a:avLst>
          </a:prstGeom>
          <a:solidFill>
            <a:srgbClr val="0B3A78"/>
          </a:solidFill>
          <a:ln/>
        </p:spPr>
      </p:sp>
      <p:sp>
        <p:nvSpPr>
          <p:cNvPr id="5" name="Text 3"/>
          <p:cNvSpPr/>
          <p:nvPr/>
        </p:nvSpPr>
        <p:spPr>
          <a:xfrm>
            <a:off x="8534095" y="1417320"/>
            <a:ext cx="3017520" cy="1097280"/>
          </a:xfrm>
          <a:prstGeom prst="rect">
            <a:avLst/>
          </a:prstGeom>
          <a:noFill/>
          <a:ln/>
        </p:spPr>
        <p:txBody>
          <a:bodyPr wrap="square" rtlCol="0" anchor="ctr"/>
          <a:lstStyle/>
          <a:p>
            <a:pPr algn="ctr" indent="0" marL="0">
              <a:buNone/>
            </a:pPr>
            <a:r>
              <a:rPr lang="en-US" sz="4600" b="1" dirty="0">
                <a:solidFill>
                  <a:srgbClr val="10B7CD"/>
                </a:solidFill>
                <a:latin typeface="Montserrat" pitchFamily="34" charset="0"/>
                <a:ea typeface="Montserrat" pitchFamily="34" charset="-122"/>
                <a:cs typeface="Montserrat" pitchFamily="34" charset="-120"/>
              </a:rPr>
              <a:t>1581</a:t>
            </a:r>
            <a:endParaRPr lang="en-US" sz="4600" dirty="0"/>
          </a:p>
        </p:txBody>
      </p:sp>
      <p:sp>
        <p:nvSpPr>
          <p:cNvPr id="6" name="Text 4"/>
          <p:cNvSpPr/>
          <p:nvPr/>
        </p:nvSpPr>
        <p:spPr>
          <a:xfrm>
            <a:off x="8716975" y="2514600"/>
            <a:ext cx="2651760" cy="822960"/>
          </a:xfrm>
          <a:prstGeom prst="rect">
            <a:avLst/>
          </a:prstGeom>
          <a:noFill/>
          <a:ln/>
        </p:spPr>
        <p:txBody>
          <a:bodyPr wrap="square" rtlCol="0" anchor="t"/>
          <a:lstStyle/>
          <a:p>
            <a:pPr algn="ctr" indent="0" marL="0">
              <a:lnSpc>
                <a:spcPts val="1800"/>
              </a:lnSpc>
              <a:buNone/>
            </a:pPr>
            <a:r>
              <a:rPr lang="en-US" sz="1300" dirty="0">
                <a:solidFill>
                  <a:srgbClr val="C8D8F0"/>
                </a:solidFill>
                <a:latin typeface="Inter" pitchFamily="34" charset="0"/>
                <a:ea typeface="Inter" pitchFamily="34" charset="-122"/>
                <a:cs typeface="Inter" pitchFamily="34" charset="-120"/>
              </a:rPr>
              <a:t>Ley 1581 de 2012 · tratamiento de datos personales</a:t>
            </a:r>
            <a:endParaRPr lang="en-US" sz="1300" dirty="0"/>
          </a:p>
        </p:txBody>
      </p:sp>
      <p:sp>
        <p:nvSpPr>
          <p:cNvPr id="7" name="Shape 5"/>
          <p:cNvSpPr/>
          <p:nvPr/>
        </p:nvSpPr>
        <p:spPr>
          <a:xfrm>
            <a:off x="0" y="6711696"/>
            <a:ext cx="3066212" cy="146304"/>
          </a:xfrm>
          <a:prstGeom prst="rect">
            <a:avLst/>
          </a:prstGeom>
          <a:solidFill>
            <a:srgbClr val="10B7CD"/>
          </a:solidFill>
          <a:ln/>
        </p:spPr>
      </p:sp>
      <p:sp>
        <p:nvSpPr>
          <p:cNvPr id="8" name="Shape 6"/>
          <p:cNvSpPr/>
          <p:nvPr/>
        </p:nvSpPr>
        <p:spPr>
          <a:xfrm>
            <a:off x="3047924" y="6711696"/>
            <a:ext cx="3066212" cy="146304"/>
          </a:xfrm>
          <a:prstGeom prst="rect">
            <a:avLst/>
          </a:prstGeom>
          <a:solidFill>
            <a:srgbClr val="E84141"/>
          </a:solidFill>
          <a:ln/>
        </p:spPr>
      </p:sp>
      <p:sp>
        <p:nvSpPr>
          <p:cNvPr id="9" name="Shape 7"/>
          <p:cNvSpPr/>
          <p:nvPr/>
        </p:nvSpPr>
        <p:spPr>
          <a:xfrm>
            <a:off x="6095848" y="6711696"/>
            <a:ext cx="3066212" cy="146304"/>
          </a:xfrm>
          <a:prstGeom prst="rect">
            <a:avLst/>
          </a:prstGeom>
          <a:solidFill>
            <a:srgbClr val="F8AB11"/>
          </a:solidFill>
          <a:ln/>
        </p:spPr>
      </p:sp>
      <p:sp>
        <p:nvSpPr>
          <p:cNvPr id="10" name="Shape 8"/>
          <p:cNvSpPr/>
          <p:nvPr/>
        </p:nvSpPr>
        <p:spPr>
          <a:xfrm>
            <a:off x="9143771" y="6711696"/>
            <a:ext cx="3047924" cy="146304"/>
          </a:xfrm>
          <a:prstGeom prst="rect">
            <a:avLst/>
          </a:prstGeom>
          <a:solidFill>
            <a:srgbClr val="8974B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873252"/>
            <a:ext cx="10911535" cy="502920"/>
          </a:xfrm>
          <a:prstGeom prst="rect">
            <a:avLst/>
          </a:prstGeom>
          <a:noFill/>
          <a:ln/>
        </p:spPr>
        <p:txBody>
          <a:bodyPr wrap="square" lIns="0" tIns="0" rIns="0" bIns="0" rtlCol="0" anchor="t"/>
          <a:lstStyle/>
          <a:p>
            <a:pPr indent="0" marL="0">
              <a:lnSpc>
                <a:spcPts val="3800"/>
              </a:lnSpc>
              <a:buNone/>
            </a:pPr>
            <a:r>
              <a:rPr lang="en-US" sz="3000" b="1" dirty="0">
                <a:solidFill>
                  <a:srgbClr val="0B3A78"/>
                </a:solidFill>
                <a:latin typeface="Montserrat" pitchFamily="34" charset="0"/>
                <a:ea typeface="Montserrat" pitchFamily="34" charset="-122"/>
                <a:cs typeface="Montserrat" pitchFamily="34" charset="-120"/>
              </a:rPr>
              <a:t>«¿Y si algo falla el día del evento?»</a:t>
            </a:r>
            <a:endParaRPr lang="en-US" sz="3000" dirty="0"/>
          </a:p>
        </p:txBody>
      </p:sp>
      <p:sp>
        <p:nvSpPr>
          <p:cNvPr id="3" name="Text 1"/>
          <p:cNvSpPr/>
          <p:nvPr/>
        </p:nvSpPr>
        <p:spPr>
          <a:xfrm>
            <a:off x="640080" y="1833372"/>
            <a:ext cx="10911535" cy="3438144"/>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Listados de respaldo impresos por carpa, con código, niño y juguete, para seguir entregando en papel y registrar después.</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Ensayo previo en sitio, con los dispositivos y la red reales del parque.</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Acompañamiento técnico durante toda la jornada.</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El modo sin conexión del módulo de entrega es alcance de producción: hoy no está construido.</a:t>
            </a:r>
            <a:endParaRPr lang="en-US" sz="17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Trazabilidad completa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Cada selección y cada entrega quedan registradas</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359152"/>
            <a:ext cx="137160" cy="137160"/>
          </a:xfrm>
          <a:prstGeom prst="ellipse">
            <a:avLst/>
          </a:prstGeom>
          <a:solidFill>
            <a:srgbClr val="10B7CD"/>
          </a:solidFill>
          <a:ln/>
        </p:spPr>
      </p:sp>
      <p:sp>
        <p:nvSpPr>
          <p:cNvPr id="9" name="Text 7"/>
          <p:cNvSpPr/>
          <p:nvPr/>
        </p:nvSpPr>
        <p:spPr>
          <a:xfrm>
            <a:off x="932688" y="2276856"/>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Qué eligió cada colaborador y cuándo</a:t>
            </a:r>
            <a:endParaRPr lang="en-US" sz="1500" dirty="0"/>
          </a:p>
        </p:txBody>
      </p:sp>
      <p:sp>
        <p:nvSpPr>
          <p:cNvPr id="10" name="Shape 8"/>
          <p:cNvSpPr/>
          <p:nvPr/>
        </p:nvSpPr>
        <p:spPr>
          <a:xfrm>
            <a:off x="640080" y="3218688"/>
            <a:ext cx="137160" cy="137160"/>
          </a:xfrm>
          <a:prstGeom prst="ellipse">
            <a:avLst/>
          </a:prstGeom>
          <a:solidFill>
            <a:srgbClr val="10B7CD"/>
          </a:solidFill>
          <a:ln/>
        </p:spPr>
      </p:sp>
      <p:sp>
        <p:nvSpPr>
          <p:cNvPr id="11" name="Text 9"/>
          <p:cNvSpPr/>
          <p:nvPr/>
        </p:nvSpPr>
        <p:spPr>
          <a:xfrm>
            <a:off x="932688" y="3136392"/>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Qué se entregó, a quién y en qué carpa</a:t>
            </a:r>
            <a:endParaRPr lang="en-US" sz="1500" dirty="0"/>
          </a:p>
        </p:txBody>
      </p:sp>
      <p:sp>
        <p:nvSpPr>
          <p:cNvPr id="12" name="Shape 10"/>
          <p:cNvSpPr/>
          <p:nvPr/>
        </p:nvSpPr>
        <p:spPr>
          <a:xfrm>
            <a:off x="640080" y="4078224"/>
            <a:ext cx="137160" cy="137160"/>
          </a:xfrm>
          <a:prstGeom prst="ellipse">
            <a:avLst/>
          </a:prstGeom>
          <a:solidFill>
            <a:srgbClr val="10B7CD"/>
          </a:solidFill>
          <a:ln/>
        </p:spPr>
      </p:sp>
      <p:sp>
        <p:nvSpPr>
          <p:cNvPr id="13" name="Text 11"/>
          <p:cNvSpPr/>
          <p:nvPr/>
        </p:nvSpPr>
        <p:spPr>
          <a:xfrm>
            <a:off x="932688" y="3995928"/>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Toda corrección exige motivo y queda registrada</a:t>
            </a:r>
            <a:endParaRPr lang="en-US" sz="1500" dirty="0"/>
          </a:p>
        </p:txBody>
      </p:sp>
      <p:sp>
        <p:nvSpPr>
          <p:cNvPr id="14" name="Shape 12"/>
          <p:cNvSpPr/>
          <p:nvPr/>
        </p:nvSpPr>
        <p:spPr>
          <a:xfrm>
            <a:off x="640080" y="4937760"/>
            <a:ext cx="137160" cy="137160"/>
          </a:xfrm>
          <a:prstGeom prst="ellipse">
            <a:avLst/>
          </a:prstGeom>
          <a:solidFill>
            <a:srgbClr val="10B7CD"/>
          </a:solidFill>
          <a:ln/>
        </p:spPr>
      </p:sp>
      <p:sp>
        <p:nvSpPr>
          <p:cNvPr id="15" name="Text 13"/>
          <p:cNvSpPr/>
          <p:nvPr/>
        </p:nvSpPr>
        <p:spPr>
          <a:xfrm>
            <a:off x="932688" y="4855464"/>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Exportable para auditoría interna</a:t>
            </a:r>
            <a:endParaRPr lang="en-US" sz="1500" dirty="0"/>
          </a:p>
        </p:txBody>
      </p:sp>
      <p:sp>
        <p:nvSpPr>
          <p:cNvPr id="16" name="Shape 14"/>
          <p:cNvSpPr/>
          <p:nvPr/>
        </p:nvSpPr>
        <p:spPr>
          <a:xfrm>
            <a:off x="4657240" y="1648269"/>
            <a:ext cx="6949239" cy="4384422"/>
          </a:xfrm>
          <a:prstGeom prst="roundRect">
            <a:avLst>
              <a:gd name="adj" fmla="val 834"/>
            </a:avLst>
          </a:prstGeom>
          <a:solidFill>
            <a:srgbClr val="FFFFFF"/>
          </a:solidFill>
          <a:ln w="12700">
            <a:solidFill>
              <a:srgbClr val="D9E2EC"/>
            </a:solidFill>
            <a:prstDash val="solid"/>
          </a:ln>
        </p:spPr>
      </p:sp>
      <p:pic>
        <p:nvPicPr>
          <p:cNvPr id="17" name="Image 0" descr="docs/presentacion/recursos/rec-escritorio-12-acueducto-selecciones.png">    </p:cNvPr>
          <p:cNvPicPr>
            <a:picLocks noChangeAspect="1"/>
          </p:cNvPicPr>
          <p:nvPr/>
        </p:nvPicPr>
        <p:blipFill>
          <a:blip r:embed="rId1"/>
          <a:stretch>
            <a:fillRect/>
          </a:stretch>
        </p:blipFill>
        <p:spPr>
          <a:xfrm>
            <a:off x="4712104" y="1703133"/>
            <a:ext cx="6839511" cy="42746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Quién está detrás</a:t>
            </a:r>
            <a:endParaRPr lang="en-US" sz="3000" dirty="0"/>
          </a:p>
        </p:txBody>
      </p:sp>
      <p:sp>
        <p:nvSpPr>
          <p:cNvPr id="3" name="Shape 1"/>
          <p:cNvSpPr/>
          <p:nvPr/>
        </p:nvSpPr>
        <p:spPr>
          <a:xfrm>
            <a:off x="0" y="6711696"/>
            <a:ext cx="3066212" cy="146304"/>
          </a:xfrm>
          <a:prstGeom prst="rect">
            <a:avLst/>
          </a:prstGeom>
          <a:solidFill>
            <a:srgbClr val="10B7CD"/>
          </a:solidFill>
          <a:ln/>
        </p:spPr>
      </p:sp>
      <p:sp>
        <p:nvSpPr>
          <p:cNvPr id="4" name="Shape 2"/>
          <p:cNvSpPr/>
          <p:nvPr/>
        </p:nvSpPr>
        <p:spPr>
          <a:xfrm>
            <a:off x="3047924" y="6711696"/>
            <a:ext cx="3066212" cy="146304"/>
          </a:xfrm>
          <a:prstGeom prst="rect">
            <a:avLst/>
          </a:prstGeom>
          <a:solidFill>
            <a:srgbClr val="E84141"/>
          </a:solidFill>
          <a:ln/>
        </p:spPr>
      </p:sp>
      <p:sp>
        <p:nvSpPr>
          <p:cNvPr id="5" name="Shape 3"/>
          <p:cNvSpPr/>
          <p:nvPr/>
        </p:nvSpPr>
        <p:spPr>
          <a:xfrm>
            <a:off x="6095848" y="6711696"/>
            <a:ext cx="3066212" cy="146304"/>
          </a:xfrm>
          <a:prstGeom prst="rect">
            <a:avLst/>
          </a:prstGeom>
          <a:solidFill>
            <a:srgbClr val="F8AB11"/>
          </a:solidFill>
          <a:ln/>
        </p:spPr>
      </p:sp>
      <p:sp>
        <p:nvSpPr>
          <p:cNvPr id="6" name="Shape 4"/>
          <p:cNvSpPr/>
          <p:nvPr/>
        </p:nvSpPr>
        <p:spPr>
          <a:xfrm>
            <a:off x="9143771" y="6711696"/>
            <a:ext cx="3047924" cy="146304"/>
          </a:xfrm>
          <a:prstGeom prst="rect">
            <a:avLst/>
          </a:prstGeom>
          <a:solidFill>
            <a:srgbClr val="8974B3"/>
          </a:solidFill>
          <a:ln/>
        </p:spPr>
      </p:sp>
      <p:sp>
        <p:nvSpPr>
          <p:cNvPr id="7" name="Shape 5"/>
          <p:cNvSpPr/>
          <p:nvPr/>
        </p:nvSpPr>
        <p:spPr>
          <a:xfrm>
            <a:off x="640080" y="2700782"/>
            <a:ext cx="5227168" cy="1950212"/>
          </a:xfrm>
          <a:prstGeom prst="roundRect">
            <a:avLst>
              <a:gd name="adj" fmla="val 2813"/>
            </a:avLst>
          </a:prstGeom>
          <a:solidFill>
            <a:srgbClr val="FFFFFF"/>
          </a:solidFill>
          <a:ln w="12700">
            <a:solidFill>
              <a:srgbClr val="D9E2EC"/>
            </a:solidFill>
            <a:prstDash val="solid"/>
          </a:ln>
        </p:spPr>
      </p:sp>
      <p:sp>
        <p:nvSpPr>
          <p:cNvPr id="8" name="Shape 6"/>
          <p:cNvSpPr/>
          <p:nvPr/>
        </p:nvSpPr>
        <p:spPr>
          <a:xfrm>
            <a:off x="640080" y="2700782"/>
            <a:ext cx="64008" cy="1950212"/>
          </a:xfrm>
          <a:prstGeom prst="rect">
            <a:avLst/>
          </a:prstGeom>
          <a:solidFill>
            <a:srgbClr val="0167D5"/>
          </a:solidFill>
          <a:ln/>
        </p:spPr>
      </p:sp>
      <p:sp>
        <p:nvSpPr>
          <p:cNvPr id="9" name="Text 7"/>
          <p:cNvSpPr/>
          <p:nvPr/>
        </p:nvSpPr>
        <p:spPr>
          <a:xfrm>
            <a:off x="914400" y="3011678"/>
            <a:ext cx="4678528" cy="345440"/>
          </a:xfrm>
          <a:prstGeom prst="rect">
            <a:avLst/>
          </a:prstGeom>
          <a:noFill/>
          <a:ln/>
        </p:spPr>
        <p:txBody>
          <a:bodyPr wrap="square" lIns="0" tIns="0" rIns="0" bIns="0" rtlCol="0" anchor="t"/>
          <a:lstStyle/>
          <a:p>
            <a:pPr indent="0" marL="0">
              <a:buNone/>
            </a:pPr>
            <a:r>
              <a:rPr lang="en-US" sz="2000" b="1" dirty="0">
                <a:solidFill>
                  <a:srgbClr val="0B3A78"/>
                </a:solidFill>
                <a:latin typeface="Montserrat" pitchFamily="34" charset="0"/>
                <a:ea typeface="Montserrat" pitchFamily="34" charset="-122"/>
                <a:cs typeface="Montserrat" pitchFamily="34" charset="-120"/>
              </a:rPr>
              <a:t>Kidotoy</a:t>
            </a:r>
            <a:endParaRPr lang="en-US" sz="2000" dirty="0"/>
          </a:p>
        </p:txBody>
      </p:sp>
      <p:sp>
        <p:nvSpPr>
          <p:cNvPr id="10" name="Text 8"/>
          <p:cNvSpPr/>
          <p:nvPr/>
        </p:nvSpPr>
        <p:spPr>
          <a:xfrm>
            <a:off x="914400" y="3430270"/>
            <a:ext cx="4678528" cy="1110996"/>
          </a:xfrm>
          <a:prstGeom prst="rect">
            <a:avLst/>
          </a:prstGeom>
          <a:noFill/>
          <a:ln/>
        </p:spPr>
        <p:txBody>
          <a:bodyPr wrap="square" lIns="0" tIns="0" rIns="0" bIns="0" rtlCol="0" anchor="t"/>
          <a:lstStyle/>
          <a:p>
            <a:pPr indent="0" marL="0">
              <a:lnSpc>
                <a:spcPts val="2100"/>
              </a:lnSpc>
              <a:buNone/>
            </a:pPr>
            <a:r>
              <a:rPr lang="en-US" sz="1500" dirty="0">
                <a:solidFill>
                  <a:srgbClr val="5A6472"/>
                </a:solidFill>
                <a:latin typeface="Inter" pitchFamily="34" charset="0"/>
                <a:ea typeface="Inter" pitchFamily="34" charset="-122"/>
                <a:cs typeface="Inter" pitchFamily="34" charset="-120"/>
              </a:rPr>
              <a:t>Juguetes, catálogo, logística, carpas y entrega en sitio. Es el aliado que responde por el obsequio.</a:t>
            </a:r>
            <a:endParaRPr lang="en-US" sz="1500" dirty="0"/>
          </a:p>
        </p:txBody>
      </p:sp>
      <p:sp>
        <p:nvSpPr>
          <p:cNvPr id="11" name="Shape 9"/>
          <p:cNvSpPr/>
          <p:nvPr/>
        </p:nvSpPr>
        <p:spPr>
          <a:xfrm>
            <a:off x="6324448" y="2700782"/>
            <a:ext cx="5227168" cy="1950212"/>
          </a:xfrm>
          <a:prstGeom prst="roundRect">
            <a:avLst>
              <a:gd name="adj" fmla="val 2813"/>
            </a:avLst>
          </a:prstGeom>
          <a:solidFill>
            <a:srgbClr val="FFFFFF"/>
          </a:solidFill>
          <a:ln w="12700">
            <a:solidFill>
              <a:srgbClr val="D9E2EC"/>
            </a:solidFill>
            <a:prstDash val="solid"/>
          </a:ln>
        </p:spPr>
      </p:sp>
      <p:sp>
        <p:nvSpPr>
          <p:cNvPr id="12" name="Shape 10"/>
          <p:cNvSpPr/>
          <p:nvPr/>
        </p:nvSpPr>
        <p:spPr>
          <a:xfrm>
            <a:off x="6324448" y="2700782"/>
            <a:ext cx="64008" cy="1950212"/>
          </a:xfrm>
          <a:prstGeom prst="rect">
            <a:avLst/>
          </a:prstGeom>
          <a:solidFill>
            <a:srgbClr val="0167D5"/>
          </a:solidFill>
          <a:ln/>
        </p:spPr>
      </p:sp>
      <p:sp>
        <p:nvSpPr>
          <p:cNvPr id="13" name="Text 11"/>
          <p:cNvSpPr/>
          <p:nvPr/>
        </p:nvSpPr>
        <p:spPr>
          <a:xfrm>
            <a:off x="6598768" y="3011678"/>
            <a:ext cx="4678528" cy="345440"/>
          </a:xfrm>
          <a:prstGeom prst="rect">
            <a:avLst/>
          </a:prstGeom>
          <a:noFill/>
          <a:ln/>
        </p:spPr>
        <p:txBody>
          <a:bodyPr wrap="square" lIns="0" tIns="0" rIns="0" bIns="0" rtlCol="0" anchor="t"/>
          <a:lstStyle/>
          <a:p>
            <a:pPr indent="0" marL="0">
              <a:buNone/>
            </a:pPr>
            <a:r>
              <a:rPr lang="en-US" sz="2000" b="1" dirty="0">
                <a:solidFill>
                  <a:srgbClr val="0B3A78"/>
                </a:solidFill>
                <a:latin typeface="Montserrat" pitchFamily="34" charset="0"/>
                <a:ea typeface="Montserrat" pitchFamily="34" charset="-122"/>
                <a:cs typeface="Montserrat" pitchFamily="34" charset="-120"/>
              </a:rPr>
              <a:t>Plataforma</a:t>
            </a:r>
            <a:endParaRPr lang="en-US" sz="2000" dirty="0"/>
          </a:p>
        </p:txBody>
      </p:sp>
      <p:sp>
        <p:nvSpPr>
          <p:cNvPr id="14" name="Text 12"/>
          <p:cNvSpPr/>
          <p:nvPr/>
        </p:nvSpPr>
        <p:spPr>
          <a:xfrm>
            <a:off x="6598768" y="3430270"/>
            <a:ext cx="4678528" cy="1110996"/>
          </a:xfrm>
          <a:prstGeom prst="rect">
            <a:avLst/>
          </a:prstGeom>
          <a:noFill/>
          <a:ln/>
        </p:spPr>
        <p:txBody>
          <a:bodyPr wrap="square" lIns="0" tIns="0" rIns="0" bIns="0" rtlCol="0" anchor="t"/>
          <a:lstStyle/>
          <a:p>
            <a:pPr indent="0" marL="0">
              <a:lnSpc>
                <a:spcPts val="2100"/>
              </a:lnSpc>
              <a:buNone/>
            </a:pPr>
            <a:r>
              <a:rPr lang="en-US" sz="1500" dirty="0">
                <a:solidFill>
                  <a:srgbClr val="5A6472"/>
                </a:solidFill>
                <a:latin typeface="Inter" pitchFamily="34" charset="0"/>
                <a:ea typeface="Inter" pitchFamily="34" charset="-122"/>
                <a:cs typeface="Inter" pitchFamily="34" charset="-120"/>
              </a:rPr>
              <a:t>Sebastián Grajales. Desarrollo, operación y acompañamiento durante la jornada.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1554480"/>
            <a:ext cx="10911535" cy="365760"/>
          </a:xfrm>
          <a:prstGeom prst="rect">
            <a:avLst/>
          </a:prstGeom>
          <a:noFill/>
          <a:ln/>
        </p:spPr>
        <p:txBody>
          <a:bodyPr wrap="square" lIns="0" tIns="0" rIns="0" bIns="0" rtlCol="0" anchor="t"/>
          <a:lstStyle/>
          <a:p>
            <a:pPr indent="0" marL="0">
              <a:buNone/>
            </a:pPr>
            <a:r>
              <a:rPr lang="en-US" sz="1500" b="1" spc="200" kern="0" dirty="0">
                <a:solidFill>
                  <a:srgbClr val="10B7CD"/>
                </a:solidFill>
                <a:latin typeface="Inter" pitchFamily="34" charset="0"/>
                <a:ea typeface="Inter" pitchFamily="34" charset="-122"/>
                <a:cs typeface="Inter" pitchFamily="34" charset="-120"/>
              </a:rPr>
              <a:t>GRACIAS</a:t>
            </a:r>
            <a:endParaRPr lang="en-US" sz="1500" dirty="0"/>
          </a:p>
        </p:txBody>
      </p:sp>
      <p:sp>
        <p:nvSpPr>
          <p:cNvPr id="3" name="Text 1"/>
          <p:cNvSpPr/>
          <p:nvPr/>
        </p:nvSpPr>
        <p:spPr>
          <a:xfrm>
            <a:off x="640080" y="2011680"/>
            <a:ext cx="8716975"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Quedamos atentos</a:t>
            </a:r>
            <a:endParaRPr lang="en-US" sz="4400" dirty="0"/>
          </a:p>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a sus preguntas</a:t>
            </a:r>
            <a:endParaRPr lang="en-US" sz="4400" dirty="0"/>
          </a:p>
        </p:txBody>
      </p:sp>
      <p:sp>
        <p:nvSpPr>
          <p:cNvPr id="4" name="Text 2"/>
          <p:cNvSpPr/>
          <p:nvPr/>
        </p:nvSpPr>
        <p:spPr>
          <a:xfrm>
            <a:off x="640080" y="3886200"/>
            <a:ext cx="8716975" cy="1005840"/>
          </a:xfrm>
          <a:prstGeom prst="rect">
            <a:avLst/>
          </a:prstGeom>
          <a:noFill/>
          <a:ln/>
        </p:spPr>
        <p:txBody>
          <a:bodyPr wrap="square" lIns="0" tIns="0" rIns="0" bIns="0" rtlCol="0" anchor="t"/>
          <a:lstStyle/>
          <a:p>
            <a:pPr indent="0" marL="0">
              <a:lnSpc>
                <a:spcPts val="3000"/>
              </a:lnSpc>
              <a:buNone/>
            </a:pPr>
            <a:r>
              <a:rPr lang="en-US" sz="1800" dirty="0">
                <a:solidFill>
                  <a:srgbClr val="C8D8F0"/>
                </a:solidFill>
                <a:latin typeface="Inter" pitchFamily="34" charset="0"/>
                <a:ea typeface="Inter" pitchFamily="34" charset="-122"/>
                <a:cs typeface="Inter" pitchFamily="34" charset="-120"/>
              </a:rPr>
              <a:t>El sistema queda abierto para que lo prueben con su equipo el tiempo que necesiten.</a:t>
            </a:r>
            <a:endParaRPr lang="en-US" sz="1800" dirty="0"/>
          </a:p>
        </p:txBody>
      </p:sp>
      <p:sp>
        <p:nvSpPr>
          <p:cNvPr id="5" name="Text 3"/>
          <p:cNvSpPr/>
          <p:nvPr/>
        </p:nvSpPr>
        <p:spPr>
          <a:xfrm>
            <a:off x="640080" y="5715000"/>
            <a:ext cx="10911535" cy="365760"/>
          </a:xfrm>
          <a:prstGeom prst="rect">
            <a:avLst/>
          </a:prstGeom>
          <a:noFill/>
          <a:ln/>
        </p:spPr>
        <p:txBody>
          <a:bodyPr wrap="square" lIns="0" tIns="0" rIns="0" bIns="0" rtlCol="0" anchor="t"/>
          <a:lstStyle/>
          <a:p>
            <a:pPr indent="0" marL="0">
              <a:buNone/>
            </a:pPr>
            <a:r>
              <a:rPr lang="en-US" sz="1300" dirty="0">
                <a:solidFill>
                  <a:srgbClr val="AFC4E0"/>
                </a:solidFill>
                <a:latin typeface="Inter" pitchFamily="34" charset="0"/>
                <a:ea typeface="Inter" pitchFamily="34" charset="-122"/>
                <a:cs typeface="Inter" pitchFamily="34" charset="-120"/>
              </a:rPr>
              <a:t>acueducto-kidotoy.vaisy.app</a:t>
            </a:r>
            <a:endParaRPr lang="en-US" sz="1300" dirty="0"/>
          </a:p>
        </p:txBody>
      </p:sp>
      <p:sp>
        <p:nvSpPr>
          <p:cNvPr id="6" name="Shape 4"/>
          <p:cNvSpPr/>
          <p:nvPr/>
        </p:nvSpPr>
        <p:spPr>
          <a:xfrm>
            <a:off x="0" y="6711696"/>
            <a:ext cx="3066212" cy="146304"/>
          </a:xfrm>
          <a:prstGeom prst="rect">
            <a:avLst/>
          </a:prstGeom>
          <a:solidFill>
            <a:srgbClr val="10B7CD"/>
          </a:solidFill>
          <a:ln/>
        </p:spPr>
      </p:sp>
      <p:sp>
        <p:nvSpPr>
          <p:cNvPr id="7" name="Shape 5"/>
          <p:cNvSpPr/>
          <p:nvPr/>
        </p:nvSpPr>
        <p:spPr>
          <a:xfrm>
            <a:off x="3047924" y="6711696"/>
            <a:ext cx="3066212" cy="146304"/>
          </a:xfrm>
          <a:prstGeom prst="rect">
            <a:avLst/>
          </a:prstGeom>
          <a:solidFill>
            <a:srgbClr val="E84141"/>
          </a:solidFill>
          <a:ln/>
        </p:spPr>
      </p:sp>
      <p:sp>
        <p:nvSpPr>
          <p:cNvPr id="8" name="Shape 6"/>
          <p:cNvSpPr/>
          <p:nvPr/>
        </p:nvSpPr>
        <p:spPr>
          <a:xfrm>
            <a:off x="6095848" y="6711696"/>
            <a:ext cx="3066212" cy="146304"/>
          </a:xfrm>
          <a:prstGeom prst="rect">
            <a:avLst/>
          </a:prstGeom>
          <a:solidFill>
            <a:srgbClr val="F8AB11"/>
          </a:solidFill>
          <a:ln/>
        </p:spPr>
      </p:sp>
      <p:sp>
        <p:nvSpPr>
          <p:cNvPr id="9" name="Shape 7"/>
          <p:cNvSpPr/>
          <p:nvPr/>
        </p:nvSpPr>
        <p:spPr>
          <a:xfrm>
            <a:off x="9143771" y="6711696"/>
            <a:ext cx="3047924" cy="146304"/>
          </a:xfrm>
          <a:prstGeom prst="rect">
            <a:avLst/>
          </a:prstGeom>
          <a:solidFill>
            <a:srgbClr val="8974B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Kidotoy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 de regalos de fin de año</dc:title>
  <dc:subject>Propuesta al Acueducto de Bogotá</dc:subject>
  <dc:creator>Sebastián Grajales</dc:creator>
  <cp:lastModifiedBy>Sebastián Grajales</cp:lastModifiedBy>
  <cp:revision>1</cp:revision>
  <dcterms:created xsi:type="dcterms:W3CDTF">2026-09-06T08:26:47Z</dcterms:created>
  <dcterms:modified xsi:type="dcterms:W3CDTF">2026-09-06T08:26:47Z</dcterms:modified>
</cp:coreProperties>
</file>